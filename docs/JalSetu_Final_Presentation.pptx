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3EC0536-1B59-1D01-2933-EC3153189F40}">
          <p14:sldIdLst>
            <p14:sldId id="256"/>
          </p14:sldIdLst>
        </p14:section>
        <p14:section name="Problem" id="{725AC148-9AFF-C2C9-B18A-43E19483A8E7}">
          <p14:sldIdLst>
            <p14:sldId id="257"/>
            <p14:sldId id="258"/>
            <p14:sldId id="259"/>
          </p14:sldIdLst>
        </p14:section>
        <p14:section name="Approach" id="{E555BCCF-7223-9886-C950-F10DA7DE5A05}">
          <p14:sldIdLst>
            <p14:sldId id="260"/>
            <p14:sldId id="261"/>
          </p14:sldIdLst>
        </p14:section>
        <p14:section name="Solution" id="{BADC28A3-DC09-98F2-CD6A-9FE8A8CC8C70}">
          <p14:sldIdLst>
            <p14:sldId id="262"/>
            <p14:sldId id="263"/>
          </p14:sldIdLst>
        </p14:section>
        <p14:section name="Features" id="{4193BB42-2287-EF6B-C456-466A4568A8F6}">
          <p14:sldIdLst>
            <p14:sldId id="264"/>
            <p14:sldId id="265"/>
          </p14:sldIdLst>
        </p14:section>
        <p14:section name="All functions" id="{DFF44C54-C06F-1E01-DEA4-4C3C6B7752CA}">
          <p14:sldIdLst>
            <p14:sldId id="266"/>
            <p14:sldId id="267"/>
            <p14:sldId id="268"/>
            <p14:sldId id="269"/>
          </p14:sldIdLst>
        </p14:section>
        <p14:section name="Innovation" id="{6190C0DD-673C-AA1C-970E-189FA75AABD4}">
          <p14:sldIdLst>
            <p14:sldId id="270"/>
            <p14:sldId id="271"/>
            <p14:sldId id="272"/>
          </p14:sldIdLst>
        </p14:section>
        <p14:section name="Prototype" id="{333E43B8-B9E5-3688-7503-D0A317CACFF5}">
          <p14:sldIdLst>
            <p14:sldId id="273"/>
            <p14:sldId id="274"/>
            <p14:sldId id="275"/>
          </p14:sldIdLst>
        </p14:section>
        <p14:section name="Future" id="{B769C219-23F8-701B-2FF0-1903D77DB31C}">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4642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JalSetu: a decision engine for the Backwater Cargo Exchange challenge. One line: it tells a cargo owner whether to go by road, by water, or by a mix, explains why, and keeps a person in charge of every confirmation. Everything you will see is the running prototype, not mock-ups. TIMING: the full deck is 23 slides. For a 10-minute slot, present slides 1, 2, 4, 5, 6, 7, 8, 9, 15, 17, 20 and 23, and demo live in place of slides 11 to 14 and 18. For a 15-minute slot, add slides 3, 10, 11 to 14, 16, 18 and 21.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in one sentence, then who is affected. The premise comes from the Challenge 7 brief: goods mostly move by road although waterways are often cheaper and greener, because cargo owners and boat operators cannot see each other. The three cards are the gaps we chose to close: visibility, a fair comparison, and a safety net for hazardous cargo and disruptions. The last line quotes the brief's own example.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NW-3: the brief's own example, Kochi to Alappuzha, sits on National Waterway 3, the West Coast Canal from Kollam to Kottapuram, about 205 km. We chose one well-defined corridor and modelled it honestly with four illustrative jetties rather than many corridors thinly. The engine reads its distances and rates from data files, so adding a waterway is mostly adding data. Next candidates: NW-8 and NW-9 around Alappuzha, the Kovalam to Bekal West Coast Canal project and a northern extension, and eventually other states. These come from public sources and should be verified with IWAI. Nothing beyond NW-3 is built.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respectful and precise here. FOCAL, the Forum of Cargo-Owners and Logistics-Operators, is an IWAI portal where cargo owners and logistics operators list cargo and vessel availability. PANI, the Portal for Asset and Navigation Information, gives navigation and asset information on national waterways for voyage planning. BlackBuck is a private road-trucking marketplace. Per their documented scope, none of them is described as comparing road, water and hybrid options for one shipment with a reason. We do not say they lack anything; we say we add a decision layer above them. We have not integrated with any of them; that is future 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is spec-driven development with Spec Kit. Instead of prompting an AI to write an app, we wrote a constitution first: 15 principles such as the decision engine must be pure code, a language model may never price or rank, and a person confirms every state change. Then each feature went through specify, clarify, plan, tasks, analyze and implement, with tests written before code. IBM Bob and Claude Code were the AI coding agents that implemented against those specs. Be precise if asked: the Spec Kit structure and workflow were followed for all six features; for the last two features we ran the steps by hand rather than through the Spec Kit command line. The AI agents wrote code, but the specs, tests and gates decided what counted as correct.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IBM story, told straight. IBM Bob, IBM's AI coding agent, was our development partner throughout the build: code generation, spec writing and task implementation, as listed in our disclosures. What made it work was the spec-driven setup: Bob worked from the constitution, the specs and the task lists, tests first, and the output was checked by tests and gates and reviewed by us before we confirmed it. Claude Code supported later features and the documentation. We do not track which tool wrote which file, and we say so. The product itself keeps AI out of the decision path; Bob accelerated the building, not the deciding.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then show how each answers one of the three gaps from the problem slide. Be careful with the last step: milestones are simulated, there is no live tracking, so we call it monitor and re-plan. Four role views because a marketplace needs all sides.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to demo live. Same shipment, same boats; drag the deadline from 10 hours to 3 and the recommendation flips from hybrid to road, with the reason in plain English. READ THE CAVEAT BAR OUT LOUD: the hybrid figure is the barge leg and jetty handling only. Road is door to door. So the roughly 10 percent cost saving and 75 percent CO2 saving are for the barge leg, not a door-to-door claim. All rates are assumed and tagged in the app. If asked, the next step is to add first and last mile trucking to the hybrid plan.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headline capabilities. The next slides go through every function by role: shipper, boat owner, warehouse and planner, then the safety and trust functions that cut across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suggested five features. All five are in the prototype. Four are covered by automated tests; schedule planning is partly simulated because milestones are a demo control and there is no live tracking. These are the same status labels as our README.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 shipper can do, in the order of the journey. Compare options is the landing screen. Post cargo has the hazard class selector and shows a compliance banner for hazardous classes. Matches ranks sailings and lists excluded vessels with a reason. Staging is an optional warehouse plan when the wait is long. Confirm is the two-step booking, with a separate review for hazardous cargo. My shipments has the milestone timeline, which is simulated, plus mark delivered. Simulate disruption shows ranked alternatives and needs an explicit confirm. The plain-language chat is simulated and English only.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boat owner side. Register by form or by pasting a short message; the pattern reader pulls out capacity, type and home jetty and shows what it found, but nothing is registered until the owner clicks Register. Publish recurring sailings with route, weekdays, time, price and capacity. Verification is a demo admin button; production would check the vessel registry. Suspending a vessel never alters confirmed bookings. The on-time record uses a fair starting assumption so new boats are not penalised, and always shows the number of trips. All history shown is simulated.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Warehouse owners register storage with capacity, handling and storage costs, and the cargo classes they accept, then see utilisation. Staging plans use those costs. Planners get corridor viability, which shows the break-even distance where a barge leg beats road per tonne, a static offline map, and a disruption summary by type and corridor. Warehouse data, disruption counts and demand figures are simulated and tagged so.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functions cut across all roles. Hazardous cargo is filtered out of matching before any scoring, with a named reason. A separate compliance review is required before a hazardous booking or re-plan can be confirmed; in the demo the reviewer is a button. Every state change needs an explicit person click. Every number is tagged. Forms give field-level errors and guard against duplicates. Phone numbers and emails are removed before text reaches any parser. Subsidy is a what-if and is off by default. The demo resets to seed data in milliseconds, offline. Backhaul and pooling are only basic counts in the prototype; network-wide planning is future work.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how. Many AI logistics tools let a model make the call. We drew a hard line: a language model may only read text and turn it into fields. All pricing, ranking and compliance decisions are made by deterministic Python that reads its numbers from a configuration file, explains each decision, and can be audited. A person confirms every state change. State the IBM Granite status once and plainly: the Granite adapter is built but was not run in this demo; the demo uses a simple pattern reader and calls no model.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we think are new here. One: every recommendation comes with a plain-English reason. Two: every number is tagged with how much we trust it, and a test keeps our documentation in step with the data. Three: the system never switches plans on its own; a disruption produces ranked options and waits. Four: new boats get a fair starting score, so a brand-new boat is not punished for having no history, and the trip count is always shown beside the percentage. Five: hazardous cargo is filtered before any scoring, with a named reason. The examples are real figures from the app.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the specification layer bought us. Tests came first. The analyze step compared the specs, plan and tasks against the constitution and found real defects before they reached the demo: a randomly generated id inside the supposedly deterministic engine, hardcoded fallback weights, and a re-plan event that would have changed a booking before the person confirmed. We fixed all of them. Gates can fail: a grep check that the engine has no language-model imports, and a test that fails if our documentation tables drift from the data. On the right, where AI sits: AI agents write code, specs and tests check it, people review and confirm. And in the product itself, AI may only read text; the engine decides.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from the running prototype, taken by script, not mock-ups, cropped to the part that matters. Left: a simulated vessel breakdown with ranked alternatives; nothing changes until the person confirms. Right: flammable cargo with no certified vessel, so the ranked list is empty and every exclusion is explained. Say clearly that the disruption, the vessels and the milestones are simulated.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deliberately small product stack, each piece in plain words. React and Vite for what users see. FastAPI and Pydantic for the server. Plain Python for the decision engine so every result can be traced. Data lives in a YAML config and a JSON seed, in memory. The IBM watsonx.ai Granite adapter is built but was not run in this demo. The featured band is how we built it: IBM Bob, IBM's AI coding agent, was our development partner for code generation, spec writing and task implementation, with Claude Code supporting later work, all inside the Spec Kit workflow. Disclosed in full in our disclosures document; all libraries are open source and listed in ATTRIBUTIONS.md.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is a feature. Left: built and covered by automated tests. Middle: runs but simulated and tagged so on screen. Right: roadmap, not built, including live tracking and the live language-model adapter, which exists in code but has never been run. 261 tests pass, the decision engine contains no model calls, every configuration value carries a status tag (67), and the demo needs no API keys. These numbers match the README and the submission document.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path from prototype to practical. Next: replace assumptions with verified data, such as tariffs, the real jetty network and hazard rules from the proper authorities, plus vessel registry checks. Then: go live with vessel positions, real alerts and proper accounts and a database. Later: more waterways, network-wide pooling and backhaul planning, and carbon reporting, which is an idea rather than a plan. The honest hurdle is data: a marketplace only works if cargo owners and boat operators are willing to share real data. This whole slide is roadmap; none of it is built.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Ideas we would build with more time, none required for the prototype. Live GPS and AIS tracking would replace our simulated milestones. More waterways extends the same engine with new data. Live depth and weather would make reliability real. Real operator quotes and payments turn it into a true marketplace. First and last-mile trucking would let us show true door-to-door cost, which directly fixes the caveat on our comparison slide. Real alerts in English and Malayalam, smarter planning with demand forecasts and network-wide pooling, and carbon reports for shippers complete the list.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pitch: a recommendation you can explain, and a person who confirms it. Offer to run the demo live. Have the honest answers ready: the saving is computed from assumed rates and covers the barge leg only; the demo uses no AI model and the Granite adapter was not run; tracking is simulated; and what we would verify first.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234440"/>
            <a:ext cx="4754880" cy="1005840"/>
          </a:xfrm>
          <a:prstGeom prst="rect">
            <a:avLst/>
          </a:prstGeom>
          <a:noFill/>
          <a:ln/>
        </p:spPr>
        <p:txBody>
          <a:bodyPr wrap="square" rtlCol="0"/>
          <a:lstStyle>
            <a:lvl1pPr marL="0" indent="0" algn="l">
              <a:buNone/>
              <a:defRPr lang="en-US" sz="5000" b="1" dirty="0">
                <a:solidFill>
                  <a:schemeClr val="bg1"/>
                </a:solidFill>
              </a:defRPr>
            </a:lvl1pPr>
          </a:lstStyle>
          <a:p>
            <a:pPr marL="0" indent="0" algn="l">
              <a:buNone/>
            </a:pPr>
            <a:endParaRPr lang="en-US" sz="5000" dirty="0"/>
          </a:p>
        </p:txBody>
      </p:sp>
      <p:sp>
        <p:nvSpPr>
          <p:cNvPr id="3" name="Text 0"/>
          <p:cNvSpPr>
            <a:spLocks noGrp="1"/>
          </p:cNvSpPr>
          <p:nvPr>
            <p:ph type="body" idx="101" hasCustomPrompt="1"/>
          </p:nvPr>
        </p:nvSpPr>
        <p:spPr>
          <a:xfrm>
            <a:off x="640080" y="2331720"/>
            <a:ext cx="4572000" cy="1371600"/>
          </a:xfrm>
          <a:prstGeom prst="rect">
            <a:avLst/>
          </a:prstGeom>
          <a:noFill/>
          <a:ln/>
        </p:spPr>
        <p:txBody>
          <a:bodyPr wrap="square" rtlCol="0"/>
          <a:lstStyle>
            <a:lvl1pPr marL="0" indent="0" algn="l">
              <a:buNone/>
              <a:defRPr lang="en-US" sz="1800" dirty="0">
                <a:solidFill>
                  <a:schemeClr val="accent6"/>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457200" y="4773168"/>
            <a:ext cx="7315200" cy="228600"/>
          </a:xfrm>
          <a:prstGeom prst="rect">
            <a:avLst/>
          </a:prstGeom>
          <a:noFill/>
          <a:ln/>
        </p:spPr>
        <p:txBody>
          <a:bodyPr wrap="square" lIns="0" tIns="0" rIns="0" bIns="0" rtlCol="0" anchor="ctr"/>
          <a:lstStyle/>
          <a:p>
            <a:pPr marL="0" indent="0">
              <a:buNone/>
            </a:pPr>
            <a:r>
              <a:rPr lang="en-US" sz="1000" dirty="0">
                <a:solidFill>
                  <a:schemeClr val="accent5"/>
                </a:solidFill>
              </a:rPr>
              <a:t>JalSetu  |  Team Vortex  |  IBM x Kerala Government Hackathon 2026  |  Challenge 7</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14.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8.png"/><Relationship Id="rId4" Type="http://schemas.openxmlformats.org/officeDocument/2006/relationships/image" Target="../media/image33.png"/><Relationship Id="rId9"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234440"/>
            <a:ext cx="4754880" cy="1005840"/>
          </a:xfrm>
          <a:prstGeom prst="rect">
            <a:avLst/>
          </a:prstGeom>
          <a:noFill/>
          <a:ln/>
        </p:spPr>
        <p:txBody>
          <a:bodyPr wrap="square" lIns="0" tIns="0" rIns="0" bIns="0" rtlCol="0" anchor="t"/>
          <a:lstStyle/>
          <a:p>
            <a:pPr marL="0" indent="0" algn="l">
              <a:buNone/>
            </a:pPr>
            <a:r>
              <a:rPr lang="en-US" sz="5000" b="1" dirty="0">
                <a:solidFill>
                  <a:schemeClr val="bg1"/>
                </a:solidFill>
              </a:rPr>
              <a:t>JalSetu</a:t>
            </a:r>
            <a:endParaRPr lang="en-US" sz="5000" dirty="0"/>
          </a:p>
        </p:txBody>
      </p:sp>
      <p:sp>
        <p:nvSpPr>
          <p:cNvPr id="3" name="Text 0"/>
          <p:cNvSpPr>
            <a:spLocks noGrp="1"/>
          </p:cNvSpPr>
          <p:nvPr>
            <p:ph type="body" idx="101" hasCustomPrompt="1"/>
          </p:nvPr>
        </p:nvSpPr>
        <p:spPr>
          <a:xfrm>
            <a:off x="640080" y="2331720"/>
            <a:ext cx="4572000" cy="1371600"/>
          </a:xfrm>
          <a:prstGeom prst="rect">
            <a:avLst/>
          </a:prstGeom>
          <a:noFill/>
          <a:ln/>
        </p:spPr>
        <p:txBody>
          <a:bodyPr wrap="square" lIns="0" tIns="0" rIns="0" bIns="0" rtlCol="0" anchor="t"/>
          <a:lstStyle/>
          <a:p>
            <a:pPr marL="0" indent="0" algn="l">
              <a:buNone/>
            </a:pPr>
            <a:r>
              <a:rPr lang="en-US" sz="1800" dirty="0">
                <a:solidFill>
                  <a:schemeClr val="accent6"/>
                </a:solidFill>
              </a:rPr>
              <a:t>Backwater Cargo Exchange: shipment-first decisions for Kerala's inland waterways</a:t>
            </a:r>
            <a:endParaRPr lang="en-US" sz="1800" dirty="0"/>
          </a:p>
        </p:txBody>
      </p:sp>
      <p:sp>
        <p:nvSpPr>
          <p:cNvPr id="4" name="Brand mark circle"/>
          <p:cNvSpPr/>
          <p:nvPr/>
        </p:nvSpPr>
        <p:spPr>
          <a:xfrm>
            <a:off x="6126480" y="1325880"/>
            <a:ext cx="2103120" cy="2103120"/>
          </a:xfrm>
          <a:prstGeom prst="ellipse">
            <a:avLst/>
          </a:prstGeom>
          <a:solidFill>
            <a:schemeClr val="accent1"/>
          </a:solidFill>
          <a:ln/>
        </p:spPr>
      </p:sp>
      <p:pic>
        <p:nvPicPr>
          <p:cNvPr id="5" name="Brand mark icon" descr="Brand mark"/>
          <p:cNvPicPr>
            <a:picLocks noChangeAspect="1"/>
          </p:cNvPicPr>
          <p:nvPr/>
        </p:nvPicPr>
        <p:blipFill>
          <a:blip r:embed="rId3"/>
          <a:stretch>
            <a:fillRect/>
          </a:stretch>
        </p:blipFill>
        <p:spPr>
          <a:xfrm>
            <a:off x="6673291" y="1872691"/>
            <a:ext cx="1009498" cy="1009498"/>
          </a:xfrm>
          <a:prstGeom prst="rect">
            <a:avLst/>
          </a:prstGeom>
        </p:spPr>
      </p:pic>
      <p:sp>
        <p:nvSpPr>
          <p:cNvPr id="6" name="Event line"/>
          <p:cNvSpPr txBox="1"/>
          <p:nvPr/>
        </p:nvSpPr>
        <p:spPr>
          <a:xfrm>
            <a:off x="640080" y="4160520"/>
            <a:ext cx="7863840" cy="274320"/>
          </a:xfrm>
          <a:prstGeom prst="rect">
            <a:avLst/>
          </a:prstGeom>
          <a:noFill/>
          <a:ln/>
        </p:spPr>
        <p:txBody>
          <a:bodyPr wrap="square" lIns="0" tIns="0" rIns="0" bIns="0" rtlCol="0" anchor="t"/>
          <a:lstStyle/>
          <a:p>
            <a:pPr marL="0" indent="0">
              <a:buNone/>
            </a:pPr>
            <a:r>
              <a:rPr lang="en-US" sz="1600" b="1" dirty="0">
                <a:solidFill>
                  <a:schemeClr val="bg1"/>
                </a:solidFill>
              </a:rPr>
              <a:t>IBM x Kerala Government Hackathon 2026</a:t>
            </a:r>
            <a:endParaRPr lang="en-US" sz="1600" dirty="0"/>
          </a:p>
        </p:txBody>
      </p:sp>
      <p:sp>
        <p:nvSpPr>
          <p:cNvPr id="7" name="Challenge line"/>
          <p:cNvSpPr txBox="1"/>
          <p:nvPr/>
        </p:nvSpPr>
        <p:spPr>
          <a:xfrm>
            <a:off x="640080" y="4480560"/>
            <a:ext cx="7863840" cy="274320"/>
          </a:xfrm>
          <a:prstGeom prst="rect">
            <a:avLst/>
          </a:prstGeom>
          <a:noFill/>
          <a:ln/>
        </p:spPr>
        <p:txBody>
          <a:bodyPr wrap="square" lIns="0" tIns="0" rIns="0" bIns="0" rtlCol="0" anchor="t"/>
          <a:lstStyle/>
          <a:p>
            <a:pPr marL="0" indent="0">
              <a:buNone/>
            </a:pPr>
            <a:r>
              <a:rPr lang="en-US" sz="1400" dirty="0">
                <a:solidFill>
                  <a:schemeClr val="accent6"/>
                </a:solidFill>
              </a:rPr>
              <a:t>Challenge 7: Backwater Cargo Exchange  |  Team Vortex</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The problem</a:t>
            </a:r>
            <a:endParaRPr lang="en-US" sz="3200" dirty="0"/>
          </a:p>
        </p:txBody>
      </p:sp>
      <p:sp>
        <p:nvSpPr>
          <p:cNvPr id="3" name="Problem statement"/>
          <p:cNvSpPr txBox="1"/>
          <p:nvPr/>
        </p:nvSpPr>
        <p:spPr>
          <a:xfrm>
            <a:off x="457200" y="1005840"/>
            <a:ext cx="8229600" cy="868680"/>
          </a:xfrm>
          <a:prstGeom prst="rect">
            <a:avLst/>
          </a:prstGeom>
          <a:noFill/>
          <a:ln/>
        </p:spPr>
        <p:txBody>
          <a:bodyPr wrap="square" lIns="0" tIns="0" rIns="0" bIns="0" rtlCol="0" anchor="t"/>
          <a:lstStyle/>
          <a:p>
            <a:pPr marL="0" indent="0">
              <a:buNone/>
            </a:pPr>
            <a:r>
              <a:rPr lang="en-US" sz="1800" b="1" dirty="0">
                <a:solidFill>
                  <a:schemeClr val="tx2"/>
                </a:solidFill>
              </a:rPr>
              <a:t>Shippers can't compare road, waterway and hybrid options for their shipment, so they default to road, leaving water transport (often cheaper and cleaner) and boat capacity under-used.</a:t>
            </a:r>
            <a:endParaRPr lang="en-US" sz="1800" dirty="0"/>
          </a:p>
        </p:txBody>
      </p:sp>
      <p:sp>
        <p:nvSpPr>
          <p:cNvPr id="4" name="Who is affected"/>
          <p:cNvSpPr txBox="1"/>
          <p:nvPr/>
        </p:nvSpPr>
        <p:spPr>
          <a:xfrm>
            <a:off x="457200" y="1965960"/>
            <a:ext cx="8229600" cy="274320"/>
          </a:xfrm>
          <a:prstGeom prst="rect">
            <a:avLst/>
          </a:prstGeom>
          <a:noFill/>
          <a:ln/>
        </p:spPr>
        <p:txBody>
          <a:bodyPr wrap="square" lIns="0" tIns="0" rIns="0" bIns="0" rtlCol="0" anchor="t"/>
          <a:lstStyle/>
          <a:p>
            <a:pPr marL="0" indent="0">
              <a:buNone/>
            </a:pPr>
            <a:r>
              <a:rPr lang="en-US" sz="1400" dirty="0">
                <a:solidFill>
                  <a:schemeClr val="tx1"/>
                </a:solidFill>
              </a:rPr>
              <a:t>Who is affected: shippers, boat owners, warehouses and planners, plus the environment.</a:t>
            </a:r>
            <a:endParaRPr lang="en-US" sz="1400" dirty="0"/>
          </a:p>
        </p:txBody>
      </p:sp>
      <p:sp>
        <p:nvSpPr>
          <p:cNvPr id="5" name="Problem card 1"/>
          <p:cNvSpPr/>
          <p:nvPr/>
        </p:nvSpPr>
        <p:spPr>
          <a:xfrm>
            <a:off x="457200" y="2377440"/>
            <a:ext cx="2651760" cy="1783080"/>
          </a:xfrm>
          <a:prstGeom prst="roundRect">
            <a:avLst>
              <a:gd name="adj" fmla="val 4103"/>
            </a:avLst>
          </a:prstGeom>
          <a:solidFill>
            <a:schemeClr val="bg2"/>
          </a:solidFill>
          <a:ln/>
        </p:spPr>
      </p:sp>
      <p:sp>
        <p:nvSpPr>
          <p:cNvPr id="6" name="Problem 1 circle"/>
          <p:cNvSpPr/>
          <p:nvPr/>
        </p:nvSpPr>
        <p:spPr>
          <a:xfrm>
            <a:off x="640080" y="2514600"/>
            <a:ext cx="457200" cy="457200"/>
          </a:xfrm>
          <a:prstGeom prst="ellipse">
            <a:avLst/>
          </a:prstGeom>
          <a:solidFill>
            <a:schemeClr val="accent4"/>
          </a:solidFill>
          <a:ln/>
        </p:spPr>
      </p:sp>
      <p:pic>
        <p:nvPicPr>
          <p:cNvPr id="7" name="Problem 1 icon" descr="Problem 1"/>
          <p:cNvPicPr>
            <a:picLocks noChangeAspect="1"/>
          </p:cNvPicPr>
          <p:nvPr/>
        </p:nvPicPr>
        <p:blipFill>
          <a:blip r:embed="rId3"/>
          <a:stretch>
            <a:fillRect/>
          </a:stretch>
        </p:blipFill>
        <p:spPr>
          <a:xfrm>
            <a:off x="758952" y="2633472"/>
            <a:ext cx="219456" cy="219456"/>
          </a:xfrm>
          <a:prstGeom prst="rect">
            <a:avLst/>
          </a:prstGeom>
        </p:spPr>
      </p:pic>
      <p:sp>
        <p:nvSpPr>
          <p:cNvPr id="8" name="Problem 1 title"/>
          <p:cNvSpPr txBox="1"/>
          <p:nvPr/>
        </p:nvSpPr>
        <p:spPr>
          <a:xfrm>
            <a:off x="1234440" y="2514600"/>
            <a:ext cx="1783080" cy="457200"/>
          </a:xfrm>
          <a:prstGeom prst="rect">
            <a:avLst/>
          </a:prstGeom>
          <a:noFill/>
          <a:ln/>
        </p:spPr>
        <p:txBody>
          <a:bodyPr wrap="square" lIns="0" tIns="0" rIns="0" bIns="0" rtlCol="0" anchor="ctr"/>
          <a:lstStyle/>
          <a:p>
            <a:pPr marL="0" indent="0">
              <a:buNone/>
            </a:pPr>
            <a:r>
              <a:rPr lang="en-US" sz="1600" b="1" dirty="0">
                <a:solidFill>
                  <a:schemeClr val="tx1"/>
                </a:solidFill>
              </a:rPr>
              <a:t>No visibility</a:t>
            </a:r>
            <a:endParaRPr lang="en-US" sz="1600" dirty="0"/>
          </a:p>
        </p:txBody>
      </p:sp>
      <p:sp>
        <p:nvSpPr>
          <p:cNvPr id="9" name="Problem 1 text"/>
          <p:cNvSpPr txBox="1"/>
          <p:nvPr/>
        </p:nvSpPr>
        <p:spPr>
          <a:xfrm>
            <a:off x="640080" y="3108960"/>
            <a:ext cx="2331720" cy="1005840"/>
          </a:xfrm>
          <a:prstGeom prst="rect">
            <a:avLst/>
          </a:prstGeom>
          <a:noFill/>
          <a:ln/>
        </p:spPr>
        <p:txBody>
          <a:bodyPr wrap="square" lIns="0" tIns="0" rIns="0" bIns="0" rtlCol="0" anchor="t"/>
          <a:lstStyle/>
          <a:p>
            <a:pPr marL="0" indent="0">
              <a:buNone/>
            </a:pPr>
            <a:r>
              <a:rPr lang="en-US" sz="1400" dirty="0">
                <a:solidFill>
                  <a:schemeClr val="tx1"/>
                </a:solidFill>
              </a:rPr>
              <a:t>Cargo owners and boat operators cannot see each other's needs, or how reliable boats are.</a:t>
            </a:r>
            <a:endParaRPr lang="en-US" sz="1400" dirty="0"/>
          </a:p>
        </p:txBody>
      </p:sp>
      <p:sp>
        <p:nvSpPr>
          <p:cNvPr id="10" name="Problem card 2"/>
          <p:cNvSpPr/>
          <p:nvPr/>
        </p:nvSpPr>
        <p:spPr>
          <a:xfrm>
            <a:off x="3246120" y="2377440"/>
            <a:ext cx="2651760" cy="1783080"/>
          </a:xfrm>
          <a:prstGeom prst="roundRect">
            <a:avLst>
              <a:gd name="adj" fmla="val 4103"/>
            </a:avLst>
          </a:prstGeom>
          <a:solidFill>
            <a:schemeClr val="bg2"/>
          </a:solidFill>
          <a:ln/>
        </p:spPr>
      </p:sp>
      <p:sp>
        <p:nvSpPr>
          <p:cNvPr id="11" name="Problem 2 circle"/>
          <p:cNvSpPr/>
          <p:nvPr/>
        </p:nvSpPr>
        <p:spPr>
          <a:xfrm>
            <a:off x="3429000" y="2514600"/>
            <a:ext cx="457200" cy="457200"/>
          </a:xfrm>
          <a:prstGeom prst="ellipse">
            <a:avLst/>
          </a:prstGeom>
          <a:solidFill>
            <a:schemeClr val="accent4"/>
          </a:solidFill>
          <a:ln/>
        </p:spPr>
      </p:sp>
      <p:pic>
        <p:nvPicPr>
          <p:cNvPr id="12" name="Problem 2 icon" descr="Problem 2"/>
          <p:cNvPicPr>
            <a:picLocks noChangeAspect="1"/>
          </p:cNvPicPr>
          <p:nvPr/>
        </p:nvPicPr>
        <p:blipFill>
          <a:blip r:embed="rId4"/>
          <a:stretch>
            <a:fillRect/>
          </a:stretch>
        </p:blipFill>
        <p:spPr>
          <a:xfrm>
            <a:off x="3547872" y="2633472"/>
            <a:ext cx="219456" cy="219456"/>
          </a:xfrm>
          <a:prstGeom prst="rect">
            <a:avLst/>
          </a:prstGeom>
        </p:spPr>
      </p:pic>
      <p:sp>
        <p:nvSpPr>
          <p:cNvPr id="13" name="Problem 2 title"/>
          <p:cNvSpPr txBox="1"/>
          <p:nvPr/>
        </p:nvSpPr>
        <p:spPr>
          <a:xfrm>
            <a:off x="4023360" y="2514600"/>
            <a:ext cx="1783080" cy="457200"/>
          </a:xfrm>
          <a:prstGeom prst="rect">
            <a:avLst/>
          </a:prstGeom>
          <a:noFill/>
          <a:ln/>
        </p:spPr>
        <p:txBody>
          <a:bodyPr wrap="square" lIns="0" tIns="0" rIns="0" bIns="0" rtlCol="0" anchor="ctr"/>
          <a:lstStyle/>
          <a:p>
            <a:pPr marL="0" indent="0">
              <a:buNone/>
            </a:pPr>
            <a:r>
              <a:rPr lang="en-US" sz="1600" b="1" dirty="0">
                <a:solidFill>
                  <a:schemeClr val="tx1"/>
                </a:solidFill>
              </a:rPr>
              <a:t>No fair comparison</a:t>
            </a:r>
            <a:endParaRPr lang="en-US" sz="1600" dirty="0"/>
          </a:p>
        </p:txBody>
      </p:sp>
      <p:sp>
        <p:nvSpPr>
          <p:cNvPr id="14" name="Problem 2 text"/>
          <p:cNvSpPr txBox="1"/>
          <p:nvPr/>
        </p:nvSpPr>
        <p:spPr>
          <a:xfrm>
            <a:off x="3429000" y="3108960"/>
            <a:ext cx="2331720" cy="1005840"/>
          </a:xfrm>
          <a:prstGeom prst="rect">
            <a:avLst/>
          </a:prstGeom>
          <a:noFill/>
          <a:ln/>
        </p:spPr>
        <p:txBody>
          <a:bodyPr wrap="square" lIns="0" tIns="0" rIns="0" bIns="0" rtlCol="0" anchor="t"/>
          <a:lstStyle/>
          <a:p>
            <a:pPr marL="0" indent="0">
              <a:buNone/>
            </a:pPr>
            <a:r>
              <a:rPr lang="en-US" sz="1400" dirty="0">
                <a:solidFill>
                  <a:schemeClr val="tx1"/>
                </a:solidFill>
              </a:rPr>
              <a:t>Cost, time, CO₂ and deadline are rarely weighed in one place.</a:t>
            </a:r>
            <a:endParaRPr lang="en-US" sz="1400" dirty="0"/>
          </a:p>
        </p:txBody>
      </p:sp>
      <p:sp>
        <p:nvSpPr>
          <p:cNvPr id="15" name="Problem card 3"/>
          <p:cNvSpPr/>
          <p:nvPr/>
        </p:nvSpPr>
        <p:spPr>
          <a:xfrm>
            <a:off x="6035040" y="2377440"/>
            <a:ext cx="2651760" cy="1783080"/>
          </a:xfrm>
          <a:prstGeom prst="roundRect">
            <a:avLst>
              <a:gd name="adj" fmla="val 4103"/>
            </a:avLst>
          </a:prstGeom>
          <a:solidFill>
            <a:schemeClr val="bg2"/>
          </a:solidFill>
          <a:ln/>
        </p:spPr>
      </p:sp>
      <p:sp>
        <p:nvSpPr>
          <p:cNvPr id="16" name="Problem 3 circle"/>
          <p:cNvSpPr/>
          <p:nvPr/>
        </p:nvSpPr>
        <p:spPr>
          <a:xfrm>
            <a:off x="6217920" y="2514600"/>
            <a:ext cx="457200" cy="457200"/>
          </a:xfrm>
          <a:prstGeom prst="ellipse">
            <a:avLst/>
          </a:prstGeom>
          <a:solidFill>
            <a:schemeClr val="accent4"/>
          </a:solidFill>
          <a:ln/>
        </p:spPr>
      </p:sp>
      <p:pic>
        <p:nvPicPr>
          <p:cNvPr id="17" name="Problem 3 icon" descr="Problem 3"/>
          <p:cNvPicPr>
            <a:picLocks noChangeAspect="1"/>
          </p:cNvPicPr>
          <p:nvPr/>
        </p:nvPicPr>
        <p:blipFill>
          <a:blip r:embed="rId5"/>
          <a:stretch>
            <a:fillRect/>
          </a:stretch>
        </p:blipFill>
        <p:spPr>
          <a:xfrm>
            <a:off x="6336792" y="2633472"/>
            <a:ext cx="219456" cy="219456"/>
          </a:xfrm>
          <a:prstGeom prst="rect">
            <a:avLst/>
          </a:prstGeom>
        </p:spPr>
      </p:pic>
      <p:sp>
        <p:nvSpPr>
          <p:cNvPr id="18" name="Problem 3 title"/>
          <p:cNvSpPr txBox="1"/>
          <p:nvPr/>
        </p:nvSpPr>
        <p:spPr>
          <a:xfrm>
            <a:off x="6812280" y="2514600"/>
            <a:ext cx="1783080" cy="457200"/>
          </a:xfrm>
          <a:prstGeom prst="rect">
            <a:avLst/>
          </a:prstGeom>
          <a:noFill/>
          <a:ln/>
        </p:spPr>
        <p:txBody>
          <a:bodyPr wrap="square" lIns="0" tIns="0" rIns="0" bIns="0" rtlCol="0" anchor="ctr"/>
          <a:lstStyle/>
          <a:p>
            <a:pPr marL="0" indent="0">
              <a:buNone/>
            </a:pPr>
            <a:r>
              <a:rPr lang="en-US" sz="1600" b="1" dirty="0">
                <a:solidFill>
                  <a:schemeClr val="tx1"/>
                </a:solidFill>
              </a:rPr>
              <a:t>No safety net</a:t>
            </a:r>
            <a:endParaRPr lang="en-US" sz="1600" dirty="0"/>
          </a:p>
        </p:txBody>
      </p:sp>
      <p:sp>
        <p:nvSpPr>
          <p:cNvPr id="19" name="Problem 3 text"/>
          <p:cNvSpPr txBox="1"/>
          <p:nvPr/>
        </p:nvSpPr>
        <p:spPr>
          <a:xfrm>
            <a:off x="6217920" y="3108960"/>
            <a:ext cx="2331720" cy="1005840"/>
          </a:xfrm>
          <a:prstGeom prst="rect">
            <a:avLst/>
          </a:prstGeom>
          <a:noFill/>
          <a:ln/>
        </p:spPr>
        <p:txBody>
          <a:bodyPr wrap="square" lIns="0" tIns="0" rIns="0" bIns="0" rtlCol="0" anchor="t"/>
          <a:lstStyle/>
          <a:p>
            <a:pPr marL="0" indent="0">
              <a:buNone/>
            </a:pPr>
            <a:r>
              <a:rPr lang="en-US" sz="1400" dirty="0">
                <a:solidFill>
                  <a:schemeClr val="tx1"/>
                </a:solidFill>
              </a:rPr>
              <a:t>Hazardous cargo and disruptions have no clear, checked options.</a:t>
            </a:r>
            <a:endParaRPr lang="en-US" sz="1400" dirty="0"/>
          </a:p>
        </p:txBody>
      </p:sp>
      <p:sp>
        <p:nvSpPr>
          <p:cNvPr id="20" name="Example and source"/>
          <p:cNvSpPr txBox="1"/>
          <p:nvPr/>
        </p:nvSpPr>
        <p:spPr>
          <a:xfrm>
            <a:off x="457200" y="4251960"/>
            <a:ext cx="8229600" cy="411480"/>
          </a:xfrm>
          <a:prstGeom prst="rect">
            <a:avLst/>
          </a:prstGeom>
          <a:noFill/>
          <a:ln/>
        </p:spPr>
        <p:txBody>
          <a:bodyPr wrap="square" lIns="0" tIns="0" rIns="0" bIns="0" rtlCol="0" anchor="t"/>
          <a:lstStyle/>
          <a:p>
            <a:pPr marL="0" indent="0">
              <a:buNone/>
            </a:pPr>
            <a:r>
              <a:rPr lang="en-US" sz="1200" dirty="0">
                <a:solidFill>
                  <a:schemeClr val="accent5"/>
                </a:solidFill>
              </a:rPr>
              <a:t>Example from the brief: a construction company moving building materials from Kochi to Alappuzha wants to compare road with waterway options.  Source: Challenge 7 brief</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Why NW-3, and where next</a:t>
            </a:r>
            <a:endParaRPr lang="en-US" sz="3200" dirty="0"/>
          </a:p>
        </p:txBody>
      </p:sp>
      <p:sp>
        <p:nvSpPr>
          <p:cNvPr id="3" name="Why NW-3 card"/>
          <p:cNvSpPr/>
          <p:nvPr/>
        </p:nvSpPr>
        <p:spPr>
          <a:xfrm>
            <a:off x="457200" y="1051560"/>
            <a:ext cx="4023360" cy="3108960"/>
          </a:xfrm>
          <a:prstGeom prst="roundRect">
            <a:avLst>
              <a:gd name="adj" fmla="val 2353"/>
            </a:avLst>
          </a:prstGeom>
          <a:solidFill>
            <a:schemeClr val="bg2"/>
          </a:solidFill>
          <a:ln/>
        </p:spPr>
      </p:sp>
      <p:sp>
        <p:nvSpPr>
          <p:cNvPr id="4" name="Why heading"/>
          <p:cNvSpPr txBox="1"/>
          <p:nvPr/>
        </p:nvSpPr>
        <p:spPr>
          <a:xfrm>
            <a:off x="640080" y="1170432"/>
            <a:ext cx="3657600" cy="292608"/>
          </a:xfrm>
          <a:prstGeom prst="rect">
            <a:avLst/>
          </a:prstGeom>
          <a:noFill/>
          <a:ln/>
        </p:spPr>
        <p:txBody>
          <a:bodyPr wrap="square" lIns="0" tIns="0" rIns="0" bIns="0" rtlCol="0" anchor="t"/>
          <a:lstStyle/>
          <a:p>
            <a:pPr marL="0" indent="0">
              <a:buNone/>
            </a:pPr>
            <a:r>
              <a:rPr lang="en-US" sz="1600" b="1" dirty="0">
                <a:solidFill>
                  <a:schemeClr val="accent1"/>
                </a:solidFill>
              </a:rPr>
              <a:t>Why we started with NW-3</a:t>
            </a:r>
            <a:endParaRPr lang="en-US" sz="1600" dirty="0"/>
          </a:p>
        </p:txBody>
      </p:sp>
      <p:sp>
        <p:nvSpPr>
          <p:cNvPr id="5" name="Why list"/>
          <p:cNvSpPr txBox="1"/>
          <p:nvPr/>
        </p:nvSpPr>
        <p:spPr>
          <a:xfrm>
            <a:off x="640080" y="1572768"/>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It is where the brief's example lives: Kochi to Alappuzha runs on NW-3.</a:t>
            </a:r>
            <a:endParaRPr lang="en-US" sz="1400" dirty="0"/>
          </a:p>
          <a:p>
            <a:pPr marL="342900" indent="-342900">
              <a:spcAft>
                <a:spcPts val="600"/>
              </a:spcAft>
              <a:buSzPct val="100000"/>
              <a:buChar char="•"/>
            </a:pPr>
            <a:r>
              <a:rPr lang="en-US" sz="1400" dirty="0">
                <a:solidFill>
                  <a:schemeClr val="tx1"/>
                </a:solidFill>
              </a:rPr>
              <a:t>A defined national waterway: Kollam to Kottapuram, about 205 km, nine terminals.</a:t>
            </a:r>
            <a:endParaRPr lang="en-US" sz="1400" dirty="0"/>
          </a:p>
          <a:p>
            <a:pPr marL="342900" indent="-342900">
              <a:spcAft>
                <a:spcPts val="600"/>
              </a:spcAft>
              <a:buSzPct val="100000"/>
              <a:buChar char="•"/>
            </a:pPr>
            <a:r>
              <a:rPr lang="en-US" sz="1400" dirty="0">
                <a:solidFill>
                  <a:schemeClr val="tx1"/>
                </a:solidFill>
              </a:rPr>
              <a:t>One corridor modelled honestly beats many modelled thinly.</a:t>
            </a:r>
            <a:endParaRPr lang="en-US" sz="1400" dirty="0"/>
          </a:p>
          <a:p>
            <a:pPr marL="342900" indent="-342900">
              <a:buSzPct val="100000"/>
              <a:buChar char="•"/>
            </a:pPr>
            <a:r>
              <a:rPr lang="en-US" sz="1400" dirty="0">
                <a:solidFill>
                  <a:schemeClr val="tx1"/>
                </a:solidFill>
              </a:rPr>
              <a:t>Four illustrative jetties: Kochi Thevara, Vaikom, Alappuzha, Kollam.</a:t>
            </a:r>
            <a:endParaRPr lang="en-US" sz="1400" dirty="0"/>
          </a:p>
        </p:txBody>
      </p:sp>
      <p:sp>
        <p:nvSpPr>
          <p:cNvPr id="6" name="Where next card"/>
          <p:cNvSpPr/>
          <p:nvPr/>
        </p:nvSpPr>
        <p:spPr>
          <a:xfrm>
            <a:off x="4663440" y="1051560"/>
            <a:ext cx="4023360" cy="3108960"/>
          </a:xfrm>
          <a:prstGeom prst="roundRect">
            <a:avLst>
              <a:gd name="adj" fmla="val 2353"/>
            </a:avLst>
          </a:prstGeom>
          <a:solidFill>
            <a:schemeClr val="bg2"/>
          </a:solidFill>
          <a:ln/>
        </p:spPr>
      </p:sp>
      <p:sp>
        <p:nvSpPr>
          <p:cNvPr id="7" name="Next heading"/>
          <p:cNvSpPr txBox="1"/>
          <p:nvPr/>
        </p:nvSpPr>
        <p:spPr>
          <a:xfrm>
            <a:off x="4846320" y="1170432"/>
            <a:ext cx="3657600" cy="292608"/>
          </a:xfrm>
          <a:prstGeom prst="rect">
            <a:avLst/>
          </a:prstGeom>
          <a:noFill/>
          <a:ln/>
        </p:spPr>
        <p:txBody>
          <a:bodyPr wrap="square" lIns="0" tIns="0" rIns="0" bIns="0" rtlCol="0" anchor="t"/>
          <a:lstStyle/>
          <a:p>
            <a:pPr marL="0" indent="0">
              <a:buNone/>
            </a:pPr>
            <a:r>
              <a:rPr lang="en-US" sz="1600" b="1" dirty="0">
                <a:solidFill>
                  <a:schemeClr val="accent1"/>
                </a:solidFill>
              </a:rPr>
              <a:t>Where next</a:t>
            </a:r>
            <a:endParaRPr lang="en-US" sz="1600" dirty="0"/>
          </a:p>
        </p:txBody>
      </p:sp>
      <p:sp>
        <p:nvSpPr>
          <p:cNvPr id="8" name="Next list"/>
          <p:cNvSpPr txBox="1"/>
          <p:nvPr/>
        </p:nvSpPr>
        <p:spPr>
          <a:xfrm>
            <a:off x="4846320" y="1572768"/>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Same engine, more corridors: adding a waterway is mostly adding data.</a:t>
            </a:r>
            <a:endParaRPr lang="en-US" sz="1400" dirty="0"/>
          </a:p>
          <a:p>
            <a:pPr marL="342900" indent="-342900">
              <a:spcAft>
                <a:spcPts val="600"/>
              </a:spcAft>
              <a:buSzPct val="100000"/>
              <a:buChar char="•"/>
            </a:pPr>
            <a:r>
              <a:rPr lang="en-US" sz="1400" dirty="0">
                <a:solidFill>
                  <a:schemeClr val="tx1"/>
                </a:solidFill>
              </a:rPr>
              <a:t>Nearby: NW-8 (Alappuzha to Changanassery, 28 km) and NW-9 (Alappuzha to Kottayam to Athirampuzha, 38 km).</a:t>
            </a:r>
            <a:endParaRPr lang="en-US" sz="1400" dirty="0"/>
          </a:p>
          <a:p>
            <a:pPr marL="342900" indent="-342900">
              <a:spcAft>
                <a:spcPts val="600"/>
              </a:spcAft>
              <a:buSzPct val="100000"/>
              <a:buChar char="•"/>
            </a:pPr>
            <a:r>
              <a:rPr lang="en-US" sz="1400" dirty="0">
                <a:solidFill>
                  <a:schemeClr val="tx1"/>
                </a:solidFill>
              </a:rPr>
              <a:t>North: the Kovalam to Bekal West Coast Canal project (about 590 km) and the extension towards Kozhikode.</a:t>
            </a:r>
            <a:endParaRPr lang="en-US" sz="1400" dirty="0"/>
          </a:p>
          <a:p>
            <a:pPr marL="342900" indent="-342900">
              <a:buSzPct val="100000"/>
              <a:buChar char="•"/>
            </a:pPr>
            <a:r>
              <a:rPr lang="en-US" sz="1400" dirty="0">
                <a:solidFill>
                  <a:schemeClr val="tx1"/>
                </a:solidFill>
              </a:rPr>
              <a:t>Beyond Kerala: other national waterways.</a:t>
            </a:r>
            <a:endParaRPr lang="en-US" sz="1400" dirty="0"/>
          </a:p>
        </p:txBody>
      </p:sp>
      <p:sp>
        <p:nvSpPr>
          <p:cNvPr id="9" name="NW-3 footnote"/>
          <p:cNvSpPr txBox="1"/>
          <p:nvPr/>
        </p:nvSpPr>
        <p:spPr>
          <a:xfrm>
            <a:off x="457200" y="4279392"/>
            <a:ext cx="8229600" cy="411480"/>
          </a:xfrm>
          <a:prstGeom prst="rect">
            <a:avLst/>
          </a:prstGeom>
          <a:noFill/>
          <a:ln/>
        </p:spPr>
        <p:txBody>
          <a:bodyPr wrap="square" lIns="0" tIns="0" rIns="0" bIns="0" rtlCol="0" anchor="t"/>
          <a:lstStyle/>
          <a:p>
            <a:pPr marL="0" indent="0">
              <a:buNone/>
            </a:pPr>
            <a:r>
              <a:rPr lang="en-US" sz="1000" dirty="0">
                <a:solidFill>
                  <a:schemeClr val="accent5"/>
                </a:solidFill>
              </a:rPr>
              <a:t>Figures from public sources (IWAI, Ministry of Ports, Shipping and Waterways, press). Verify with IWAI before relying on them. Jetty names and positions in the prototype are illustrative.</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How JalSetu differs</a:t>
            </a:r>
            <a:endParaRPr lang="en-US" sz="3200" dirty="0"/>
          </a:p>
        </p:txBody>
      </p:sp>
      <p:sp>
        <p:nvSpPr>
          <p:cNvPr id="3" name="Compare card 1"/>
          <p:cNvSpPr/>
          <p:nvPr/>
        </p:nvSpPr>
        <p:spPr>
          <a:xfrm>
            <a:off x="457200" y="1051560"/>
            <a:ext cx="1965960" cy="3429000"/>
          </a:xfrm>
          <a:prstGeom prst="roundRect">
            <a:avLst>
              <a:gd name="adj" fmla="val 3721"/>
            </a:avLst>
          </a:prstGeom>
          <a:solidFill>
            <a:schemeClr val="bg2"/>
          </a:solidFill>
          <a:ln/>
        </p:spPr>
      </p:sp>
      <p:sp>
        <p:nvSpPr>
          <p:cNvPr id="4" name="Compare name 1"/>
          <p:cNvSpPr txBox="1"/>
          <p:nvPr/>
        </p:nvSpPr>
        <p:spPr>
          <a:xfrm>
            <a:off x="594360" y="1170432"/>
            <a:ext cx="1691640" cy="292608"/>
          </a:xfrm>
          <a:prstGeom prst="rect">
            <a:avLst/>
          </a:prstGeom>
          <a:noFill/>
          <a:ln/>
        </p:spPr>
        <p:txBody>
          <a:bodyPr wrap="square" lIns="0" tIns="0" rIns="0" bIns="0" rtlCol="0" anchor="t"/>
          <a:lstStyle/>
          <a:p>
            <a:pPr marL="0" indent="0">
              <a:buNone/>
            </a:pPr>
            <a:r>
              <a:rPr lang="en-US" sz="1800" b="1" dirty="0">
                <a:solidFill>
                  <a:schemeClr val="tx1"/>
                </a:solidFill>
              </a:rPr>
              <a:t>FOCAL</a:t>
            </a:r>
            <a:endParaRPr lang="en-US" sz="1800" dirty="0"/>
          </a:p>
        </p:txBody>
      </p:sp>
      <p:sp>
        <p:nvSpPr>
          <p:cNvPr id="5" name="Compare owner 1"/>
          <p:cNvSpPr txBox="1"/>
          <p:nvPr/>
        </p:nvSpPr>
        <p:spPr>
          <a:xfrm>
            <a:off x="594360" y="1481328"/>
            <a:ext cx="1691640" cy="201168"/>
          </a:xfrm>
          <a:prstGeom prst="rect">
            <a:avLst/>
          </a:prstGeom>
          <a:noFill/>
          <a:ln/>
        </p:spPr>
        <p:txBody>
          <a:bodyPr wrap="square" lIns="0" tIns="0" rIns="0" bIns="0" rtlCol="0" anchor="t"/>
          <a:lstStyle/>
          <a:p>
            <a:pPr marL="0" indent="0">
              <a:buNone/>
            </a:pPr>
            <a:r>
              <a:rPr lang="en-US" sz="1100" dirty="0">
                <a:solidFill>
                  <a:schemeClr val="accent5"/>
                </a:solidFill>
              </a:rPr>
              <a:t>IWAI</a:t>
            </a:r>
            <a:endParaRPr lang="en-US" sz="1100" dirty="0"/>
          </a:p>
        </p:txBody>
      </p:sp>
      <p:sp>
        <p:nvSpPr>
          <p:cNvPr id="6" name="Compare label A 1"/>
          <p:cNvSpPr txBox="1"/>
          <p:nvPr/>
        </p:nvSpPr>
        <p:spPr>
          <a:xfrm>
            <a:off x="594360" y="1783080"/>
            <a:ext cx="1691640" cy="201168"/>
          </a:xfrm>
          <a:prstGeom prst="rect">
            <a:avLst/>
          </a:prstGeom>
          <a:noFill/>
          <a:ln/>
        </p:spPr>
        <p:txBody>
          <a:bodyPr wrap="square" lIns="0" tIns="0" rIns="0" bIns="0" rtlCol="0" anchor="t"/>
          <a:lstStyle/>
          <a:p>
            <a:pPr marL="0" indent="0">
              <a:buNone/>
            </a:pPr>
            <a:r>
              <a:rPr lang="en-US" sz="1100" b="1" dirty="0">
                <a:solidFill>
                  <a:schemeClr val="accent5"/>
                </a:solidFill>
              </a:rPr>
              <a:t>Per its documented scope</a:t>
            </a:r>
            <a:endParaRPr lang="en-US" sz="1100" dirty="0"/>
          </a:p>
        </p:txBody>
      </p:sp>
      <p:sp>
        <p:nvSpPr>
          <p:cNvPr id="7" name="Compare scope 1"/>
          <p:cNvSpPr txBox="1"/>
          <p:nvPr/>
        </p:nvSpPr>
        <p:spPr>
          <a:xfrm>
            <a:off x="594360" y="2011680"/>
            <a:ext cx="1691640" cy="1097280"/>
          </a:xfrm>
          <a:prstGeom prst="rect">
            <a:avLst/>
          </a:prstGeom>
          <a:noFill/>
          <a:ln/>
        </p:spPr>
        <p:txBody>
          <a:bodyPr wrap="square" lIns="0" tIns="0" rIns="0" bIns="0" rtlCol="0" anchor="t"/>
          <a:lstStyle/>
          <a:p>
            <a:pPr marL="0" indent="0">
              <a:buNone/>
            </a:pPr>
            <a:r>
              <a:rPr lang="en-US" sz="1400" dirty="0">
                <a:solidFill>
                  <a:schemeClr val="tx1"/>
                </a:solidFill>
              </a:rPr>
              <a:t>Portal where cargo owners and logistics operators list cargo and vessel availability.</a:t>
            </a:r>
            <a:endParaRPr lang="en-US" sz="1400" dirty="0"/>
          </a:p>
        </p:txBody>
      </p:sp>
      <p:sp>
        <p:nvSpPr>
          <p:cNvPr id="8" name="Compare label B 1"/>
          <p:cNvSpPr txBox="1"/>
          <p:nvPr/>
        </p:nvSpPr>
        <p:spPr>
          <a:xfrm>
            <a:off x="594360" y="3154680"/>
            <a:ext cx="1691640" cy="201168"/>
          </a:xfrm>
          <a:prstGeom prst="rect">
            <a:avLst/>
          </a:prstGeom>
          <a:noFill/>
          <a:ln/>
        </p:spPr>
        <p:txBody>
          <a:bodyPr wrap="square" lIns="0" tIns="0" rIns="0" bIns="0" rtlCol="0" anchor="t"/>
          <a:lstStyle/>
          <a:p>
            <a:pPr marL="0" indent="0">
              <a:buNone/>
            </a:pPr>
            <a:r>
              <a:rPr lang="en-US" sz="1100" b="1" dirty="0">
                <a:solidFill>
                  <a:schemeClr val="accent5"/>
                </a:solidFill>
              </a:rPr>
              <a:t>How we relate</a:t>
            </a:r>
            <a:endParaRPr lang="en-US" sz="1100" dirty="0"/>
          </a:p>
        </p:txBody>
      </p:sp>
      <p:sp>
        <p:nvSpPr>
          <p:cNvPr id="9" name="Compare relation 1"/>
          <p:cNvSpPr txBox="1"/>
          <p:nvPr/>
        </p:nvSpPr>
        <p:spPr>
          <a:xfrm>
            <a:off x="594360" y="3383280"/>
            <a:ext cx="1691640" cy="1005840"/>
          </a:xfrm>
          <a:prstGeom prst="rect">
            <a:avLst/>
          </a:prstGeom>
          <a:noFill/>
          <a:ln/>
        </p:spPr>
        <p:txBody>
          <a:bodyPr wrap="square" lIns="0" tIns="0" rIns="0" bIns="0" rtlCol="0" anchor="t"/>
          <a:lstStyle/>
          <a:p>
            <a:pPr marL="0" indent="0">
              <a:buNone/>
            </a:pPr>
            <a:r>
              <a:rPr lang="en-US" sz="1400" dirty="0">
                <a:solidFill>
                  <a:schemeClr val="tx1"/>
                </a:solidFill>
              </a:rPr>
              <a:t>We add a road vs water decision on top of listings.</a:t>
            </a:r>
            <a:endParaRPr lang="en-US" sz="1400" dirty="0"/>
          </a:p>
        </p:txBody>
      </p:sp>
      <p:sp>
        <p:nvSpPr>
          <p:cNvPr id="10" name="Compare card 2"/>
          <p:cNvSpPr/>
          <p:nvPr/>
        </p:nvSpPr>
        <p:spPr>
          <a:xfrm>
            <a:off x="2542032" y="1051560"/>
            <a:ext cx="1965960" cy="3429000"/>
          </a:xfrm>
          <a:prstGeom prst="roundRect">
            <a:avLst>
              <a:gd name="adj" fmla="val 3721"/>
            </a:avLst>
          </a:prstGeom>
          <a:solidFill>
            <a:schemeClr val="bg2"/>
          </a:solidFill>
          <a:ln/>
        </p:spPr>
      </p:sp>
      <p:sp>
        <p:nvSpPr>
          <p:cNvPr id="11" name="Compare name 2"/>
          <p:cNvSpPr txBox="1"/>
          <p:nvPr/>
        </p:nvSpPr>
        <p:spPr>
          <a:xfrm>
            <a:off x="2679192" y="1170432"/>
            <a:ext cx="1691640" cy="292608"/>
          </a:xfrm>
          <a:prstGeom prst="rect">
            <a:avLst/>
          </a:prstGeom>
          <a:noFill/>
          <a:ln/>
        </p:spPr>
        <p:txBody>
          <a:bodyPr wrap="square" lIns="0" tIns="0" rIns="0" bIns="0" rtlCol="0" anchor="t"/>
          <a:lstStyle/>
          <a:p>
            <a:pPr marL="0" indent="0">
              <a:buNone/>
            </a:pPr>
            <a:r>
              <a:rPr lang="en-US" sz="1800" b="1" dirty="0">
                <a:solidFill>
                  <a:schemeClr val="tx1"/>
                </a:solidFill>
              </a:rPr>
              <a:t>PANI</a:t>
            </a:r>
            <a:endParaRPr lang="en-US" sz="1800" dirty="0"/>
          </a:p>
        </p:txBody>
      </p:sp>
      <p:sp>
        <p:nvSpPr>
          <p:cNvPr id="12" name="Compare owner 2"/>
          <p:cNvSpPr txBox="1"/>
          <p:nvPr/>
        </p:nvSpPr>
        <p:spPr>
          <a:xfrm>
            <a:off x="2679192" y="1481328"/>
            <a:ext cx="1691640" cy="201168"/>
          </a:xfrm>
          <a:prstGeom prst="rect">
            <a:avLst/>
          </a:prstGeom>
          <a:noFill/>
          <a:ln/>
        </p:spPr>
        <p:txBody>
          <a:bodyPr wrap="square" lIns="0" tIns="0" rIns="0" bIns="0" rtlCol="0" anchor="t"/>
          <a:lstStyle/>
          <a:p>
            <a:pPr marL="0" indent="0">
              <a:buNone/>
            </a:pPr>
            <a:r>
              <a:rPr lang="en-US" sz="1100" dirty="0">
                <a:solidFill>
                  <a:schemeClr val="accent5"/>
                </a:solidFill>
              </a:rPr>
              <a:t>IWAI</a:t>
            </a:r>
            <a:endParaRPr lang="en-US" sz="1100" dirty="0"/>
          </a:p>
        </p:txBody>
      </p:sp>
      <p:sp>
        <p:nvSpPr>
          <p:cNvPr id="13" name="Compare label A 2"/>
          <p:cNvSpPr txBox="1"/>
          <p:nvPr/>
        </p:nvSpPr>
        <p:spPr>
          <a:xfrm>
            <a:off x="2679192" y="1783080"/>
            <a:ext cx="1691640" cy="201168"/>
          </a:xfrm>
          <a:prstGeom prst="rect">
            <a:avLst/>
          </a:prstGeom>
          <a:noFill/>
          <a:ln/>
        </p:spPr>
        <p:txBody>
          <a:bodyPr wrap="square" lIns="0" tIns="0" rIns="0" bIns="0" rtlCol="0" anchor="t"/>
          <a:lstStyle/>
          <a:p>
            <a:pPr marL="0" indent="0">
              <a:buNone/>
            </a:pPr>
            <a:r>
              <a:rPr lang="en-US" sz="1100" b="1" dirty="0">
                <a:solidFill>
                  <a:schemeClr val="accent5"/>
                </a:solidFill>
              </a:rPr>
              <a:t>Per its documented scope</a:t>
            </a:r>
            <a:endParaRPr lang="en-US" sz="1100" dirty="0"/>
          </a:p>
        </p:txBody>
      </p:sp>
      <p:sp>
        <p:nvSpPr>
          <p:cNvPr id="14" name="Compare scope 2"/>
          <p:cNvSpPr txBox="1"/>
          <p:nvPr/>
        </p:nvSpPr>
        <p:spPr>
          <a:xfrm>
            <a:off x="2679192" y="2011680"/>
            <a:ext cx="1691640" cy="1097280"/>
          </a:xfrm>
          <a:prstGeom prst="rect">
            <a:avLst/>
          </a:prstGeom>
          <a:noFill/>
          <a:ln/>
        </p:spPr>
        <p:txBody>
          <a:bodyPr wrap="square" lIns="0" tIns="0" rIns="0" bIns="0" rtlCol="0" anchor="t"/>
          <a:lstStyle/>
          <a:p>
            <a:pPr marL="0" indent="0">
              <a:buNone/>
            </a:pPr>
            <a:r>
              <a:rPr lang="en-US" sz="1400" dirty="0">
                <a:solidFill>
                  <a:schemeClr val="tx1"/>
                </a:solidFill>
              </a:rPr>
              <a:t>Navigation and asset information for national waterways, for voyage planning.</a:t>
            </a:r>
            <a:endParaRPr lang="en-US" sz="1400" dirty="0"/>
          </a:p>
        </p:txBody>
      </p:sp>
      <p:sp>
        <p:nvSpPr>
          <p:cNvPr id="15" name="Compare label B 2"/>
          <p:cNvSpPr txBox="1"/>
          <p:nvPr/>
        </p:nvSpPr>
        <p:spPr>
          <a:xfrm>
            <a:off x="2679192" y="3154680"/>
            <a:ext cx="1691640" cy="201168"/>
          </a:xfrm>
          <a:prstGeom prst="rect">
            <a:avLst/>
          </a:prstGeom>
          <a:noFill/>
          <a:ln/>
        </p:spPr>
        <p:txBody>
          <a:bodyPr wrap="square" lIns="0" tIns="0" rIns="0" bIns="0" rtlCol="0" anchor="t"/>
          <a:lstStyle/>
          <a:p>
            <a:pPr marL="0" indent="0">
              <a:buNone/>
            </a:pPr>
            <a:r>
              <a:rPr lang="en-US" sz="1100" b="1" dirty="0">
                <a:solidFill>
                  <a:schemeClr val="accent5"/>
                </a:solidFill>
              </a:rPr>
              <a:t>How we relate</a:t>
            </a:r>
            <a:endParaRPr lang="en-US" sz="1100" dirty="0"/>
          </a:p>
        </p:txBody>
      </p:sp>
      <p:sp>
        <p:nvSpPr>
          <p:cNvPr id="16" name="Compare relation 2"/>
          <p:cNvSpPr txBox="1"/>
          <p:nvPr/>
        </p:nvSpPr>
        <p:spPr>
          <a:xfrm>
            <a:off x="2679192" y="3383280"/>
            <a:ext cx="1691640" cy="1005840"/>
          </a:xfrm>
          <a:prstGeom prst="rect">
            <a:avLst/>
          </a:prstGeom>
          <a:noFill/>
          <a:ln/>
        </p:spPr>
        <p:txBody>
          <a:bodyPr wrap="square" lIns="0" tIns="0" rIns="0" bIns="0" rtlCol="0" anchor="t"/>
          <a:lstStyle/>
          <a:p>
            <a:pPr marL="0" indent="0">
              <a:buNone/>
            </a:pPr>
            <a:r>
              <a:rPr lang="en-US" sz="1400" dirty="0">
                <a:solidFill>
                  <a:schemeClr val="tx1"/>
                </a:solidFill>
              </a:rPr>
              <a:t>Its data is what we would check our distances and depths against.</a:t>
            </a:r>
            <a:endParaRPr lang="en-US" sz="1400" dirty="0"/>
          </a:p>
        </p:txBody>
      </p:sp>
      <p:sp>
        <p:nvSpPr>
          <p:cNvPr id="17" name="Compare card 3"/>
          <p:cNvSpPr/>
          <p:nvPr/>
        </p:nvSpPr>
        <p:spPr>
          <a:xfrm>
            <a:off x="4626864" y="1051560"/>
            <a:ext cx="1965960" cy="3429000"/>
          </a:xfrm>
          <a:prstGeom prst="roundRect">
            <a:avLst>
              <a:gd name="adj" fmla="val 3721"/>
            </a:avLst>
          </a:prstGeom>
          <a:solidFill>
            <a:schemeClr val="bg2"/>
          </a:solidFill>
          <a:ln/>
        </p:spPr>
      </p:sp>
      <p:sp>
        <p:nvSpPr>
          <p:cNvPr id="18" name="Compare name 3"/>
          <p:cNvSpPr txBox="1"/>
          <p:nvPr/>
        </p:nvSpPr>
        <p:spPr>
          <a:xfrm>
            <a:off x="4764024" y="1170432"/>
            <a:ext cx="1691640" cy="292608"/>
          </a:xfrm>
          <a:prstGeom prst="rect">
            <a:avLst/>
          </a:prstGeom>
          <a:noFill/>
          <a:ln/>
        </p:spPr>
        <p:txBody>
          <a:bodyPr wrap="square" lIns="0" tIns="0" rIns="0" bIns="0" rtlCol="0" anchor="t"/>
          <a:lstStyle/>
          <a:p>
            <a:pPr marL="0" indent="0">
              <a:buNone/>
            </a:pPr>
            <a:r>
              <a:rPr lang="en-US" sz="1800" b="1" dirty="0">
                <a:solidFill>
                  <a:schemeClr val="tx1"/>
                </a:solidFill>
              </a:rPr>
              <a:t>BlackBuck</a:t>
            </a:r>
            <a:endParaRPr lang="en-US" sz="1800" dirty="0"/>
          </a:p>
        </p:txBody>
      </p:sp>
      <p:sp>
        <p:nvSpPr>
          <p:cNvPr id="19" name="Compare owner 3"/>
          <p:cNvSpPr txBox="1"/>
          <p:nvPr/>
        </p:nvSpPr>
        <p:spPr>
          <a:xfrm>
            <a:off x="4764024" y="1481328"/>
            <a:ext cx="1691640" cy="201168"/>
          </a:xfrm>
          <a:prstGeom prst="rect">
            <a:avLst/>
          </a:prstGeom>
          <a:noFill/>
          <a:ln/>
        </p:spPr>
        <p:txBody>
          <a:bodyPr wrap="square" lIns="0" tIns="0" rIns="0" bIns="0" rtlCol="0" anchor="t"/>
          <a:lstStyle/>
          <a:p>
            <a:pPr marL="0" indent="0">
              <a:buNone/>
            </a:pPr>
            <a:r>
              <a:rPr lang="en-US" sz="1100" dirty="0">
                <a:solidFill>
                  <a:schemeClr val="accent5"/>
                </a:solidFill>
              </a:rPr>
              <a:t>Private</a:t>
            </a:r>
            <a:endParaRPr lang="en-US" sz="1100" dirty="0"/>
          </a:p>
        </p:txBody>
      </p:sp>
      <p:sp>
        <p:nvSpPr>
          <p:cNvPr id="20" name="Compare label A 3"/>
          <p:cNvSpPr txBox="1"/>
          <p:nvPr/>
        </p:nvSpPr>
        <p:spPr>
          <a:xfrm>
            <a:off x="4764024" y="1783080"/>
            <a:ext cx="1691640" cy="201168"/>
          </a:xfrm>
          <a:prstGeom prst="rect">
            <a:avLst/>
          </a:prstGeom>
          <a:noFill/>
          <a:ln/>
        </p:spPr>
        <p:txBody>
          <a:bodyPr wrap="square" lIns="0" tIns="0" rIns="0" bIns="0" rtlCol="0" anchor="t"/>
          <a:lstStyle/>
          <a:p>
            <a:pPr marL="0" indent="0">
              <a:buNone/>
            </a:pPr>
            <a:r>
              <a:rPr lang="en-US" sz="1100" b="1" dirty="0">
                <a:solidFill>
                  <a:schemeClr val="accent5"/>
                </a:solidFill>
              </a:rPr>
              <a:t>Per its documented scope</a:t>
            </a:r>
            <a:endParaRPr lang="en-US" sz="1100" dirty="0"/>
          </a:p>
        </p:txBody>
      </p:sp>
      <p:sp>
        <p:nvSpPr>
          <p:cNvPr id="21" name="Compare scope 3"/>
          <p:cNvSpPr txBox="1"/>
          <p:nvPr/>
        </p:nvSpPr>
        <p:spPr>
          <a:xfrm>
            <a:off x="4764024" y="2011680"/>
            <a:ext cx="1691640" cy="1097280"/>
          </a:xfrm>
          <a:prstGeom prst="rect">
            <a:avLst/>
          </a:prstGeom>
          <a:noFill/>
          <a:ln/>
        </p:spPr>
        <p:txBody>
          <a:bodyPr wrap="square" lIns="0" tIns="0" rIns="0" bIns="0" rtlCol="0" anchor="t"/>
          <a:lstStyle/>
          <a:p>
            <a:pPr marL="0" indent="0">
              <a:buNone/>
            </a:pPr>
            <a:r>
              <a:rPr lang="en-US" sz="1400" dirty="0">
                <a:solidFill>
                  <a:schemeClr val="tx1"/>
                </a:solidFill>
              </a:rPr>
              <a:t>Road trucking marketplace: matches shippers with truckers.</a:t>
            </a:r>
            <a:endParaRPr lang="en-US" sz="1400" dirty="0"/>
          </a:p>
        </p:txBody>
      </p:sp>
      <p:sp>
        <p:nvSpPr>
          <p:cNvPr id="22" name="Compare label B 3"/>
          <p:cNvSpPr txBox="1"/>
          <p:nvPr/>
        </p:nvSpPr>
        <p:spPr>
          <a:xfrm>
            <a:off x="4764024" y="3154680"/>
            <a:ext cx="1691640" cy="201168"/>
          </a:xfrm>
          <a:prstGeom prst="rect">
            <a:avLst/>
          </a:prstGeom>
          <a:noFill/>
          <a:ln/>
        </p:spPr>
        <p:txBody>
          <a:bodyPr wrap="square" lIns="0" tIns="0" rIns="0" bIns="0" rtlCol="0" anchor="t"/>
          <a:lstStyle/>
          <a:p>
            <a:pPr marL="0" indent="0">
              <a:buNone/>
            </a:pPr>
            <a:r>
              <a:rPr lang="en-US" sz="1100" b="1" dirty="0">
                <a:solidFill>
                  <a:schemeClr val="accent5"/>
                </a:solidFill>
              </a:rPr>
              <a:t>How we relate</a:t>
            </a:r>
            <a:endParaRPr lang="en-US" sz="1100" dirty="0"/>
          </a:p>
        </p:txBody>
      </p:sp>
      <p:sp>
        <p:nvSpPr>
          <p:cNvPr id="23" name="Compare relation 3"/>
          <p:cNvSpPr txBox="1"/>
          <p:nvPr/>
        </p:nvSpPr>
        <p:spPr>
          <a:xfrm>
            <a:off x="4764024" y="3383280"/>
            <a:ext cx="1691640" cy="1005840"/>
          </a:xfrm>
          <a:prstGeom prst="rect">
            <a:avLst/>
          </a:prstGeom>
          <a:noFill/>
          <a:ln/>
        </p:spPr>
        <p:txBody>
          <a:bodyPr wrap="square" lIns="0" tIns="0" rIns="0" bIns="0" rtlCol="0" anchor="t"/>
          <a:lstStyle/>
          <a:p>
            <a:pPr marL="0" indent="0">
              <a:buNone/>
            </a:pPr>
            <a:r>
              <a:rPr lang="en-US" sz="1400" dirty="0">
                <a:solidFill>
                  <a:schemeClr val="tx1"/>
                </a:solidFill>
              </a:rPr>
              <a:t>Road is the baseline we compare against.</a:t>
            </a:r>
            <a:endParaRPr lang="en-US" sz="1400" dirty="0"/>
          </a:p>
        </p:txBody>
      </p:sp>
      <p:sp>
        <p:nvSpPr>
          <p:cNvPr id="24" name="Compare card 4"/>
          <p:cNvSpPr/>
          <p:nvPr/>
        </p:nvSpPr>
        <p:spPr>
          <a:xfrm>
            <a:off x="6711696" y="1051560"/>
            <a:ext cx="1965960" cy="3429000"/>
          </a:xfrm>
          <a:prstGeom prst="roundRect">
            <a:avLst>
              <a:gd name="adj" fmla="val 3721"/>
            </a:avLst>
          </a:prstGeom>
          <a:solidFill>
            <a:schemeClr val="tx2"/>
          </a:solidFill>
          <a:ln/>
        </p:spPr>
      </p:sp>
      <p:sp>
        <p:nvSpPr>
          <p:cNvPr id="25" name="Compare name 4"/>
          <p:cNvSpPr txBox="1"/>
          <p:nvPr/>
        </p:nvSpPr>
        <p:spPr>
          <a:xfrm>
            <a:off x="6848856" y="1170432"/>
            <a:ext cx="1691640" cy="292608"/>
          </a:xfrm>
          <a:prstGeom prst="rect">
            <a:avLst/>
          </a:prstGeom>
          <a:noFill/>
          <a:ln/>
        </p:spPr>
        <p:txBody>
          <a:bodyPr wrap="square" lIns="0" tIns="0" rIns="0" bIns="0" rtlCol="0" anchor="t"/>
          <a:lstStyle/>
          <a:p>
            <a:pPr marL="0" indent="0">
              <a:buNone/>
            </a:pPr>
            <a:r>
              <a:rPr lang="en-US" sz="1800" b="1" dirty="0">
                <a:solidFill>
                  <a:schemeClr val="bg1"/>
                </a:solidFill>
              </a:rPr>
              <a:t>JalSetu</a:t>
            </a:r>
            <a:endParaRPr lang="en-US" sz="1800" dirty="0"/>
          </a:p>
        </p:txBody>
      </p:sp>
      <p:sp>
        <p:nvSpPr>
          <p:cNvPr id="26" name="Compare owner 4"/>
          <p:cNvSpPr txBox="1"/>
          <p:nvPr/>
        </p:nvSpPr>
        <p:spPr>
          <a:xfrm>
            <a:off x="6848856" y="1481328"/>
            <a:ext cx="1691640" cy="201168"/>
          </a:xfrm>
          <a:prstGeom prst="rect">
            <a:avLst/>
          </a:prstGeom>
          <a:noFill/>
          <a:ln/>
        </p:spPr>
        <p:txBody>
          <a:bodyPr wrap="square" lIns="0" tIns="0" rIns="0" bIns="0" rtlCol="0" anchor="t"/>
          <a:lstStyle/>
          <a:p>
            <a:pPr marL="0" indent="0">
              <a:buNone/>
            </a:pPr>
            <a:r>
              <a:rPr lang="en-US" sz="1100" dirty="0">
                <a:solidFill>
                  <a:schemeClr val="accent6"/>
                </a:solidFill>
              </a:rPr>
              <a:t>This project</a:t>
            </a:r>
            <a:endParaRPr lang="en-US" sz="1100" dirty="0"/>
          </a:p>
        </p:txBody>
      </p:sp>
      <p:sp>
        <p:nvSpPr>
          <p:cNvPr id="27" name="Compare label A 4"/>
          <p:cNvSpPr txBox="1"/>
          <p:nvPr/>
        </p:nvSpPr>
        <p:spPr>
          <a:xfrm>
            <a:off x="6848856" y="1783080"/>
            <a:ext cx="1691640" cy="201168"/>
          </a:xfrm>
          <a:prstGeom prst="rect">
            <a:avLst/>
          </a:prstGeom>
          <a:noFill/>
          <a:ln/>
        </p:spPr>
        <p:txBody>
          <a:bodyPr wrap="square" lIns="0" tIns="0" rIns="0" bIns="0" rtlCol="0" anchor="t"/>
          <a:lstStyle/>
          <a:p>
            <a:pPr marL="0" indent="0">
              <a:buNone/>
            </a:pPr>
            <a:r>
              <a:rPr lang="en-US" sz="1100" b="1" dirty="0">
                <a:solidFill>
                  <a:schemeClr val="accent6"/>
                </a:solidFill>
              </a:rPr>
              <a:t>What it does</a:t>
            </a:r>
            <a:endParaRPr lang="en-US" sz="1100" dirty="0"/>
          </a:p>
        </p:txBody>
      </p:sp>
      <p:sp>
        <p:nvSpPr>
          <p:cNvPr id="28" name="Compare scope 4"/>
          <p:cNvSpPr txBox="1"/>
          <p:nvPr/>
        </p:nvSpPr>
        <p:spPr>
          <a:xfrm>
            <a:off x="6848856" y="2011680"/>
            <a:ext cx="1691640" cy="1097280"/>
          </a:xfrm>
          <a:prstGeom prst="rect">
            <a:avLst/>
          </a:prstGeom>
          <a:noFill/>
          <a:ln/>
        </p:spPr>
        <p:txBody>
          <a:bodyPr wrap="square" lIns="0" tIns="0" rIns="0" bIns="0" rtlCol="0" anchor="t"/>
          <a:lstStyle/>
          <a:p>
            <a:pPr marL="0" indent="0">
              <a:buNone/>
            </a:pPr>
            <a:r>
              <a:rPr lang="en-US" sz="1400" dirty="0">
                <a:solidFill>
                  <a:schemeClr val="bg1"/>
                </a:solidFill>
              </a:rPr>
              <a:t>Decides per shipment: road, water or hybrid, with a reason, hazard checks and re-plan.</a:t>
            </a:r>
            <a:endParaRPr lang="en-US" sz="1400" dirty="0"/>
          </a:p>
        </p:txBody>
      </p:sp>
      <p:sp>
        <p:nvSpPr>
          <p:cNvPr id="29" name="Compare label B 4"/>
          <p:cNvSpPr txBox="1"/>
          <p:nvPr/>
        </p:nvSpPr>
        <p:spPr>
          <a:xfrm>
            <a:off x="6848856" y="3154680"/>
            <a:ext cx="1691640" cy="201168"/>
          </a:xfrm>
          <a:prstGeom prst="rect">
            <a:avLst/>
          </a:prstGeom>
          <a:noFill/>
          <a:ln/>
        </p:spPr>
        <p:txBody>
          <a:bodyPr wrap="square" lIns="0" tIns="0" rIns="0" bIns="0" rtlCol="0" anchor="t"/>
          <a:lstStyle/>
          <a:p>
            <a:pPr marL="0" indent="0">
              <a:buNone/>
            </a:pPr>
            <a:r>
              <a:rPr lang="en-US" sz="1100" b="1" dirty="0">
                <a:solidFill>
                  <a:schemeClr val="accent6"/>
                </a:solidFill>
              </a:rPr>
              <a:t>How we relate</a:t>
            </a:r>
            <a:endParaRPr lang="en-US" sz="1100" dirty="0"/>
          </a:p>
        </p:txBody>
      </p:sp>
      <p:sp>
        <p:nvSpPr>
          <p:cNvPr id="30" name="Compare relation 4"/>
          <p:cNvSpPr txBox="1"/>
          <p:nvPr/>
        </p:nvSpPr>
        <p:spPr>
          <a:xfrm>
            <a:off x="6848856" y="3383280"/>
            <a:ext cx="1691640" cy="1005840"/>
          </a:xfrm>
          <a:prstGeom prst="rect">
            <a:avLst/>
          </a:prstGeom>
          <a:noFill/>
          <a:ln/>
        </p:spPr>
        <p:txBody>
          <a:bodyPr wrap="square" lIns="0" tIns="0" rIns="0" bIns="0" rtlCol="0" anchor="t"/>
          <a:lstStyle/>
          <a:p>
            <a:pPr marL="0" indent="0">
              <a:buNone/>
            </a:pPr>
            <a:r>
              <a:rPr lang="en-US" sz="1400" dirty="0">
                <a:solidFill>
                  <a:schemeClr val="bg1"/>
                </a:solidFill>
              </a:rPr>
              <a:t>An intelligence layer above existing platforms, not a replacement.</a:t>
            </a:r>
            <a:endParaRPr lang="en-US" sz="1400" dirty="0"/>
          </a:p>
        </p:txBody>
      </p:sp>
      <p:sp>
        <p:nvSpPr>
          <p:cNvPr id="31" name="Compare footnote"/>
          <p:cNvSpPr txBox="1"/>
          <p:nvPr/>
        </p:nvSpPr>
        <p:spPr>
          <a:xfrm>
            <a:off x="457200" y="4553712"/>
            <a:ext cx="8229600" cy="201168"/>
          </a:xfrm>
          <a:prstGeom prst="rect">
            <a:avLst/>
          </a:prstGeom>
          <a:noFill/>
          <a:ln/>
        </p:spPr>
        <p:txBody>
          <a:bodyPr wrap="square" lIns="0" tIns="0" rIns="0" bIns="0" rtlCol="0" anchor="t"/>
          <a:lstStyle/>
          <a:p>
            <a:pPr marL="0" indent="0">
              <a:buNone/>
            </a:pPr>
            <a:r>
              <a:rPr lang="en-US" sz="1000" dirty="0">
                <a:solidFill>
                  <a:schemeClr val="accent5"/>
                </a:solidFill>
              </a:rPr>
              <a:t>Descriptions from each platform's public documentation. JalSetu is not integrated with any of them yet.</a:t>
            </a:r>
            <a:endParaRPr lang="en-US" sz="1000" dirty="0"/>
          </a:p>
        </p:txBody>
      </p:sp>
      <p:sp>
        <p:nvSpPr>
          <p:cNvPr id="32"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Our approach: spec-driven development</a:t>
            </a:r>
            <a:endParaRPr lang="en-US" sz="3200" dirty="0"/>
          </a:p>
        </p:txBody>
      </p:sp>
      <p:sp>
        <p:nvSpPr>
          <p:cNvPr id="3" name="SDD intro"/>
          <p:cNvSpPr txBox="1"/>
          <p:nvPr/>
        </p:nvSpPr>
        <p:spPr>
          <a:xfrm>
            <a:off x="457200" y="914400"/>
            <a:ext cx="8229600" cy="457200"/>
          </a:xfrm>
          <a:prstGeom prst="rect">
            <a:avLst/>
          </a:prstGeom>
          <a:noFill/>
          <a:ln/>
        </p:spPr>
        <p:txBody>
          <a:bodyPr wrap="square" lIns="0" tIns="0" rIns="0" bIns="0" rtlCol="0" anchor="t"/>
          <a:lstStyle/>
          <a:p>
            <a:pPr marL="0" indent="0">
              <a:buNone/>
            </a:pPr>
            <a:r>
              <a:rPr lang="en-US" sz="1400" dirty="0">
                <a:solidFill>
                  <a:schemeClr val="accent5"/>
                </a:solidFill>
              </a:rPr>
              <a:t>We specified first, then let AI coding agents build to the spec. We used GitHub's Spec Kit workflow.</a:t>
            </a:r>
            <a:endParaRPr lang="en-US" sz="1400" dirty="0"/>
          </a:p>
        </p:txBody>
      </p:sp>
      <p:sp>
        <p:nvSpPr>
          <p:cNvPr id="4" name="SDD step 1 circle"/>
          <p:cNvSpPr/>
          <p:nvPr/>
        </p:nvSpPr>
        <p:spPr>
          <a:xfrm>
            <a:off x="704088" y="1463040"/>
            <a:ext cx="548640" cy="548640"/>
          </a:xfrm>
          <a:prstGeom prst="ellipse">
            <a:avLst/>
          </a:prstGeom>
          <a:solidFill>
            <a:schemeClr val="accent1"/>
          </a:solidFill>
          <a:ln/>
        </p:spPr>
      </p:sp>
      <p:pic>
        <p:nvPicPr>
          <p:cNvPr id="5" name="SDD step 1 icon" descr="SDD step 1"/>
          <p:cNvPicPr>
            <a:picLocks noChangeAspect="1"/>
          </p:cNvPicPr>
          <p:nvPr/>
        </p:nvPicPr>
        <p:blipFill>
          <a:blip r:embed="rId3"/>
          <a:stretch>
            <a:fillRect/>
          </a:stretch>
        </p:blipFill>
        <p:spPr>
          <a:xfrm>
            <a:off x="846734" y="1605686"/>
            <a:ext cx="263347" cy="263347"/>
          </a:xfrm>
          <a:prstGeom prst="rect">
            <a:avLst/>
          </a:prstGeom>
        </p:spPr>
      </p:pic>
      <p:sp>
        <p:nvSpPr>
          <p:cNvPr id="6" name="SDD step 1 title"/>
          <p:cNvSpPr txBox="1"/>
          <p:nvPr/>
        </p:nvSpPr>
        <p:spPr>
          <a:xfrm>
            <a:off x="411480" y="2084832"/>
            <a:ext cx="1133856" cy="256032"/>
          </a:xfrm>
          <a:prstGeom prst="rect">
            <a:avLst/>
          </a:prstGeom>
          <a:noFill/>
          <a:ln/>
        </p:spPr>
        <p:txBody>
          <a:bodyPr wrap="square" lIns="0" tIns="0" rIns="0" bIns="0" rtlCol="0" anchor="t"/>
          <a:lstStyle/>
          <a:p>
            <a:pPr marL="0" indent="0" algn="ctr">
              <a:buNone/>
            </a:pPr>
            <a:r>
              <a:rPr lang="en-US" sz="1300" b="1" dirty="0">
                <a:solidFill>
                  <a:schemeClr val="tx1"/>
                </a:solidFill>
              </a:rPr>
              <a:t>Constitution</a:t>
            </a:r>
            <a:endParaRPr lang="en-US" sz="1300" dirty="0"/>
          </a:p>
        </p:txBody>
      </p:sp>
      <p:sp>
        <p:nvSpPr>
          <p:cNvPr id="7" name="SDD step 1 text"/>
          <p:cNvSpPr txBox="1"/>
          <p:nvPr/>
        </p:nvSpPr>
        <p:spPr>
          <a:xfrm>
            <a:off x="411480" y="2340864"/>
            <a:ext cx="1133856" cy="365760"/>
          </a:xfrm>
          <a:prstGeom prst="rect">
            <a:avLst/>
          </a:prstGeom>
          <a:noFill/>
          <a:ln/>
        </p:spPr>
        <p:txBody>
          <a:bodyPr wrap="square" lIns="0" tIns="0" rIns="0" bIns="0" rtlCol="0" anchor="t"/>
          <a:lstStyle/>
          <a:p>
            <a:pPr marL="0" indent="0" algn="ctr">
              <a:buNone/>
            </a:pPr>
            <a:r>
              <a:rPr lang="en-US" sz="1200" dirty="0">
                <a:solidFill>
                  <a:schemeClr val="accent5"/>
                </a:solidFill>
              </a:rPr>
              <a:t>15 rules</a:t>
            </a:r>
            <a:endParaRPr lang="en-US" sz="1200" dirty="0"/>
          </a:p>
        </p:txBody>
      </p:sp>
      <p:sp>
        <p:nvSpPr>
          <p:cNvPr id="8" name="SDD arrow 1"/>
          <p:cNvSpPr/>
          <p:nvPr/>
        </p:nvSpPr>
        <p:spPr>
          <a:xfrm>
            <a:off x="1298448" y="1737360"/>
            <a:ext cx="329184" cy="0"/>
          </a:xfrm>
          <a:prstGeom prst="line">
            <a:avLst/>
          </a:prstGeom>
          <a:noFill/>
          <a:ln w="25400">
            <a:solidFill>
              <a:schemeClr val="accent6"/>
            </a:solidFill>
            <a:prstDash val="solid"/>
            <a:tailEnd type="triangle"/>
          </a:ln>
        </p:spPr>
      </p:sp>
      <p:sp>
        <p:nvSpPr>
          <p:cNvPr id="9" name="SDD step 2 circle"/>
          <p:cNvSpPr/>
          <p:nvPr/>
        </p:nvSpPr>
        <p:spPr>
          <a:xfrm>
            <a:off x="1892808" y="1463040"/>
            <a:ext cx="548640" cy="548640"/>
          </a:xfrm>
          <a:prstGeom prst="ellipse">
            <a:avLst/>
          </a:prstGeom>
          <a:solidFill>
            <a:schemeClr val="accent1"/>
          </a:solidFill>
          <a:ln/>
        </p:spPr>
      </p:sp>
      <p:pic>
        <p:nvPicPr>
          <p:cNvPr id="10" name="SDD step 2 icon" descr="SDD step 2"/>
          <p:cNvPicPr>
            <a:picLocks noChangeAspect="1"/>
          </p:cNvPicPr>
          <p:nvPr/>
        </p:nvPicPr>
        <p:blipFill>
          <a:blip r:embed="rId4"/>
          <a:stretch>
            <a:fillRect/>
          </a:stretch>
        </p:blipFill>
        <p:spPr>
          <a:xfrm>
            <a:off x="2035454" y="1605686"/>
            <a:ext cx="263347" cy="263347"/>
          </a:xfrm>
          <a:prstGeom prst="rect">
            <a:avLst/>
          </a:prstGeom>
        </p:spPr>
      </p:pic>
      <p:sp>
        <p:nvSpPr>
          <p:cNvPr id="11" name="SDD step 2 title"/>
          <p:cNvSpPr txBox="1"/>
          <p:nvPr/>
        </p:nvSpPr>
        <p:spPr>
          <a:xfrm>
            <a:off x="1600200" y="2084832"/>
            <a:ext cx="1133856" cy="256032"/>
          </a:xfrm>
          <a:prstGeom prst="rect">
            <a:avLst/>
          </a:prstGeom>
          <a:noFill/>
          <a:ln/>
        </p:spPr>
        <p:txBody>
          <a:bodyPr wrap="square" lIns="0" tIns="0" rIns="0" bIns="0" rtlCol="0" anchor="t"/>
          <a:lstStyle/>
          <a:p>
            <a:pPr marL="0" indent="0" algn="ctr">
              <a:buNone/>
            </a:pPr>
            <a:r>
              <a:rPr lang="en-US" sz="1300" b="1" dirty="0">
                <a:solidFill>
                  <a:schemeClr val="tx1"/>
                </a:solidFill>
              </a:rPr>
              <a:t>Specify</a:t>
            </a:r>
            <a:endParaRPr lang="en-US" sz="1300" dirty="0"/>
          </a:p>
        </p:txBody>
      </p:sp>
      <p:sp>
        <p:nvSpPr>
          <p:cNvPr id="12" name="SDD step 2 text"/>
          <p:cNvSpPr txBox="1"/>
          <p:nvPr/>
        </p:nvSpPr>
        <p:spPr>
          <a:xfrm>
            <a:off x="1600200" y="2340864"/>
            <a:ext cx="1133856" cy="365760"/>
          </a:xfrm>
          <a:prstGeom prst="rect">
            <a:avLst/>
          </a:prstGeom>
          <a:noFill/>
          <a:ln/>
        </p:spPr>
        <p:txBody>
          <a:bodyPr wrap="square" lIns="0" tIns="0" rIns="0" bIns="0" rtlCol="0" anchor="t"/>
          <a:lstStyle/>
          <a:p>
            <a:pPr marL="0" indent="0" algn="ctr">
              <a:buNone/>
            </a:pPr>
            <a:r>
              <a:rPr lang="en-US" sz="1200" dirty="0">
                <a:solidFill>
                  <a:schemeClr val="accent5"/>
                </a:solidFill>
              </a:rPr>
              <a:t>what and why</a:t>
            </a:r>
            <a:endParaRPr lang="en-US" sz="1200" dirty="0"/>
          </a:p>
        </p:txBody>
      </p:sp>
      <p:sp>
        <p:nvSpPr>
          <p:cNvPr id="13" name="SDD arrow 2"/>
          <p:cNvSpPr/>
          <p:nvPr/>
        </p:nvSpPr>
        <p:spPr>
          <a:xfrm>
            <a:off x="2487168" y="1737360"/>
            <a:ext cx="329184" cy="0"/>
          </a:xfrm>
          <a:prstGeom prst="line">
            <a:avLst/>
          </a:prstGeom>
          <a:noFill/>
          <a:ln w="25400">
            <a:solidFill>
              <a:schemeClr val="accent6"/>
            </a:solidFill>
            <a:prstDash val="solid"/>
            <a:tailEnd type="triangle"/>
          </a:ln>
        </p:spPr>
      </p:sp>
      <p:sp>
        <p:nvSpPr>
          <p:cNvPr id="14" name="SDD step 3 circle"/>
          <p:cNvSpPr/>
          <p:nvPr/>
        </p:nvSpPr>
        <p:spPr>
          <a:xfrm>
            <a:off x="3081528" y="1463040"/>
            <a:ext cx="548640" cy="548640"/>
          </a:xfrm>
          <a:prstGeom prst="ellipse">
            <a:avLst/>
          </a:prstGeom>
          <a:solidFill>
            <a:schemeClr val="accent1"/>
          </a:solidFill>
          <a:ln/>
        </p:spPr>
      </p:sp>
      <p:pic>
        <p:nvPicPr>
          <p:cNvPr id="15" name="SDD step 3 icon" descr="SDD step 3"/>
          <p:cNvPicPr>
            <a:picLocks noChangeAspect="1"/>
          </p:cNvPicPr>
          <p:nvPr/>
        </p:nvPicPr>
        <p:blipFill>
          <a:blip r:embed="rId5"/>
          <a:stretch>
            <a:fillRect/>
          </a:stretch>
        </p:blipFill>
        <p:spPr>
          <a:xfrm>
            <a:off x="3224174" y="1605686"/>
            <a:ext cx="263347" cy="263347"/>
          </a:xfrm>
          <a:prstGeom prst="rect">
            <a:avLst/>
          </a:prstGeom>
        </p:spPr>
      </p:pic>
      <p:sp>
        <p:nvSpPr>
          <p:cNvPr id="16" name="SDD step 3 title"/>
          <p:cNvSpPr txBox="1"/>
          <p:nvPr/>
        </p:nvSpPr>
        <p:spPr>
          <a:xfrm>
            <a:off x="2788920" y="2084832"/>
            <a:ext cx="1133856" cy="256032"/>
          </a:xfrm>
          <a:prstGeom prst="rect">
            <a:avLst/>
          </a:prstGeom>
          <a:noFill/>
          <a:ln/>
        </p:spPr>
        <p:txBody>
          <a:bodyPr wrap="square" lIns="0" tIns="0" rIns="0" bIns="0" rtlCol="0" anchor="t"/>
          <a:lstStyle/>
          <a:p>
            <a:pPr marL="0" indent="0" algn="ctr">
              <a:buNone/>
            </a:pPr>
            <a:r>
              <a:rPr lang="en-US" sz="1300" b="1" dirty="0">
                <a:solidFill>
                  <a:schemeClr val="tx1"/>
                </a:solidFill>
              </a:rPr>
              <a:t>Clarify</a:t>
            </a:r>
            <a:endParaRPr lang="en-US" sz="1300" dirty="0"/>
          </a:p>
        </p:txBody>
      </p:sp>
      <p:sp>
        <p:nvSpPr>
          <p:cNvPr id="17" name="SDD step 3 text"/>
          <p:cNvSpPr txBox="1"/>
          <p:nvPr/>
        </p:nvSpPr>
        <p:spPr>
          <a:xfrm>
            <a:off x="2788920" y="2340864"/>
            <a:ext cx="1133856" cy="365760"/>
          </a:xfrm>
          <a:prstGeom prst="rect">
            <a:avLst/>
          </a:prstGeom>
          <a:noFill/>
          <a:ln/>
        </p:spPr>
        <p:txBody>
          <a:bodyPr wrap="square" lIns="0" tIns="0" rIns="0" bIns="0" rtlCol="0" anchor="t"/>
          <a:lstStyle/>
          <a:p>
            <a:pPr marL="0" indent="0" algn="ctr">
              <a:buNone/>
            </a:pPr>
            <a:r>
              <a:rPr lang="en-US" sz="1200" dirty="0">
                <a:solidFill>
                  <a:schemeClr val="accent5"/>
                </a:solidFill>
              </a:rPr>
              <a:t>edge cases</a:t>
            </a:r>
            <a:endParaRPr lang="en-US" sz="1200" dirty="0"/>
          </a:p>
        </p:txBody>
      </p:sp>
      <p:sp>
        <p:nvSpPr>
          <p:cNvPr id="18" name="SDD arrow 3"/>
          <p:cNvSpPr/>
          <p:nvPr/>
        </p:nvSpPr>
        <p:spPr>
          <a:xfrm>
            <a:off x="3675888" y="1737360"/>
            <a:ext cx="329184" cy="0"/>
          </a:xfrm>
          <a:prstGeom prst="line">
            <a:avLst/>
          </a:prstGeom>
          <a:noFill/>
          <a:ln w="25400">
            <a:solidFill>
              <a:schemeClr val="accent6"/>
            </a:solidFill>
            <a:prstDash val="solid"/>
            <a:tailEnd type="triangle"/>
          </a:ln>
        </p:spPr>
      </p:sp>
      <p:sp>
        <p:nvSpPr>
          <p:cNvPr id="19" name="SDD step 4 circle"/>
          <p:cNvSpPr/>
          <p:nvPr/>
        </p:nvSpPr>
        <p:spPr>
          <a:xfrm>
            <a:off x="4270248" y="1463040"/>
            <a:ext cx="548640" cy="548640"/>
          </a:xfrm>
          <a:prstGeom prst="ellipse">
            <a:avLst/>
          </a:prstGeom>
          <a:solidFill>
            <a:schemeClr val="accent1"/>
          </a:solidFill>
          <a:ln/>
        </p:spPr>
      </p:sp>
      <p:pic>
        <p:nvPicPr>
          <p:cNvPr id="20" name="SDD step 4 icon" descr="SDD step 4"/>
          <p:cNvPicPr>
            <a:picLocks noChangeAspect="1"/>
          </p:cNvPicPr>
          <p:nvPr/>
        </p:nvPicPr>
        <p:blipFill>
          <a:blip r:embed="rId6"/>
          <a:stretch>
            <a:fillRect/>
          </a:stretch>
        </p:blipFill>
        <p:spPr>
          <a:xfrm>
            <a:off x="4412894" y="1605686"/>
            <a:ext cx="263347" cy="263347"/>
          </a:xfrm>
          <a:prstGeom prst="rect">
            <a:avLst/>
          </a:prstGeom>
        </p:spPr>
      </p:pic>
      <p:sp>
        <p:nvSpPr>
          <p:cNvPr id="21" name="SDD step 4 title"/>
          <p:cNvSpPr txBox="1"/>
          <p:nvPr/>
        </p:nvSpPr>
        <p:spPr>
          <a:xfrm>
            <a:off x="3977640" y="2084832"/>
            <a:ext cx="1133856" cy="256032"/>
          </a:xfrm>
          <a:prstGeom prst="rect">
            <a:avLst/>
          </a:prstGeom>
          <a:noFill/>
          <a:ln/>
        </p:spPr>
        <p:txBody>
          <a:bodyPr wrap="square" lIns="0" tIns="0" rIns="0" bIns="0" rtlCol="0" anchor="t"/>
          <a:lstStyle/>
          <a:p>
            <a:pPr marL="0" indent="0" algn="ctr">
              <a:buNone/>
            </a:pPr>
            <a:r>
              <a:rPr lang="en-US" sz="1300" b="1" dirty="0">
                <a:solidFill>
                  <a:schemeClr val="tx1"/>
                </a:solidFill>
              </a:rPr>
              <a:t>Plan</a:t>
            </a:r>
            <a:endParaRPr lang="en-US" sz="1300" dirty="0"/>
          </a:p>
        </p:txBody>
      </p:sp>
      <p:sp>
        <p:nvSpPr>
          <p:cNvPr id="22" name="SDD step 4 text"/>
          <p:cNvSpPr txBox="1"/>
          <p:nvPr/>
        </p:nvSpPr>
        <p:spPr>
          <a:xfrm>
            <a:off x="3977640" y="2340864"/>
            <a:ext cx="1133856" cy="365760"/>
          </a:xfrm>
          <a:prstGeom prst="rect">
            <a:avLst/>
          </a:prstGeom>
          <a:noFill/>
          <a:ln/>
        </p:spPr>
        <p:txBody>
          <a:bodyPr wrap="square" lIns="0" tIns="0" rIns="0" bIns="0" rtlCol="0" anchor="t"/>
          <a:lstStyle/>
          <a:p>
            <a:pPr marL="0" indent="0" algn="ctr">
              <a:buNone/>
            </a:pPr>
            <a:r>
              <a:rPr lang="en-US" sz="1200" dirty="0">
                <a:solidFill>
                  <a:schemeClr val="accent5"/>
                </a:solidFill>
              </a:rPr>
              <a:t>how</a:t>
            </a:r>
            <a:endParaRPr lang="en-US" sz="1200" dirty="0"/>
          </a:p>
        </p:txBody>
      </p:sp>
      <p:sp>
        <p:nvSpPr>
          <p:cNvPr id="23" name="SDD arrow 4"/>
          <p:cNvSpPr/>
          <p:nvPr/>
        </p:nvSpPr>
        <p:spPr>
          <a:xfrm>
            <a:off x="4864608" y="1737360"/>
            <a:ext cx="329184" cy="0"/>
          </a:xfrm>
          <a:prstGeom prst="line">
            <a:avLst/>
          </a:prstGeom>
          <a:noFill/>
          <a:ln w="25400">
            <a:solidFill>
              <a:schemeClr val="accent6"/>
            </a:solidFill>
            <a:prstDash val="solid"/>
            <a:tailEnd type="triangle"/>
          </a:ln>
        </p:spPr>
      </p:sp>
      <p:sp>
        <p:nvSpPr>
          <p:cNvPr id="24" name="SDD step 5 circle"/>
          <p:cNvSpPr/>
          <p:nvPr/>
        </p:nvSpPr>
        <p:spPr>
          <a:xfrm>
            <a:off x="5458968" y="1463040"/>
            <a:ext cx="548640" cy="548640"/>
          </a:xfrm>
          <a:prstGeom prst="ellipse">
            <a:avLst/>
          </a:prstGeom>
          <a:solidFill>
            <a:schemeClr val="accent1"/>
          </a:solidFill>
          <a:ln/>
        </p:spPr>
      </p:sp>
      <p:pic>
        <p:nvPicPr>
          <p:cNvPr id="25" name="SDD step 5 icon" descr="SDD step 5"/>
          <p:cNvPicPr>
            <a:picLocks noChangeAspect="1"/>
          </p:cNvPicPr>
          <p:nvPr/>
        </p:nvPicPr>
        <p:blipFill>
          <a:blip r:embed="rId7"/>
          <a:stretch>
            <a:fillRect/>
          </a:stretch>
        </p:blipFill>
        <p:spPr>
          <a:xfrm>
            <a:off x="5601614" y="1605686"/>
            <a:ext cx="263347" cy="263347"/>
          </a:xfrm>
          <a:prstGeom prst="rect">
            <a:avLst/>
          </a:prstGeom>
        </p:spPr>
      </p:pic>
      <p:sp>
        <p:nvSpPr>
          <p:cNvPr id="26" name="SDD step 5 title"/>
          <p:cNvSpPr txBox="1"/>
          <p:nvPr/>
        </p:nvSpPr>
        <p:spPr>
          <a:xfrm>
            <a:off x="5166360" y="2084832"/>
            <a:ext cx="1133856" cy="256032"/>
          </a:xfrm>
          <a:prstGeom prst="rect">
            <a:avLst/>
          </a:prstGeom>
          <a:noFill/>
          <a:ln/>
        </p:spPr>
        <p:txBody>
          <a:bodyPr wrap="square" lIns="0" tIns="0" rIns="0" bIns="0" rtlCol="0" anchor="t"/>
          <a:lstStyle/>
          <a:p>
            <a:pPr marL="0" indent="0" algn="ctr">
              <a:buNone/>
            </a:pPr>
            <a:r>
              <a:rPr lang="en-US" sz="1300" b="1" dirty="0">
                <a:solidFill>
                  <a:schemeClr val="tx1"/>
                </a:solidFill>
              </a:rPr>
              <a:t>Tasks</a:t>
            </a:r>
            <a:endParaRPr lang="en-US" sz="1300" dirty="0"/>
          </a:p>
        </p:txBody>
      </p:sp>
      <p:sp>
        <p:nvSpPr>
          <p:cNvPr id="27" name="SDD step 5 text"/>
          <p:cNvSpPr txBox="1"/>
          <p:nvPr/>
        </p:nvSpPr>
        <p:spPr>
          <a:xfrm>
            <a:off x="5166360" y="2340864"/>
            <a:ext cx="1133856" cy="365760"/>
          </a:xfrm>
          <a:prstGeom prst="rect">
            <a:avLst/>
          </a:prstGeom>
          <a:noFill/>
          <a:ln/>
        </p:spPr>
        <p:txBody>
          <a:bodyPr wrap="square" lIns="0" tIns="0" rIns="0" bIns="0" rtlCol="0" anchor="t"/>
          <a:lstStyle/>
          <a:p>
            <a:pPr marL="0" indent="0" algn="ctr">
              <a:buNone/>
            </a:pPr>
            <a:r>
              <a:rPr lang="en-US" sz="1200" dirty="0">
                <a:solidFill>
                  <a:schemeClr val="accent5"/>
                </a:solidFill>
              </a:rPr>
              <a:t>tests first</a:t>
            </a:r>
            <a:endParaRPr lang="en-US" sz="1200" dirty="0"/>
          </a:p>
        </p:txBody>
      </p:sp>
      <p:sp>
        <p:nvSpPr>
          <p:cNvPr id="28" name="SDD arrow 5"/>
          <p:cNvSpPr/>
          <p:nvPr/>
        </p:nvSpPr>
        <p:spPr>
          <a:xfrm>
            <a:off x="6053328" y="1737360"/>
            <a:ext cx="329184" cy="0"/>
          </a:xfrm>
          <a:prstGeom prst="line">
            <a:avLst/>
          </a:prstGeom>
          <a:noFill/>
          <a:ln w="25400">
            <a:solidFill>
              <a:schemeClr val="accent6"/>
            </a:solidFill>
            <a:prstDash val="solid"/>
            <a:tailEnd type="triangle"/>
          </a:ln>
        </p:spPr>
      </p:sp>
      <p:sp>
        <p:nvSpPr>
          <p:cNvPr id="29" name="SDD step 6 circle"/>
          <p:cNvSpPr/>
          <p:nvPr/>
        </p:nvSpPr>
        <p:spPr>
          <a:xfrm>
            <a:off x="6647688" y="1463040"/>
            <a:ext cx="548640" cy="548640"/>
          </a:xfrm>
          <a:prstGeom prst="ellipse">
            <a:avLst/>
          </a:prstGeom>
          <a:solidFill>
            <a:schemeClr val="accent1"/>
          </a:solidFill>
          <a:ln/>
        </p:spPr>
      </p:sp>
      <p:pic>
        <p:nvPicPr>
          <p:cNvPr id="30" name="SDD step 6 icon" descr="SDD step 6"/>
          <p:cNvPicPr>
            <a:picLocks noChangeAspect="1"/>
          </p:cNvPicPr>
          <p:nvPr/>
        </p:nvPicPr>
        <p:blipFill>
          <a:blip r:embed="rId8"/>
          <a:stretch>
            <a:fillRect/>
          </a:stretch>
        </p:blipFill>
        <p:spPr>
          <a:xfrm>
            <a:off x="6790334" y="1605686"/>
            <a:ext cx="263347" cy="263347"/>
          </a:xfrm>
          <a:prstGeom prst="rect">
            <a:avLst/>
          </a:prstGeom>
        </p:spPr>
      </p:pic>
      <p:sp>
        <p:nvSpPr>
          <p:cNvPr id="31" name="SDD step 6 title"/>
          <p:cNvSpPr txBox="1"/>
          <p:nvPr/>
        </p:nvSpPr>
        <p:spPr>
          <a:xfrm>
            <a:off x="6355080" y="2084832"/>
            <a:ext cx="1133856" cy="256032"/>
          </a:xfrm>
          <a:prstGeom prst="rect">
            <a:avLst/>
          </a:prstGeom>
          <a:noFill/>
          <a:ln/>
        </p:spPr>
        <p:txBody>
          <a:bodyPr wrap="square" lIns="0" tIns="0" rIns="0" bIns="0" rtlCol="0" anchor="t"/>
          <a:lstStyle/>
          <a:p>
            <a:pPr marL="0" indent="0" algn="ctr">
              <a:buNone/>
            </a:pPr>
            <a:r>
              <a:rPr lang="en-US" sz="1300" b="1" dirty="0">
                <a:solidFill>
                  <a:schemeClr val="tx1"/>
                </a:solidFill>
              </a:rPr>
              <a:t>Analyze</a:t>
            </a:r>
            <a:endParaRPr lang="en-US" sz="1300" dirty="0"/>
          </a:p>
        </p:txBody>
      </p:sp>
      <p:sp>
        <p:nvSpPr>
          <p:cNvPr id="32" name="SDD step 6 text"/>
          <p:cNvSpPr txBox="1"/>
          <p:nvPr/>
        </p:nvSpPr>
        <p:spPr>
          <a:xfrm>
            <a:off x="6355080" y="2340864"/>
            <a:ext cx="1133856" cy="365760"/>
          </a:xfrm>
          <a:prstGeom prst="rect">
            <a:avLst/>
          </a:prstGeom>
          <a:noFill/>
          <a:ln/>
        </p:spPr>
        <p:txBody>
          <a:bodyPr wrap="square" lIns="0" tIns="0" rIns="0" bIns="0" rtlCol="0" anchor="t"/>
          <a:lstStyle/>
          <a:p>
            <a:pPr marL="0" indent="0" algn="ctr">
              <a:buNone/>
            </a:pPr>
            <a:r>
              <a:rPr lang="en-US" sz="1200" dirty="0">
                <a:solidFill>
                  <a:schemeClr val="accent5"/>
                </a:solidFill>
              </a:rPr>
              <a:t>find gaps</a:t>
            </a:r>
            <a:endParaRPr lang="en-US" sz="1200" dirty="0"/>
          </a:p>
        </p:txBody>
      </p:sp>
      <p:sp>
        <p:nvSpPr>
          <p:cNvPr id="33" name="SDD arrow 6"/>
          <p:cNvSpPr/>
          <p:nvPr/>
        </p:nvSpPr>
        <p:spPr>
          <a:xfrm>
            <a:off x="7242048" y="1737360"/>
            <a:ext cx="329184" cy="0"/>
          </a:xfrm>
          <a:prstGeom prst="line">
            <a:avLst/>
          </a:prstGeom>
          <a:noFill/>
          <a:ln w="25400">
            <a:solidFill>
              <a:schemeClr val="accent6"/>
            </a:solidFill>
            <a:prstDash val="solid"/>
            <a:tailEnd type="triangle"/>
          </a:ln>
        </p:spPr>
      </p:sp>
      <p:sp>
        <p:nvSpPr>
          <p:cNvPr id="34" name="SDD step 7 circle"/>
          <p:cNvSpPr/>
          <p:nvPr/>
        </p:nvSpPr>
        <p:spPr>
          <a:xfrm>
            <a:off x="7836408" y="1463040"/>
            <a:ext cx="548640" cy="548640"/>
          </a:xfrm>
          <a:prstGeom prst="ellipse">
            <a:avLst/>
          </a:prstGeom>
          <a:solidFill>
            <a:schemeClr val="accent2"/>
          </a:solidFill>
          <a:ln/>
        </p:spPr>
      </p:sp>
      <p:pic>
        <p:nvPicPr>
          <p:cNvPr id="35" name="SDD step 7 icon" descr="SDD step 7"/>
          <p:cNvPicPr>
            <a:picLocks noChangeAspect="1"/>
          </p:cNvPicPr>
          <p:nvPr/>
        </p:nvPicPr>
        <p:blipFill>
          <a:blip r:embed="rId9"/>
          <a:stretch>
            <a:fillRect/>
          </a:stretch>
        </p:blipFill>
        <p:spPr>
          <a:xfrm>
            <a:off x="7979054" y="1605686"/>
            <a:ext cx="263347" cy="263347"/>
          </a:xfrm>
          <a:prstGeom prst="rect">
            <a:avLst/>
          </a:prstGeom>
        </p:spPr>
      </p:pic>
      <p:sp>
        <p:nvSpPr>
          <p:cNvPr id="36" name="SDD step 7 title"/>
          <p:cNvSpPr txBox="1"/>
          <p:nvPr/>
        </p:nvSpPr>
        <p:spPr>
          <a:xfrm>
            <a:off x="7543800" y="2084832"/>
            <a:ext cx="1133856" cy="256032"/>
          </a:xfrm>
          <a:prstGeom prst="rect">
            <a:avLst/>
          </a:prstGeom>
          <a:noFill/>
          <a:ln/>
        </p:spPr>
        <p:txBody>
          <a:bodyPr wrap="square" lIns="0" tIns="0" rIns="0" bIns="0" rtlCol="0" anchor="t"/>
          <a:lstStyle/>
          <a:p>
            <a:pPr marL="0" indent="0" algn="ctr">
              <a:buNone/>
            </a:pPr>
            <a:r>
              <a:rPr lang="en-US" sz="1300" b="1" dirty="0">
                <a:solidFill>
                  <a:schemeClr val="tx1"/>
                </a:solidFill>
              </a:rPr>
              <a:t>Implement</a:t>
            </a:r>
            <a:endParaRPr lang="en-US" sz="1300" dirty="0"/>
          </a:p>
        </p:txBody>
      </p:sp>
      <p:sp>
        <p:nvSpPr>
          <p:cNvPr id="37" name="SDD step 7 text"/>
          <p:cNvSpPr txBox="1"/>
          <p:nvPr/>
        </p:nvSpPr>
        <p:spPr>
          <a:xfrm>
            <a:off x="7543800" y="2340864"/>
            <a:ext cx="1133856" cy="365760"/>
          </a:xfrm>
          <a:prstGeom prst="rect">
            <a:avLst/>
          </a:prstGeom>
          <a:noFill/>
          <a:ln/>
        </p:spPr>
        <p:txBody>
          <a:bodyPr wrap="square" lIns="0" tIns="0" rIns="0" bIns="0" rtlCol="0" anchor="t"/>
          <a:lstStyle/>
          <a:p>
            <a:pPr marL="0" indent="0" algn="ctr">
              <a:buNone/>
            </a:pPr>
            <a:r>
              <a:rPr lang="en-US" sz="1200" dirty="0">
                <a:solidFill>
                  <a:schemeClr val="accent5"/>
                </a:solidFill>
              </a:rPr>
              <a:t>AI agents build</a:t>
            </a:r>
            <a:endParaRPr lang="en-US" sz="1200" dirty="0"/>
          </a:p>
        </p:txBody>
      </p:sp>
      <p:sp>
        <p:nvSpPr>
          <p:cNvPr id="38" name="SDD card 1"/>
          <p:cNvSpPr/>
          <p:nvPr/>
        </p:nvSpPr>
        <p:spPr>
          <a:xfrm>
            <a:off x="457200" y="2926080"/>
            <a:ext cx="2651760" cy="1645920"/>
          </a:xfrm>
          <a:prstGeom prst="roundRect">
            <a:avLst>
              <a:gd name="adj" fmla="val 4444"/>
            </a:avLst>
          </a:prstGeom>
          <a:solidFill>
            <a:schemeClr val="bg2"/>
          </a:solidFill>
          <a:ln/>
        </p:spPr>
      </p:sp>
      <p:sp>
        <p:nvSpPr>
          <p:cNvPr id="39" name="SDD card 1 title"/>
          <p:cNvSpPr txBox="1"/>
          <p:nvPr/>
        </p:nvSpPr>
        <p:spPr>
          <a:xfrm>
            <a:off x="640080" y="3035808"/>
            <a:ext cx="2286000" cy="457200"/>
          </a:xfrm>
          <a:prstGeom prst="rect">
            <a:avLst/>
          </a:prstGeom>
          <a:noFill/>
          <a:ln/>
        </p:spPr>
        <p:txBody>
          <a:bodyPr wrap="square" lIns="0" tIns="0" rIns="0" bIns="0" rtlCol="0" anchor="t"/>
          <a:lstStyle/>
          <a:p>
            <a:pPr marL="0" indent="0">
              <a:buNone/>
            </a:pPr>
            <a:r>
              <a:rPr lang="en-US" sz="1600" b="1" dirty="0">
                <a:solidFill>
                  <a:schemeClr val="accent1"/>
                </a:solidFill>
              </a:rPr>
              <a:t>Specs before code</a:t>
            </a:r>
            <a:endParaRPr lang="en-US" sz="1600" dirty="0"/>
          </a:p>
        </p:txBody>
      </p:sp>
      <p:sp>
        <p:nvSpPr>
          <p:cNvPr id="40" name="SDD card 1 text"/>
          <p:cNvSpPr txBox="1"/>
          <p:nvPr/>
        </p:nvSpPr>
        <p:spPr>
          <a:xfrm>
            <a:off x="640080" y="3520440"/>
            <a:ext cx="2286000" cy="1005840"/>
          </a:xfrm>
          <a:prstGeom prst="rect">
            <a:avLst/>
          </a:prstGeom>
          <a:noFill/>
          <a:ln/>
        </p:spPr>
        <p:txBody>
          <a:bodyPr wrap="square" lIns="0" tIns="0" rIns="0" bIns="0" rtlCol="0" anchor="t"/>
          <a:lstStyle/>
          <a:p>
            <a:pPr marL="0" indent="0">
              <a:buNone/>
            </a:pPr>
            <a:r>
              <a:rPr lang="en-US" sz="1400" dirty="0">
                <a:solidFill>
                  <a:schemeClr val="tx1"/>
                </a:solidFill>
              </a:rPr>
              <a:t>Six feature specs, each with a plan and a requirements checklist; task lists for the later four.</a:t>
            </a:r>
            <a:endParaRPr lang="en-US" sz="1400" dirty="0"/>
          </a:p>
        </p:txBody>
      </p:sp>
      <p:sp>
        <p:nvSpPr>
          <p:cNvPr id="41" name="SDD card 2"/>
          <p:cNvSpPr/>
          <p:nvPr/>
        </p:nvSpPr>
        <p:spPr>
          <a:xfrm>
            <a:off x="3246120" y="2926080"/>
            <a:ext cx="2651760" cy="1645920"/>
          </a:xfrm>
          <a:prstGeom prst="roundRect">
            <a:avLst>
              <a:gd name="adj" fmla="val 4444"/>
            </a:avLst>
          </a:prstGeom>
          <a:solidFill>
            <a:schemeClr val="bg2"/>
          </a:solidFill>
          <a:ln/>
        </p:spPr>
      </p:sp>
      <p:sp>
        <p:nvSpPr>
          <p:cNvPr id="42" name="SDD card 2 title"/>
          <p:cNvSpPr txBox="1"/>
          <p:nvPr/>
        </p:nvSpPr>
        <p:spPr>
          <a:xfrm>
            <a:off x="3429000" y="3035808"/>
            <a:ext cx="2286000" cy="457200"/>
          </a:xfrm>
          <a:prstGeom prst="rect">
            <a:avLst/>
          </a:prstGeom>
          <a:noFill/>
          <a:ln/>
        </p:spPr>
        <p:txBody>
          <a:bodyPr wrap="square" lIns="0" tIns="0" rIns="0" bIns="0" rtlCol="0" anchor="t"/>
          <a:lstStyle/>
          <a:p>
            <a:pPr marL="0" indent="0">
              <a:buNone/>
            </a:pPr>
            <a:r>
              <a:rPr lang="en-US" sz="1600" b="1" dirty="0">
                <a:solidFill>
                  <a:schemeClr val="accent1"/>
                </a:solidFill>
              </a:rPr>
              <a:t>A real constitution</a:t>
            </a:r>
            <a:endParaRPr lang="en-US" sz="1600" dirty="0"/>
          </a:p>
        </p:txBody>
      </p:sp>
      <p:sp>
        <p:nvSpPr>
          <p:cNvPr id="43" name="SDD card 2 text"/>
          <p:cNvSpPr txBox="1"/>
          <p:nvPr/>
        </p:nvSpPr>
        <p:spPr>
          <a:xfrm>
            <a:off x="3429000" y="3520440"/>
            <a:ext cx="2286000" cy="1005840"/>
          </a:xfrm>
          <a:prstGeom prst="rect">
            <a:avLst/>
          </a:prstGeom>
          <a:noFill/>
          <a:ln/>
        </p:spPr>
        <p:txBody>
          <a:bodyPr wrap="square" lIns="0" tIns="0" rIns="0" bIns="0" rtlCol="0" anchor="t"/>
          <a:lstStyle/>
          <a:p>
            <a:pPr marL="0" indent="0">
              <a:buNone/>
            </a:pPr>
            <a:r>
              <a:rPr lang="en-US" sz="1400" dirty="0">
                <a:solidFill>
                  <a:schemeClr val="tx1"/>
                </a:solidFill>
              </a:rPr>
              <a:t>15 principles checked in review: the engine stays pure, the model never decides, people confirm.</a:t>
            </a:r>
            <a:endParaRPr lang="en-US" sz="1400" dirty="0"/>
          </a:p>
        </p:txBody>
      </p:sp>
      <p:sp>
        <p:nvSpPr>
          <p:cNvPr id="44" name="SDD card 3"/>
          <p:cNvSpPr/>
          <p:nvPr/>
        </p:nvSpPr>
        <p:spPr>
          <a:xfrm>
            <a:off x="6035040" y="2926080"/>
            <a:ext cx="2651760" cy="1645920"/>
          </a:xfrm>
          <a:prstGeom prst="roundRect">
            <a:avLst>
              <a:gd name="adj" fmla="val 4444"/>
            </a:avLst>
          </a:prstGeom>
          <a:solidFill>
            <a:schemeClr val="bg2"/>
          </a:solidFill>
          <a:ln/>
        </p:spPr>
      </p:sp>
      <p:sp>
        <p:nvSpPr>
          <p:cNvPr id="45" name="SDD card 3 title"/>
          <p:cNvSpPr txBox="1"/>
          <p:nvPr/>
        </p:nvSpPr>
        <p:spPr>
          <a:xfrm>
            <a:off x="6217920" y="3035808"/>
            <a:ext cx="2286000" cy="457200"/>
          </a:xfrm>
          <a:prstGeom prst="rect">
            <a:avLst/>
          </a:prstGeom>
          <a:noFill/>
          <a:ln/>
        </p:spPr>
        <p:txBody>
          <a:bodyPr wrap="square" lIns="0" tIns="0" rIns="0" bIns="0" rtlCol="0" anchor="t"/>
          <a:lstStyle/>
          <a:p>
            <a:pPr marL="0" indent="0">
              <a:buNone/>
            </a:pPr>
            <a:r>
              <a:rPr lang="en-US" sz="1600" b="1" dirty="0">
                <a:solidFill>
                  <a:schemeClr val="accent1"/>
                </a:solidFill>
              </a:rPr>
              <a:t>AI builds to the spec</a:t>
            </a:r>
            <a:endParaRPr lang="en-US" sz="1600" dirty="0"/>
          </a:p>
        </p:txBody>
      </p:sp>
      <p:sp>
        <p:nvSpPr>
          <p:cNvPr id="46" name="SDD card 3 text"/>
          <p:cNvSpPr txBox="1"/>
          <p:nvPr/>
        </p:nvSpPr>
        <p:spPr>
          <a:xfrm>
            <a:off x="6217920" y="3520440"/>
            <a:ext cx="2286000" cy="1005840"/>
          </a:xfrm>
          <a:prstGeom prst="rect">
            <a:avLst/>
          </a:prstGeom>
          <a:noFill/>
          <a:ln/>
        </p:spPr>
        <p:txBody>
          <a:bodyPr wrap="square" lIns="0" tIns="0" rIns="0" bIns="0" rtlCol="0" anchor="t"/>
          <a:lstStyle/>
          <a:p>
            <a:pPr marL="0" indent="0">
              <a:buNone/>
            </a:pPr>
            <a:r>
              <a:rPr lang="en-US" sz="1400" dirty="0">
                <a:solidFill>
                  <a:schemeClr val="tx1"/>
                </a:solidFill>
              </a:rPr>
              <a:t>IBM Bob and Claude Code wrote code against the specs. We reviewed it and ran the tests.</a:t>
            </a:r>
            <a:endParaRPr lang="en-US" sz="1400" dirty="0"/>
          </a:p>
        </p:txBody>
      </p:sp>
      <p:sp>
        <p:nvSpPr>
          <p:cNvPr id="47"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Built with IBM Bob</a:t>
            </a:r>
            <a:endParaRPr lang="en-US" sz="3200" dirty="0"/>
          </a:p>
        </p:txBody>
      </p:sp>
      <p:sp>
        <p:nvSpPr>
          <p:cNvPr id="3" name="Bob intro"/>
          <p:cNvSpPr txBox="1"/>
          <p:nvPr/>
        </p:nvSpPr>
        <p:spPr>
          <a:xfrm>
            <a:off x="457200" y="914400"/>
            <a:ext cx="8229600" cy="365760"/>
          </a:xfrm>
          <a:prstGeom prst="rect">
            <a:avLst/>
          </a:prstGeom>
          <a:noFill/>
          <a:ln/>
        </p:spPr>
        <p:txBody>
          <a:bodyPr wrap="square" lIns="0" tIns="0" rIns="0" bIns="0" rtlCol="0" anchor="t"/>
          <a:lstStyle/>
          <a:p>
            <a:pPr marL="0" indent="0">
              <a:buNone/>
            </a:pPr>
            <a:r>
              <a:rPr lang="en-US" sz="1400" dirty="0">
                <a:solidFill>
                  <a:schemeClr val="accent5"/>
                </a:solidFill>
              </a:rPr>
              <a:t>IBM's AI coding agent was our development partner, working from our specs rather than loose prompts.</a:t>
            </a:r>
            <a:endParaRPr lang="en-US" sz="1400" dirty="0"/>
          </a:p>
        </p:txBody>
      </p:sp>
      <p:sp>
        <p:nvSpPr>
          <p:cNvPr id="4" name="Bob card"/>
          <p:cNvSpPr/>
          <p:nvPr/>
        </p:nvSpPr>
        <p:spPr>
          <a:xfrm>
            <a:off x="457200" y="1417320"/>
            <a:ext cx="3931920" cy="3108960"/>
          </a:xfrm>
          <a:prstGeom prst="roundRect">
            <a:avLst>
              <a:gd name="adj" fmla="val 2941"/>
            </a:avLst>
          </a:prstGeom>
          <a:solidFill>
            <a:srgbClr val="0F62FE"/>
          </a:solidFill>
          <a:ln/>
          <a:effectLst>
            <a:outerShdw blurRad="101600" dist="25400" dir="5400000" algn="bl" rotWithShape="0">
              <a:srgbClr val="000000">
                <a:alpha val="14000"/>
              </a:srgbClr>
            </a:outerShdw>
          </a:effectLst>
        </p:spPr>
      </p:sp>
      <p:sp>
        <p:nvSpPr>
          <p:cNvPr id="5" name="Bob mark circle"/>
          <p:cNvSpPr/>
          <p:nvPr/>
        </p:nvSpPr>
        <p:spPr>
          <a:xfrm>
            <a:off x="685800" y="1600200"/>
            <a:ext cx="640080" cy="640080"/>
          </a:xfrm>
          <a:prstGeom prst="ellipse">
            <a:avLst/>
          </a:prstGeom>
          <a:solidFill>
            <a:schemeClr val="tx1"/>
          </a:solidFill>
          <a:ln/>
        </p:spPr>
      </p:sp>
      <p:pic>
        <p:nvPicPr>
          <p:cNvPr id="6" name="Bob mark icon" descr="Bob mark"/>
          <p:cNvPicPr>
            <a:picLocks noChangeAspect="1"/>
          </p:cNvPicPr>
          <p:nvPr/>
        </p:nvPicPr>
        <p:blipFill>
          <a:blip r:embed="rId3"/>
          <a:stretch>
            <a:fillRect/>
          </a:stretch>
        </p:blipFill>
        <p:spPr>
          <a:xfrm>
            <a:off x="852221" y="1766621"/>
            <a:ext cx="307238" cy="307238"/>
          </a:xfrm>
          <a:prstGeom prst="rect">
            <a:avLst/>
          </a:prstGeom>
        </p:spPr>
      </p:pic>
      <p:sp>
        <p:nvSpPr>
          <p:cNvPr id="7" name="Bob name"/>
          <p:cNvSpPr txBox="1"/>
          <p:nvPr/>
        </p:nvSpPr>
        <p:spPr>
          <a:xfrm>
            <a:off x="1463040" y="1572768"/>
            <a:ext cx="2834640" cy="457200"/>
          </a:xfrm>
          <a:prstGeom prst="rect">
            <a:avLst/>
          </a:prstGeom>
          <a:noFill/>
          <a:ln/>
        </p:spPr>
        <p:txBody>
          <a:bodyPr wrap="square" lIns="0" tIns="0" rIns="0" bIns="0" rtlCol="0" anchor="t"/>
          <a:lstStyle/>
          <a:p>
            <a:pPr marL="0" indent="0">
              <a:buNone/>
            </a:pPr>
            <a:r>
              <a:rPr lang="en-US" sz="3000" b="1" dirty="0">
                <a:solidFill>
                  <a:schemeClr val="bg1"/>
                </a:solidFill>
              </a:rPr>
              <a:t>IBM Bob</a:t>
            </a:r>
            <a:endParaRPr lang="en-US" sz="3000" dirty="0"/>
          </a:p>
        </p:txBody>
      </p:sp>
      <p:sp>
        <p:nvSpPr>
          <p:cNvPr id="8" name="Bob role"/>
          <p:cNvSpPr txBox="1"/>
          <p:nvPr/>
        </p:nvSpPr>
        <p:spPr>
          <a:xfrm>
            <a:off x="1463040" y="2057400"/>
            <a:ext cx="2834640" cy="365760"/>
          </a:xfrm>
          <a:prstGeom prst="rect">
            <a:avLst/>
          </a:prstGeom>
          <a:noFill/>
          <a:ln/>
        </p:spPr>
        <p:txBody>
          <a:bodyPr wrap="square" lIns="0" tIns="0" rIns="0" bIns="0" rtlCol="0" anchor="t"/>
          <a:lstStyle/>
          <a:p>
            <a:pPr marL="0" indent="0">
              <a:buNone/>
            </a:pPr>
            <a:r>
              <a:rPr lang="en-US" sz="1200" dirty="0">
                <a:solidFill>
                  <a:srgbClr val="DCE8FF"/>
                </a:solidFill>
              </a:rPr>
              <a:t>AI coding agent  |  used throughout development</a:t>
            </a:r>
            <a:endParaRPr lang="en-US" sz="1200" dirty="0"/>
          </a:p>
        </p:txBody>
      </p:sp>
      <p:sp>
        <p:nvSpPr>
          <p:cNvPr id="9" name="Bob check 1"/>
          <p:cNvSpPr/>
          <p:nvPr/>
        </p:nvSpPr>
        <p:spPr>
          <a:xfrm>
            <a:off x="731520" y="2798064"/>
            <a:ext cx="274320" cy="274320"/>
          </a:xfrm>
          <a:prstGeom prst="ellipse">
            <a:avLst/>
          </a:prstGeom>
          <a:solidFill>
            <a:schemeClr val="bg1"/>
          </a:solidFill>
          <a:ln/>
        </p:spPr>
      </p:sp>
      <p:sp>
        <p:nvSpPr>
          <p:cNvPr id="10" name="Bob check mark 1"/>
          <p:cNvSpPr txBox="1"/>
          <p:nvPr/>
        </p:nvSpPr>
        <p:spPr>
          <a:xfrm>
            <a:off x="731520" y="2798064"/>
            <a:ext cx="274320" cy="274320"/>
          </a:xfrm>
          <a:prstGeom prst="rect">
            <a:avLst/>
          </a:prstGeom>
          <a:noFill/>
          <a:ln/>
        </p:spPr>
        <p:txBody>
          <a:bodyPr wrap="square" lIns="0" tIns="0" rIns="0" bIns="0" rtlCol="0" anchor="ctr"/>
          <a:lstStyle/>
          <a:p>
            <a:pPr marL="0" indent="0" algn="ctr">
              <a:buNone/>
            </a:pPr>
            <a:r>
              <a:rPr lang="en-US" sz="1300" b="1" dirty="0">
                <a:solidFill>
                  <a:srgbClr val="0F62FE"/>
                </a:solidFill>
              </a:rPr>
              <a:t>✓</a:t>
            </a:r>
            <a:endParaRPr lang="en-US" sz="1300" dirty="0"/>
          </a:p>
        </p:txBody>
      </p:sp>
      <p:sp>
        <p:nvSpPr>
          <p:cNvPr id="11" name="Bob task 1"/>
          <p:cNvSpPr txBox="1"/>
          <p:nvPr/>
        </p:nvSpPr>
        <p:spPr>
          <a:xfrm>
            <a:off x="1188720" y="2743200"/>
            <a:ext cx="3017520" cy="384048"/>
          </a:xfrm>
          <a:prstGeom prst="rect">
            <a:avLst/>
          </a:prstGeom>
          <a:noFill/>
          <a:ln/>
        </p:spPr>
        <p:txBody>
          <a:bodyPr wrap="square" lIns="0" tIns="0" rIns="0" bIns="0" rtlCol="0" anchor="ctr"/>
          <a:lstStyle/>
          <a:p>
            <a:pPr marL="0" indent="0">
              <a:buNone/>
            </a:pPr>
            <a:r>
              <a:rPr lang="en-US" sz="1700" b="1" dirty="0">
                <a:solidFill>
                  <a:schemeClr val="bg1"/>
                </a:solidFill>
              </a:rPr>
              <a:t>Code generation</a:t>
            </a:r>
            <a:endParaRPr lang="en-US" sz="1700" dirty="0"/>
          </a:p>
        </p:txBody>
      </p:sp>
      <p:sp>
        <p:nvSpPr>
          <p:cNvPr id="12" name="Bob check 2"/>
          <p:cNvSpPr/>
          <p:nvPr/>
        </p:nvSpPr>
        <p:spPr>
          <a:xfrm>
            <a:off x="731520" y="3255264"/>
            <a:ext cx="274320" cy="274320"/>
          </a:xfrm>
          <a:prstGeom prst="ellipse">
            <a:avLst/>
          </a:prstGeom>
          <a:solidFill>
            <a:schemeClr val="bg1"/>
          </a:solidFill>
          <a:ln/>
        </p:spPr>
      </p:sp>
      <p:sp>
        <p:nvSpPr>
          <p:cNvPr id="13" name="Bob check mark 2"/>
          <p:cNvSpPr txBox="1"/>
          <p:nvPr/>
        </p:nvSpPr>
        <p:spPr>
          <a:xfrm>
            <a:off x="731520" y="3255264"/>
            <a:ext cx="274320" cy="274320"/>
          </a:xfrm>
          <a:prstGeom prst="rect">
            <a:avLst/>
          </a:prstGeom>
          <a:noFill/>
          <a:ln/>
        </p:spPr>
        <p:txBody>
          <a:bodyPr wrap="square" lIns="0" tIns="0" rIns="0" bIns="0" rtlCol="0" anchor="ctr"/>
          <a:lstStyle/>
          <a:p>
            <a:pPr marL="0" indent="0" algn="ctr">
              <a:buNone/>
            </a:pPr>
            <a:r>
              <a:rPr lang="en-US" sz="1300" b="1" dirty="0">
                <a:solidFill>
                  <a:srgbClr val="0F62FE"/>
                </a:solidFill>
              </a:rPr>
              <a:t>✓</a:t>
            </a:r>
            <a:endParaRPr lang="en-US" sz="1300" dirty="0"/>
          </a:p>
        </p:txBody>
      </p:sp>
      <p:sp>
        <p:nvSpPr>
          <p:cNvPr id="14" name="Bob task 2"/>
          <p:cNvSpPr txBox="1"/>
          <p:nvPr/>
        </p:nvSpPr>
        <p:spPr>
          <a:xfrm>
            <a:off x="1188720" y="3200400"/>
            <a:ext cx="3017520" cy="384048"/>
          </a:xfrm>
          <a:prstGeom prst="rect">
            <a:avLst/>
          </a:prstGeom>
          <a:noFill/>
          <a:ln/>
        </p:spPr>
        <p:txBody>
          <a:bodyPr wrap="square" lIns="0" tIns="0" rIns="0" bIns="0" rtlCol="0" anchor="ctr"/>
          <a:lstStyle/>
          <a:p>
            <a:pPr marL="0" indent="0">
              <a:buNone/>
            </a:pPr>
            <a:r>
              <a:rPr lang="en-US" sz="1700" b="1" dirty="0">
                <a:solidFill>
                  <a:schemeClr val="bg1"/>
                </a:solidFill>
              </a:rPr>
              <a:t>Spec writing</a:t>
            </a:r>
            <a:endParaRPr lang="en-US" sz="1700" dirty="0"/>
          </a:p>
        </p:txBody>
      </p:sp>
      <p:sp>
        <p:nvSpPr>
          <p:cNvPr id="15" name="Bob check 3"/>
          <p:cNvSpPr/>
          <p:nvPr/>
        </p:nvSpPr>
        <p:spPr>
          <a:xfrm>
            <a:off x="731520" y="3712464"/>
            <a:ext cx="274320" cy="274320"/>
          </a:xfrm>
          <a:prstGeom prst="ellipse">
            <a:avLst/>
          </a:prstGeom>
          <a:solidFill>
            <a:schemeClr val="bg1"/>
          </a:solidFill>
          <a:ln/>
        </p:spPr>
      </p:sp>
      <p:sp>
        <p:nvSpPr>
          <p:cNvPr id="16" name="Bob check mark 3"/>
          <p:cNvSpPr txBox="1"/>
          <p:nvPr/>
        </p:nvSpPr>
        <p:spPr>
          <a:xfrm>
            <a:off x="731520" y="3712464"/>
            <a:ext cx="274320" cy="274320"/>
          </a:xfrm>
          <a:prstGeom prst="rect">
            <a:avLst/>
          </a:prstGeom>
          <a:noFill/>
          <a:ln/>
        </p:spPr>
        <p:txBody>
          <a:bodyPr wrap="square" lIns="0" tIns="0" rIns="0" bIns="0" rtlCol="0" anchor="ctr"/>
          <a:lstStyle/>
          <a:p>
            <a:pPr marL="0" indent="0" algn="ctr">
              <a:buNone/>
            </a:pPr>
            <a:r>
              <a:rPr lang="en-US" sz="1300" b="1" dirty="0">
                <a:solidFill>
                  <a:srgbClr val="0F62FE"/>
                </a:solidFill>
              </a:rPr>
              <a:t>✓</a:t>
            </a:r>
            <a:endParaRPr lang="en-US" sz="1300" dirty="0"/>
          </a:p>
        </p:txBody>
      </p:sp>
      <p:sp>
        <p:nvSpPr>
          <p:cNvPr id="17" name="Bob task 3"/>
          <p:cNvSpPr txBox="1"/>
          <p:nvPr/>
        </p:nvSpPr>
        <p:spPr>
          <a:xfrm>
            <a:off x="1188720" y="3657600"/>
            <a:ext cx="3017520" cy="384048"/>
          </a:xfrm>
          <a:prstGeom prst="rect">
            <a:avLst/>
          </a:prstGeom>
          <a:noFill/>
          <a:ln/>
        </p:spPr>
        <p:txBody>
          <a:bodyPr wrap="square" lIns="0" tIns="0" rIns="0" bIns="0" rtlCol="0" anchor="ctr"/>
          <a:lstStyle/>
          <a:p>
            <a:pPr marL="0" indent="0">
              <a:buNone/>
            </a:pPr>
            <a:r>
              <a:rPr lang="en-US" sz="1700" b="1" dirty="0">
                <a:solidFill>
                  <a:schemeClr val="bg1"/>
                </a:solidFill>
              </a:rPr>
              <a:t>Task implementation</a:t>
            </a:r>
            <a:endParaRPr lang="en-US" sz="1700" dirty="0"/>
          </a:p>
        </p:txBody>
      </p:sp>
      <p:sp>
        <p:nvSpPr>
          <p:cNvPr id="18" name="Bob flow heading"/>
          <p:cNvSpPr txBox="1"/>
          <p:nvPr/>
        </p:nvSpPr>
        <p:spPr>
          <a:xfrm>
            <a:off x="4663440" y="1417320"/>
            <a:ext cx="4023360" cy="274320"/>
          </a:xfrm>
          <a:prstGeom prst="rect">
            <a:avLst/>
          </a:prstGeom>
          <a:noFill/>
          <a:ln/>
        </p:spPr>
        <p:txBody>
          <a:bodyPr wrap="square" lIns="0" tIns="0" rIns="0" bIns="0" rtlCol="0" anchor="t"/>
          <a:lstStyle/>
          <a:p>
            <a:pPr marL="0" indent="0">
              <a:buNone/>
            </a:pPr>
            <a:r>
              <a:rPr lang="en-US" sz="1600" b="1" dirty="0">
                <a:solidFill>
                  <a:schemeClr val="tx2"/>
                </a:solidFill>
              </a:rPr>
              <a:t>How we worked with it</a:t>
            </a:r>
            <a:endParaRPr lang="en-US" sz="1600" dirty="0"/>
          </a:p>
        </p:txBody>
      </p:sp>
      <p:sp>
        <p:nvSpPr>
          <p:cNvPr id="19" name="Bob flow 1"/>
          <p:cNvSpPr/>
          <p:nvPr/>
        </p:nvSpPr>
        <p:spPr>
          <a:xfrm>
            <a:off x="4663440" y="1783080"/>
            <a:ext cx="4023360" cy="594360"/>
          </a:xfrm>
          <a:prstGeom prst="roundRect">
            <a:avLst>
              <a:gd name="adj" fmla="val 12308"/>
            </a:avLst>
          </a:prstGeom>
          <a:solidFill>
            <a:schemeClr val="bg2"/>
          </a:solidFill>
          <a:ln/>
        </p:spPr>
      </p:sp>
      <p:sp>
        <p:nvSpPr>
          <p:cNvPr id="20" name="Bob flow 1 circle"/>
          <p:cNvSpPr/>
          <p:nvPr/>
        </p:nvSpPr>
        <p:spPr>
          <a:xfrm>
            <a:off x="4800600" y="1911096"/>
            <a:ext cx="338328" cy="338328"/>
          </a:xfrm>
          <a:prstGeom prst="ellipse">
            <a:avLst/>
          </a:prstGeom>
          <a:solidFill>
            <a:schemeClr val="accent1"/>
          </a:solidFill>
          <a:ln/>
        </p:spPr>
      </p:sp>
      <p:sp>
        <p:nvSpPr>
          <p:cNvPr id="21" name="Bob flow 1 num"/>
          <p:cNvSpPr txBox="1"/>
          <p:nvPr/>
        </p:nvSpPr>
        <p:spPr>
          <a:xfrm>
            <a:off x="4800600" y="1911096"/>
            <a:ext cx="338328" cy="33832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2" name="Bob flow 1 text"/>
          <p:cNvSpPr txBox="1"/>
          <p:nvPr/>
        </p:nvSpPr>
        <p:spPr>
          <a:xfrm>
            <a:off x="5285232" y="1783080"/>
            <a:ext cx="3291840" cy="594360"/>
          </a:xfrm>
          <a:prstGeom prst="rect">
            <a:avLst/>
          </a:prstGeom>
          <a:noFill/>
          <a:ln/>
        </p:spPr>
        <p:txBody>
          <a:bodyPr wrap="square" lIns="0" tIns="0" rIns="0" bIns="0" rtlCol="0" anchor="ctr"/>
          <a:lstStyle/>
          <a:p>
            <a:pPr marL="0" indent="0">
              <a:buNone/>
            </a:pPr>
            <a:r>
              <a:rPr lang="en-US" sz="1400" dirty="0">
                <a:solidFill>
                  <a:schemeClr val="tx1"/>
                </a:solidFill>
              </a:rPr>
              <a:t>Constitution and specs set the rules</a:t>
            </a:r>
            <a:endParaRPr lang="en-US" sz="1400" dirty="0"/>
          </a:p>
        </p:txBody>
      </p:sp>
      <p:sp>
        <p:nvSpPr>
          <p:cNvPr id="23" name="Bob flow 2"/>
          <p:cNvSpPr/>
          <p:nvPr/>
        </p:nvSpPr>
        <p:spPr>
          <a:xfrm>
            <a:off x="4663440" y="2468880"/>
            <a:ext cx="4023360" cy="594360"/>
          </a:xfrm>
          <a:prstGeom prst="roundRect">
            <a:avLst>
              <a:gd name="adj" fmla="val 12308"/>
            </a:avLst>
          </a:prstGeom>
          <a:solidFill>
            <a:schemeClr val="bg2"/>
          </a:solidFill>
          <a:ln/>
        </p:spPr>
      </p:sp>
      <p:sp>
        <p:nvSpPr>
          <p:cNvPr id="24" name="Bob flow 2 circle"/>
          <p:cNvSpPr/>
          <p:nvPr/>
        </p:nvSpPr>
        <p:spPr>
          <a:xfrm>
            <a:off x="4800600" y="2596896"/>
            <a:ext cx="338328" cy="338328"/>
          </a:xfrm>
          <a:prstGeom prst="ellipse">
            <a:avLst/>
          </a:prstGeom>
          <a:solidFill>
            <a:schemeClr val="accent1"/>
          </a:solidFill>
          <a:ln/>
        </p:spPr>
      </p:sp>
      <p:sp>
        <p:nvSpPr>
          <p:cNvPr id="25" name="Bob flow 2 num"/>
          <p:cNvSpPr txBox="1"/>
          <p:nvPr/>
        </p:nvSpPr>
        <p:spPr>
          <a:xfrm>
            <a:off x="4800600" y="2596896"/>
            <a:ext cx="338328" cy="33832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6" name="Bob flow 2 text"/>
          <p:cNvSpPr txBox="1"/>
          <p:nvPr/>
        </p:nvSpPr>
        <p:spPr>
          <a:xfrm>
            <a:off x="5285232" y="2468880"/>
            <a:ext cx="3291840" cy="594360"/>
          </a:xfrm>
          <a:prstGeom prst="rect">
            <a:avLst/>
          </a:prstGeom>
          <a:noFill/>
          <a:ln/>
        </p:spPr>
        <p:txBody>
          <a:bodyPr wrap="square" lIns="0" tIns="0" rIns="0" bIns="0" rtlCol="0" anchor="ctr"/>
          <a:lstStyle/>
          <a:p>
            <a:pPr marL="0" indent="0">
              <a:buNone/>
            </a:pPr>
            <a:r>
              <a:rPr lang="en-US" sz="1400" dirty="0">
                <a:solidFill>
                  <a:schemeClr val="tx1"/>
                </a:solidFill>
              </a:rPr>
              <a:t>Task lists say what to build, tests first</a:t>
            </a:r>
            <a:endParaRPr lang="en-US" sz="1400" dirty="0"/>
          </a:p>
        </p:txBody>
      </p:sp>
      <p:sp>
        <p:nvSpPr>
          <p:cNvPr id="27" name="Bob flow 3"/>
          <p:cNvSpPr/>
          <p:nvPr/>
        </p:nvSpPr>
        <p:spPr>
          <a:xfrm>
            <a:off x="4663440" y="3154680"/>
            <a:ext cx="4023360" cy="594360"/>
          </a:xfrm>
          <a:prstGeom prst="roundRect">
            <a:avLst>
              <a:gd name="adj" fmla="val 12308"/>
            </a:avLst>
          </a:prstGeom>
          <a:solidFill>
            <a:srgbClr val="0F62FE"/>
          </a:solidFill>
          <a:ln/>
        </p:spPr>
      </p:sp>
      <p:sp>
        <p:nvSpPr>
          <p:cNvPr id="28" name="Bob flow 3 circle"/>
          <p:cNvSpPr/>
          <p:nvPr/>
        </p:nvSpPr>
        <p:spPr>
          <a:xfrm>
            <a:off x="4800600" y="3282696"/>
            <a:ext cx="338328" cy="338328"/>
          </a:xfrm>
          <a:prstGeom prst="ellipse">
            <a:avLst/>
          </a:prstGeom>
          <a:solidFill>
            <a:schemeClr val="bg1"/>
          </a:solidFill>
          <a:ln/>
        </p:spPr>
      </p:sp>
      <p:sp>
        <p:nvSpPr>
          <p:cNvPr id="29" name="Bob flow 3 num"/>
          <p:cNvSpPr txBox="1"/>
          <p:nvPr/>
        </p:nvSpPr>
        <p:spPr>
          <a:xfrm>
            <a:off x="4800600" y="3282696"/>
            <a:ext cx="338328" cy="338328"/>
          </a:xfrm>
          <a:prstGeom prst="rect">
            <a:avLst/>
          </a:prstGeom>
          <a:noFill/>
          <a:ln/>
        </p:spPr>
        <p:txBody>
          <a:bodyPr wrap="square" lIns="0" tIns="0" rIns="0" bIns="0" rtlCol="0" anchor="ctr"/>
          <a:lstStyle/>
          <a:p>
            <a:pPr marL="0" indent="0" algn="ctr">
              <a:buNone/>
            </a:pPr>
            <a:r>
              <a:rPr lang="en-US" sz="1400" b="1" dirty="0">
                <a:solidFill>
                  <a:srgbClr val="0F62FE"/>
                </a:solidFill>
              </a:rPr>
              <a:t>3</a:t>
            </a:r>
            <a:endParaRPr lang="en-US" sz="1400" dirty="0"/>
          </a:p>
        </p:txBody>
      </p:sp>
      <p:sp>
        <p:nvSpPr>
          <p:cNvPr id="30" name="Bob flow 3 text"/>
          <p:cNvSpPr txBox="1"/>
          <p:nvPr/>
        </p:nvSpPr>
        <p:spPr>
          <a:xfrm>
            <a:off x="5285232" y="3154680"/>
            <a:ext cx="3291840" cy="594360"/>
          </a:xfrm>
          <a:prstGeom prst="rect">
            <a:avLst/>
          </a:prstGeom>
          <a:noFill/>
          <a:ln/>
        </p:spPr>
        <p:txBody>
          <a:bodyPr wrap="square" lIns="0" tIns="0" rIns="0" bIns="0" rtlCol="0" anchor="ctr"/>
          <a:lstStyle/>
          <a:p>
            <a:pPr marL="0" indent="0">
              <a:buNone/>
            </a:pPr>
            <a:r>
              <a:rPr lang="en-US" sz="1400" b="1" dirty="0">
                <a:solidFill>
                  <a:schemeClr val="bg1"/>
                </a:solidFill>
              </a:rPr>
              <a:t>IBM Bob implements each task</a:t>
            </a:r>
            <a:endParaRPr lang="en-US" sz="1400" dirty="0"/>
          </a:p>
        </p:txBody>
      </p:sp>
      <p:sp>
        <p:nvSpPr>
          <p:cNvPr id="31" name="Bob flow 4"/>
          <p:cNvSpPr/>
          <p:nvPr/>
        </p:nvSpPr>
        <p:spPr>
          <a:xfrm>
            <a:off x="4663440" y="3840480"/>
            <a:ext cx="4023360" cy="594360"/>
          </a:xfrm>
          <a:prstGeom prst="roundRect">
            <a:avLst>
              <a:gd name="adj" fmla="val 12308"/>
            </a:avLst>
          </a:prstGeom>
          <a:solidFill>
            <a:schemeClr val="bg2"/>
          </a:solidFill>
          <a:ln/>
        </p:spPr>
      </p:sp>
      <p:sp>
        <p:nvSpPr>
          <p:cNvPr id="32" name="Bob flow 4 circle"/>
          <p:cNvSpPr/>
          <p:nvPr/>
        </p:nvSpPr>
        <p:spPr>
          <a:xfrm>
            <a:off x="4800600" y="3968496"/>
            <a:ext cx="338328" cy="338328"/>
          </a:xfrm>
          <a:prstGeom prst="ellipse">
            <a:avLst/>
          </a:prstGeom>
          <a:solidFill>
            <a:schemeClr val="accent1"/>
          </a:solidFill>
          <a:ln/>
        </p:spPr>
      </p:sp>
      <p:sp>
        <p:nvSpPr>
          <p:cNvPr id="33" name="Bob flow 4 num"/>
          <p:cNvSpPr txBox="1"/>
          <p:nvPr/>
        </p:nvSpPr>
        <p:spPr>
          <a:xfrm>
            <a:off x="4800600" y="3968496"/>
            <a:ext cx="338328" cy="338328"/>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34" name="Bob flow 4 text"/>
          <p:cNvSpPr txBox="1"/>
          <p:nvPr/>
        </p:nvSpPr>
        <p:spPr>
          <a:xfrm>
            <a:off x="5285232" y="3840480"/>
            <a:ext cx="3291840" cy="594360"/>
          </a:xfrm>
          <a:prstGeom prst="rect">
            <a:avLst/>
          </a:prstGeom>
          <a:noFill/>
          <a:ln/>
        </p:spPr>
        <p:txBody>
          <a:bodyPr wrap="square" lIns="0" tIns="0" rIns="0" bIns="0" rtlCol="0" anchor="ctr"/>
          <a:lstStyle/>
          <a:p>
            <a:pPr marL="0" indent="0">
              <a:buNone/>
            </a:pPr>
            <a:r>
              <a:rPr lang="en-US" sz="1400" dirty="0">
                <a:solidFill>
                  <a:schemeClr val="tx1"/>
                </a:solidFill>
              </a:rPr>
              <a:t>Tests and gates check it; we review and confirm</a:t>
            </a:r>
            <a:endParaRPr lang="en-US" sz="1400" dirty="0"/>
          </a:p>
        </p:txBody>
      </p:sp>
      <p:sp>
        <p:nvSpPr>
          <p:cNvPr id="35" name="Bob footnote"/>
          <p:cNvSpPr txBox="1"/>
          <p:nvPr/>
        </p:nvSpPr>
        <p:spPr>
          <a:xfrm>
            <a:off x="4663440" y="4480560"/>
            <a:ext cx="4023360" cy="182880"/>
          </a:xfrm>
          <a:prstGeom prst="rect">
            <a:avLst/>
          </a:prstGeom>
          <a:noFill/>
          <a:ln/>
        </p:spPr>
        <p:txBody>
          <a:bodyPr wrap="square" lIns="0" tIns="0" rIns="0" bIns="0" rtlCol="0" anchor="t"/>
          <a:lstStyle/>
          <a:p>
            <a:pPr marL="0" indent="0">
              <a:buNone/>
            </a:pPr>
            <a:r>
              <a:rPr lang="en-US" sz="1000" dirty="0">
                <a:solidFill>
                  <a:schemeClr val="accent5"/>
                </a:solidFill>
              </a:rPr>
              <a:t>Claude Code supported later work. Per-file authorship is not tracked.</a:t>
            </a:r>
            <a:endParaRPr lang="en-US" sz="1000" dirty="0"/>
          </a:p>
        </p:txBody>
      </p:sp>
      <p:sp>
        <p:nvSpPr>
          <p:cNvPr id="36"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Our solution: JalSetu</a:t>
            </a:r>
            <a:endParaRPr lang="en-US" sz="3200" dirty="0"/>
          </a:p>
        </p:txBody>
      </p:sp>
      <p:sp>
        <p:nvSpPr>
          <p:cNvPr id="3" name="Step 1 circle"/>
          <p:cNvSpPr/>
          <p:nvPr/>
        </p:nvSpPr>
        <p:spPr>
          <a:xfrm>
            <a:off x="914400" y="1097280"/>
            <a:ext cx="685800" cy="685800"/>
          </a:xfrm>
          <a:prstGeom prst="ellipse">
            <a:avLst/>
          </a:prstGeom>
          <a:solidFill>
            <a:schemeClr val="accent1"/>
          </a:solidFill>
          <a:ln/>
        </p:spPr>
      </p:sp>
      <p:pic>
        <p:nvPicPr>
          <p:cNvPr id="4" name="Step 1 icon" descr="Step 1"/>
          <p:cNvPicPr>
            <a:picLocks noChangeAspect="1"/>
          </p:cNvPicPr>
          <p:nvPr/>
        </p:nvPicPr>
        <p:blipFill>
          <a:blip r:embed="rId3"/>
          <a:stretch>
            <a:fillRect/>
          </a:stretch>
        </p:blipFill>
        <p:spPr>
          <a:xfrm>
            <a:off x="1092708" y="1275588"/>
            <a:ext cx="329184" cy="329184"/>
          </a:xfrm>
          <a:prstGeom prst="rect">
            <a:avLst/>
          </a:prstGeom>
        </p:spPr>
      </p:pic>
      <p:sp>
        <p:nvSpPr>
          <p:cNvPr id="5" name="Step 1 title"/>
          <p:cNvSpPr txBox="1"/>
          <p:nvPr/>
        </p:nvSpPr>
        <p:spPr>
          <a:xfrm>
            <a:off x="457200" y="1874520"/>
            <a:ext cx="1600200" cy="274320"/>
          </a:xfrm>
          <a:prstGeom prst="rect">
            <a:avLst/>
          </a:prstGeom>
          <a:noFill/>
          <a:ln/>
        </p:spPr>
        <p:txBody>
          <a:bodyPr wrap="square" lIns="0" tIns="0" rIns="0" bIns="0" rtlCol="0" anchor="t"/>
          <a:lstStyle/>
          <a:p>
            <a:pPr marL="0" indent="0" algn="ctr">
              <a:buNone/>
            </a:pPr>
            <a:r>
              <a:rPr lang="en-US" sz="1500" b="1" dirty="0">
                <a:solidFill>
                  <a:schemeClr val="tx1"/>
                </a:solidFill>
              </a:rPr>
              <a:t>Post cargo</a:t>
            </a:r>
            <a:endParaRPr lang="en-US" sz="1500" dirty="0"/>
          </a:p>
        </p:txBody>
      </p:sp>
      <p:sp>
        <p:nvSpPr>
          <p:cNvPr id="6" name="Step 1 text"/>
          <p:cNvSpPr txBox="1"/>
          <p:nvPr/>
        </p:nvSpPr>
        <p:spPr>
          <a:xfrm>
            <a:off x="457200" y="2167128"/>
            <a:ext cx="1600200" cy="502920"/>
          </a:xfrm>
          <a:prstGeom prst="rect">
            <a:avLst/>
          </a:prstGeom>
          <a:noFill/>
          <a:ln/>
        </p:spPr>
        <p:txBody>
          <a:bodyPr wrap="square" lIns="0" tIns="0" rIns="0" bIns="0" rtlCol="0" anchor="t"/>
          <a:lstStyle/>
          <a:p>
            <a:pPr marL="0" indent="0" algn="ctr">
              <a:buNone/>
            </a:pPr>
            <a:r>
              <a:rPr lang="en-US" sz="1200" dirty="0">
                <a:solidFill>
                  <a:schemeClr val="accent5"/>
                </a:solidFill>
              </a:rPr>
              <a:t>Weight, route, hazard class</a:t>
            </a:r>
            <a:endParaRPr lang="en-US" sz="1200" dirty="0"/>
          </a:p>
        </p:txBody>
      </p:sp>
      <p:sp>
        <p:nvSpPr>
          <p:cNvPr id="7" name="Flow arrow 1"/>
          <p:cNvSpPr/>
          <p:nvPr/>
        </p:nvSpPr>
        <p:spPr>
          <a:xfrm>
            <a:off x="1691640" y="1435608"/>
            <a:ext cx="457200" cy="0"/>
          </a:xfrm>
          <a:prstGeom prst="line">
            <a:avLst/>
          </a:prstGeom>
          <a:noFill/>
          <a:ln w="25400">
            <a:solidFill>
              <a:schemeClr val="accent6"/>
            </a:solidFill>
            <a:prstDash val="solid"/>
            <a:tailEnd type="triangle"/>
          </a:ln>
        </p:spPr>
      </p:sp>
      <p:sp>
        <p:nvSpPr>
          <p:cNvPr id="8" name="Step 2 circle"/>
          <p:cNvSpPr/>
          <p:nvPr/>
        </p:nvSpPr>
        <p:spPr>
          <a:xfrm>
            <a:off x="2606040" y="1097280"/>
            <a:ext cx="685800" cy="685800"/>
          </a:xfrm>
          <a:prstGeom prst="ellipse">
            <a:avLst/>
          </a:prstGeom>
          <a:solidFill>
            <a:schemeClr val="accent1"/>
          </a:solidFill>
          <a:ln/>
        </p:spPr>
      </p:sp>
      <p:pic>
        <p:nvPicPr>
          <p:cNvPr id="9" name="Step 2 icon" descr="Step 2"/>
          <p:cNvPicPr>
            <a:picLocks noChangeAspect="1"/>
          </p:cNvPicPr>
          <p:nvPr/>
        </p:nvPicPr>
        <p:blipFill>
          <a:blip r:embed="rId4"/>
          <a:stretch>
            <a:fillRect/>
          </a:stretch>
        </p:blipFill>
        <p:spPr>
          <a:xfrm>
            <a:off x="2784348" y="1275588"/>
            <a:ext cx="329184" cy="329184"/>
          </a:xfrm>
          <a:prstGeom prst="rect">
            <a:avLst/>
          </a:prstGeom>
        </p:spPr>
      </p:pic>
      <p:sp>
        <p:nvSpPr>
          <p:cNvPr id="10" name="Step 2 title"/>
          <p:cNvSpPr txBox="1"/>
          <p:nvPr/>
        </p:nvSpPr>
        <p:spPr>
          <a:xfrm>
            <a:off x="2148840" y="1874520"/>
            <a:ext cx="1600200" cy="274320"/>
          </a:xfrm>
          <a:prstGeom prst="rect">
            <a:avLst/>
          </a:prstGeom>
          <a:noFill/>
          <a:ln/>
        </p:spPr>
        <p:txBody>
          <a:bodyPr wrap="square" lIns="0" tIns="0" rIns="0" bIns="0" rtlCol="0" anchor="t"/>
          <a:lstStyle/>
          <a:p>
            <a:pPr marL="0" indent="0" algn="ctr">
              <a:buNone/>
            </a:pPr>
            <a:r>
              <a:rPr lang="en-US" sz="1500" b="1" dirty="0">
                <a:solidFill>
                  <a:schemeClr val="tx1"/>
                </a:solidFill>
              </a:rPr>
              <a:t>Compare</a:t>
            </a:r>
            <a:endParaRPr lang="en-US" sz="1500" dirty="0"/>
          </a:p>
        </p:txBody>
      </p:sp>
      <p:sp>
        <p:nvSpPr>
          <p:cNvPr id="11" name="Step 2 text"/>
          <p:cNvSpPr txBox="1"/>
          <p:nvPr/>
        </p:nvSpPr>
        <p:spPr>
          <a:xfrm>
            <a:off x="2148840" y="2167128"/>
            <a:ext cx="1600200" cy="502920"/>
          </a:xfrm>
          <a:prstGeom prst="rect">
            <a:avLst/>
          </a:prstGeom>
          <a:noFill/>
          <a:ln/>
        </p:spPr>
        <p:txBody>
          <a:bodyPr wrap="square" lIns="0" tIns="0" rIns="0" bIns="0" rtlCol="0" anchor="t"/>
          <a:lstStyle/>
          <a:p>
            <a:pPr marL="0" indent="0" algn="ctr">
              <a:buNone/>
            </a:pPr>
            <a:r>
              <a:rPr lang="en-US" sz="1200" dirty="0">
                <a:solidFill>
                  <a:schemeClr val="accent5"/>
                </a:solidFill>
              </a:rPr>
              <a:t>Road vs hybrid, with a reason</a:t>
            </a:r>
            <a:endParaRPr lang="en-US" sz="1200" dirty="0"/>
          </a:p>
        </p:txBody>
      </p:sp>
      <p:sp>
        <p:nvSpPr>
          <p:cNvPr id="12" name="Flow arrow 2"/>
          <p:cNvSpPr/>
          <p:nvPr/>
        </p:nvSpPr>
        <p:spPr>
          <a:xfrm>
            <a:off x="3383280" y="1435608"/>
            <a:ext cx="457200" cy="0"/>
          </a:xfrm>
          <a:prstGeom prst="line">
            <a:avLst/>
          </a:prstGeom>
          <a:noFill/>
          <a:ln w="25400">
            <a:solidFill>
              <a:schemeClr val="accent6"/>
            </a:solidFill>
            <a:prstDash val="solid"/>
            <a:tailEnd type="triangle"/>
          </a:ln>
        </p:spPr>
      </p:sp>
      <p:sp>
        <p:nvSpPr>
          <p:cNvPr id="13" name="Step 3 circle"/>
          <p:cNvSpPr/>
          <p:nvPr/>
        </p:nvSpPr>
        <p:spPr>
          <a:xfrm>
            <a:off x="4297680" y="1097280"/>
            <a:ext cx="685800" cy="685800"/>
          </a:xfrm>
          <a:prstGeom prst="ellipse">
            <a:avLst/>
          </a:prstGeom>
          <a:solidFill>
            <a:schemeClr val="accent1"/>
          </a:solidFill>
          <a:ln/>
        </p:spPr>
      </p:sp>
      <p:pic>
        <p:nvPicPr>
          <p:cNvPr id="14" name="Step 3 icon" descr="Step 3"/>
          <p:cNvPicPr>
            <a:picLocks noChangeAspect="1"/>
          </p:cNvPicPr>
          <p:nvPr/>
        </p:nvPicPr>
        <p:blipFill>
          <a:blip r:embed="rId5"/>
          <a:stretch>
            <a:fillRect/>
          </a:stretch>
        </p:blipFill>
        <p:spPr>
          <a:xfrm>
            <a:off x="4475988" y="1275588"/>
            <a:ext cx="329184" cy="329184"/>
          </a:xfrm>
          <a:prstGeom prst="rect">
            <a:avLst/>
          </a:prstGeom>
        </p:spPr>
      </p:pic>
      <p:sp>
        <p:nvSpPr>
          <p:cNvPr id="15" name="Step 3 title"/>
          <p:cNvSpPr txBox="1"/>
          <p:nvPr/>
        </p:nvSpPr>
        <p:spPr>
          <a:xfrm>
            <a:off x="3840480" y="1874520"/>
            <a:ext cx="1600200" cy="274320"/>
          </a:xfrm>
          <a:prstGeom prst="rect">
            <a:avLst/>
          </a:prstGeom>
          <a:noFill/>
          <a:ln/>
        </p:spPr>
        <p:txBody>
          <a:bodyPr wrap="square" lIns="0" tIns="0" rIns="0" bIns="0" rtlCol="0" anchor="t"/>
          <a:lstStyle/>
          <a:p>
            <a:pPr marL="0" indent="0" algn="ctr">
              <a:buNone/>
            </a:pPr>
            <a:r>
              <a:rPr lang="en-US" sz="1500" b="1" dirty="0">
                <a:solidFill>
                  <a:schemeClr val="tx1"/>
                </a:solidFill>
              </a:rPr>
              <a:t>Match</a:t>
            </a:r>
            <a:endParaRPr lang="en-US" sz="1500" dirty="0"/>
          </a:p>
        </p:txBody>
      </p:sp>
      <p:sp>
        <p:nvSpPr>
          <p:cNvPr id="16" name="Step 3 text"/>
          <p:cNvSpPr txBox="1"/>
          <p:nvPr/>
        </p:nvSpPr>
        <p:spPr>
          <a:xfrm>
            <a:off x="3840480" y="2167128"/>
            <a:ext cx="1600200" cy="502920"/>
          </a:xfrm>
          <a:prstGeom prst="rect">
            <a:avLst/>
          </a:prstGeom>
          <a:noFill/>
          <a:ln/>
        </p:spPr>
        <p:txBody>
          <a:bodyPr wrap="square" lIns="0" tIns="0" rIns="0" bIns="0" rtlCol="0" anchor="t"/>
          <a:lstStyle/>
          <a:p>
            <a:pPr marL="0" indent="0" algn="ctr">
              <a:buNone/>
            </a:pPr>
            <a:r>
              <a:rPr lang="en-US" sz="1200" dirty="0">
                <a:solidFill>
                  <a:schemeClr val="accent5"/>
                </a:solidFill>
              </a:rPr>
              <a:t>Ranked sailings, exclusions explained</a:t>
            </a:r>
            <a:endParaRPr lang="en-US" sz="1200" dirty="0"/>
          </a:p>
        </p:txBody>
      </p:sp>
      <p:sp>
        <p:nvSpPr>
          <p:cNvPr id="17" name="Flow arrow 3"/>
          <p:cNvSpPr/>
          <p:nvPr/>
        </p:nvSpPr>
        <p:spPr>
          <a:xfrm>
            <a:off x="5074920" y="1435608"/>
            <a:ext cx="457200" cy="0"/>
          </a:xfrm>
          <a:prstGeom prst="line">
            <a:avLst/>
          </a:prstGeom>
          <a:noFill/>
          <a:ln w="25400">
            <a:solidFill>
              <a:schemeClr val="accent6"/>
            </a:solidFill>
            <a:prstDash val="solid"/>
            <a:tailEnd type="triangle"/>
          </a:ln>
        </p:spPr>
      </p:sp>
      <p:sp>
        <p:nvSpPr>
          <p:cNvPr id="18" name="Step 4 circle"/>
          <p:cNvSpPr/>
          <p:nvPr/>
        </p:nvSpPr>
        <p:spPr>
          <a:xfrm>
            <a:off x="5989320" y="1097280"/>
            <a:ext cx="685800" cy="685800"/>
          </a:xfrm>
          <a:prstGeom prst="ellipse">
            <a:avLst/>
          </a:prstGeom>
          <a:solidFill>
            <a:schemeClr val="accent1"/>
          </a:solidFill>
          <a:ln/>
        </p:spPr>
      </p:sp>
      <p:pic>
        <p:nvPicPr>
          <p:cNvPr id="19" name="Step 4 icon" descr="Step 4"/>
          <p:cNvPicPr>
            <a:picLocks noChangeAspect="1"/>
          </p:cNvPicPr>
          <p:nvPr/>
        </p:nvPicPr>
        <p:blipFill>
          <a:blip r:embed="rId6"/>
          <a:stretch>
            <a:fillRect/>
          </a:stretch>
        </p:blipFill>
        <p:spPr>
          <a:xfrm>
            <a:off x="6167628" y="1275588"/>
            <a:ext cx="329184" cy="329184"/>
          </a:xfrm>
          <a:prstGeom prst="rect">
            <a:avLst/>
          </a:prstGeom>
        </p:spPr>
      </p:pic>
      <p:sp>
        <p:nvSpPr>
          <p:cNvPr id="20" name="Step 4 title"/>
          <p:cNvSpPr txBox="1"/>
          <p:nvPr/>
        </p:nvSpPr>
        <p:spPr>
          <a:xfrm>
            <a:off x="5532120" y="1874520"/>
            <a:ext cx="1600200" cy="274320"/>
          </a:xfrm>
          <a:prstGeom prst="rect">
            <a:avLst/>
          </a:prstGeom>
          <a:noFill/>
          <a:ln/>
        </p:spPr>
        <p:txBody>
          <a:bodyPr wrap="square" lIns="0" tIns="0" rIns="0" bIns="0" rtlCol="0" anchor="t"/>
          <a:lstStyle/>
          <a:p>
            <a:pPr marL="0" indent="0" algn="ctr">
              <a:buNone/>
            </a:pPr>
            <a:r>
              <a:rPr lang="en-US" sz="1500" b="1" dirty="0">
                <a:solidFill>
                  <a:schemeClr val="tx1"/>
                </a:solidFill>
              </a:rPr>
              <a:t>Confirm</a:t>
            </a:r>
            <a:endParaRPr lang="en-US" sz="1500" dirty="0"/>
          </a:p>
        </p:txBody>
      </p:sp>
      <p:sp>
        <p:nvSpPr>
          <p:cNvPr id="21" name="Step 4 text"/>
          <p:cNvSpPr txBox="1"/>
          <p:nvPr/>
        </p:nvSpPr>
        <p:spPr>
          <a:xfrm>
            <a:off x="5532120" y="2167128"/>
            <a:ext cx="1600200" cy="502920"/>
          </a:xfrm>
          <a:prstGeom prst="rect">
            <a:avLst/>
          </a:prstGeom>
          <a:noFill/>
          <a:ln/>
        </p:spPr>
        <p:txBody>
          <a:bodyPr wrap="square" lIns="0" tIns="0" rIns="0" bIns="0" rtlCol="0" anchor="t"/>
          <a:lstStyle/>
          <a:p>
            <a:pPr marL="0" indent="0" algn="ctr">
              <a:buNone/>
            </a:pPr>
            <a:r>
              <a:rPr lang="en-US" sz="1200" dirty="0">
                <a:solidFill>
                  <a:schemeClr val="accent5"/>
                </a:solidFill>
              </a:rPr>
              <a:t>A person approves every booking</a:t>
            </a:r>
            <a:endParaRPr lang="en-US" sz="1200" dirty="0"/>
          </a:p>
        </p:txBody>
      </p:sp>
      <p:sp>
        <p:nvSpPr>
          <p:cNvPr id="22" name="Flow arrow 4"/>
          <p:cNvSpPr/>
          <p:nvPr/>
        </p:nvSpPr>
        <p:spPr>
          <a:xfrm>
            <a:off x="6766560" y="1435608"/>
            <a:ext cx="457200" cy="0"/>
          </a:xfrm>
          <a:prstGeom prst="line">
            <a:avLst/>
          </a:prstGeom>
          <a:noFill/>
          <a:ln w="25400">
            <a:solidFill>
              <a:schemeClr val="accent6"/>
            </a:solidFill>
            <a:prstDash val="solid"/>
            <a:tailEnd type="triangle"/>
          </a:ln>
        </p:spPr>
      </p:sp>
      <p:sp>
        <p:nvSpPr>
          <p:cNvPr id="23" name="Step 5 circle"/>
          <p:cNvSpPr/>
          <p:nvPr/>
        </p:nvSpPr>
        <p:spPr>
          <a:xfrm>
            <a:off x="7680960" y="1097280"/>
            <a:ext cx="685800" cy="685800"/>
          </a:xfrm>
          <a:prstGeom prst="ellipse">
            <a:avLst/>
          </a:prstGeom>
          <a:solidFill>
            <a:schemeClr val="accent1"/>
          </a:solidFill>
          <a:ln/>
        </p:spPr>
      </p:sp>
      <p:pic>
        <p:nvPicPr>
          <p:cNvPr id="24" name="Step 5 icon" descr="Step 5"/>
          <p:cNvPicPr>
            <a:picLocks noChangeAspect="1"/>
          </p:cNvPicPr>
          <p:nvPr/>
        </p:nvPicPr>
        <p:blipFill>
          <a:blip r:embed="rId7"/>
          <a:stretch>
            <a:fillRect/>
          </a:stretch>
        </p:blipFill>
        <p:spPr>
          <a:xfrm>
            <a:off x="7859268" y="1275588"/>
            <a:ext cx="329184" cy="329184"/>
          </a:xfrm>
          <a:prstGeom prst="rect">
            <a:avLst/>
          </a:prstGeom>
        </p:spPr>
      </p:pic>
      <p:sp>
        <p:nvSpPr>
          <p:cNvPr id="25" name="Step 5 title"/>
          <p:cNvSpPr txBox="1"/>
          <p:nvPr/>
        </p:nvSpPr>
        <p:spPr>
          <a:xfrm>
            <a:off x="7223760" y="1874520"/>
            <a:ext cx="1600200" cy="274320"/>
          </a:xfrm>
          <a:prstGeom prst="rect">
            <a:avLst/>
          </a:prstGeom>
          <a:noFill/>
          <a:ln/>
        </p:spPr>
        <p:txBody>
          <a:bodyPr wrap="square" lIns="0" tIns="0" rIns="0" bIns="0" rtlCol="0" anchor="t"/>
          <a:lstStyle/>
          <a:p>
            <a:pPr marL="0" indent="0" algn="ctr">
              <a:buNone/>
            </a:pPr>
            <a:r>
              <a:rPr lang="en-US" sz="1500" b="1" dirty="0">
                <a:solidFill>
                  <a:schemeClr val="tx1"/>
                </a:solidFill>
              </a:rPr>
              <a:t>Monitor and re-plan</a:t>
            </a:r>
            <a:endParaRPr lang="en-US" sz="1500" dirty="0"/>
          </a:p>
        </p:txBody>
      </p:sp>
      <p:sp>
        <p:nvSpPr>
          <p:cNvPr id="26" name="Step 5 text"/>
          <p:cNvSpPr txBox="1"/>
          <p:nvPr/>
        </p:nvSpPr>
        <p:spPr>
          <a:xfrm>
            <a:off x="7223760" y="2167128"/>
            <a:ext cx="1600200" cy="502920"/>
          </a:xfrm>
          <a:prstGeom prst="rect">
            <a:avLst/>
          </a:prstGeom>
          <a:noFill/>
          <a:ln/>
        </p:spPr>
        <p:txBody>
          <a:bodyPr wrap="square" lIns="0" tIns="0" rIns="0" bIns="0" rtlCol="0" anchor="t"/>
          <a:lstStyle/>
          <a:p>
            <a:pPr marL="0" indent="0" algn="ctr">
              <a:buNone/>
            </a:pPr>
            <a:r>
              <a:rPr lang="en-US" sz="1200" dirty="0">
                <a:solidFill>
                  <a:schemeClr val="accent5"/>
                </a:solidFill>
              </a:rPr>
              <a:t>Simulated milestones; ranked options</a:t>
            </a:r>
            <a:endParaRPr lang="en-US" sz="1200" dirty="0"/>
          </a:p>
        </p:txBody>
      </p:sp>
      <p:sp>
        <p:nvSpPr>
          <p:cNvPr id="27" name="Problem to answer banner"/>
          <p:cNvSpPr/>
          <p:nvPr/>
        </p:nvSpPr>
        <p:spPr>
          <a:xfrm>
            <a:off x="457200" y="2743200"/>
            <a:ext cx="8229600" cy="685800"/>
          </a:xfrm>
          <a:prstGeom prst="roundRect">
            <a:avLst>
              <a:gd name="adj" fmla="val 10667"/>
            </a:avLst>
          </a:prstGeom>
          <a:solidFill>
            <a:schemeClr val="bg2"/>
          </a:solidFill>
          <a:ln/>
        </p:spPr>
      </p:sp>
      <p:sp>
        <p:nvSpPr>
          <p:cNvPr id="28" name="Problem to answer text"/>
          <p:cNvSpPr txBox="1"/>
          <p:nvPr/>
        </p:nvSpPr>
        <p:spPr>
          <a:xfrm>
            <a:off x="640080" y="2743200"/>
            <a:ext cx="7863840" cy="685800"/>
          </a:xfrm>
          <a:prstGeom prst="rect">
            <a:avLst/>
          </a:prstGeom>
          <a:noFill/>
          <a:ln/>
        </p:spPr>
        <p:txBody>
          <a:bodyPr wrap="square" lIns="0" tIns="0" rIns="0" bIns="0" rtlCol="0" anchor="ctr"/>
          <a:lstStyle/>
          <a:p>
            <a:pPr marL="0" indent="0">
              <a:buNone/>
            </a:pPr>
            <a:r>
              <a:rPr lang="en-US" sz="1400" b="1" dirty="0">
                <a:solidFill>
                  <a:schemeClr val="tx2"/>
                </a:solidFill>
              </a:rPr>
              <a:t>No visibility: shared listings and matching.   No comparison: road vs hybrid.   No safety net: hazard gate and re-plan.</a:t>
            </a:r>
            <a:endParaRPr lang="en-US" sz="1400" dirty="0"/>
          </a:p>
        </p:txBody>
      </p:sp>
      <p:sp>
        <p:nvSpPr>
          <p:cNvPr id="29" name="Role card 1"/>
          <p:cNvSpPr/>
          <p:nvPr/>
        </p:nvSpPr>
        <p:spPr>
          <a:xfrm>
            <a:off x="457200" y="3566160"/>
            <a:ext cx="1965960" cy="1051560"/>
          </a:xfrm>
          <a:prstGeom prst="roundRect">
            <a:avLst>
              <a:gd name="adj" fmla="val 6957"/>
            </a:avLst>
          </a:prstGeom>
          <a:solidFill>
            <a:schemeClr val="bg2"/>
          </a:solidFill>
          <a:ln/>
        </p:spPr>
      </p:sp>
      <p:sp>
        <p:nvSpPr>
          <p:cNvPr id="30" name="Role 1 circle"/>
          <p:cNvSpPr/>
          <p:nvPr/>
        </p:nvSpPr>
        <p:spPr>
          <a:xfrm>
            <a:off x="566928" y="3639312"/>
            <a:ext cx="365760" cy="365760"/>
          </a:xfrm>
          <a:prstGeom prst="ellipse">
            <a:avLst/>
          </a:prstGeom>
          <a:solidFill>
            <a:schemeClr val="accent1"/>
          </a:solidFill>
          <a:ln/>
        </p:spPr>
      </p:sp>
      <p:pic>
        <p:nvPicPr>
          <p:cNvPr id="31" name="Role 1 icon" descr="Role 1"/>
          <p:cNvPicPr>
            <a:picLocks noChangeAspect="1"/>
          </p:cNvPicPr>
          <p:nvPr/>
        </p:nvPicPr>
        <p:blipFill>
          <a:blip r:embed="rId3"/>
          <a:stretch>
            <a:fillRect/>
          </a:stretch>
        </p:blipFill>
        <p:spPr>
          <a:xfrm>
            <a:off x="662026" y="3734410"/>
            <a:ext cx="175565" cy="175565"/>
          </a:xfrm>
          <a:prstGeom prst="rect">
            <a:avLst/>
          </a:prstGeom>
        </p:spPr>
      </p:pic>
      <p:sp>
        <p:nvSpPr>
          <p:cNvPr id="32" name="Role 1 title"/>
          <p:cNvSpPr txBox="1"/>
          <p:nvPr/>
        </p:nvSpPr>
        <p:spPr>
          <a:xfrm>
            <a:off x="1024128" y="3639312"/>
            <a:ext cx="1325880" cy="365760"/>
          </a:xfrm>
          <a:prstGeom prst="rect">
            <a:avLst/>
          </a:prstGeom>
          <a:noFill/>
          <a:ln/>
        </p:spPr>
        <p:txBody>
          <a:bodyPr wrap="square" lIns="0" tIns="0" rIns="0" bIns="0" rtlCol="0" anchor="ctr"/>
          <a:lstStyle/>
          <a:p>
            <a:pPr marL="0" indent="0">
              <a:buNone/>
            </a:pPr>
            <a:r>
              <a:rPr lang="en-US" sz="1500" b="1" dirty="0">
                <a:solidFill>
                  <a:schemeClr val="tx1"/>
                </a:solidFill>
              </a:rPr>
              <a:t>Shipper</a:t>
            </a:r>
            <a:endParaRPr lang="en-US" sz="1500" dirty="0"/>
          </a:p>
        </p:txBody>
      </p:sp>
      <p:sp>
        <p:nvSpPr>
          <p:cNvPr id="33" name="Role 1 text"/>
          <p:cNvSpPr txBox="1"/>
          <p:nvPr/>
        </p:nvSpPr>
        <p:spPr>
          <a:xfrm>
            <a:off x="566928" y="4069080"/>
            <a:ext cx="1783080" cy="502920"/>
          </a:xfrm>
          <a:prstGeom prst="rect">
            <a:avLst/>
          </a:prstGeom>
          <a:noFill/>
          <a:ln/>
        </p:spPr>
        <p:txBody>
          <a:bodyPr wrap="square" lIns="0" tIns="0" rIns="0" bIns="0" rtlCol="0" anchor="t"/>
          <a:lstStyle/>
          <a:p>
            <a:pPr marL="0" indent="0">
              <a:buNone/>
            </a:pPr>
            <a:r>
              <a:rPr lang="en-US" sz="1200" dirty="0">
                <a:solidFill>
                  <a:schemeClr val="tx1"/>
                </a:solidFill>
              </a:rPr>
              <a:t>Posts cargo, compares, books, tracks</a:t>
            </a:r>
            <a:endParaRPr lang="en-US" sz="1200" dirty="0"/>
          </a:p>
        </p:txBody>
      </p:sp>
      <p:sp>
        <p:nvSpPr>
          <p:cNvPr id="34" name="Role card 2"/>
          <p:cNvSpPr/>
          <p:nvPr/>
        </p:nvSpPr>
        <p:spPr>
          <a:xfrm>
            <a:off x="2542032" y="3566160"/>
            <a:ext cx="1965960" cy="1051560"/>
          </a:xfrm>
          <a:prstGeom prst="roundRect">
            <a:avLst>
              <a:gd name="adj" fmla="val 6957"/>
            </a:avLst>
          </a:prstGeom>
          <a:solidFill>
            <a:schemeClr val="bg2"/>
          </a:solidFill>
          <a:ln/>
        </p:spPr>
      </p:sp>
      <p:sp>
        <p:nvSpPr>
          <p:cNvPr id="35" name="Role 2 circle"/>
          <p:cNvSpPr/>
          <p:nvPr/>
        </p:nvSpPr>
        <p:spPr>
          <a:xfrm>
            <a:off x="2651760" y="3639312"/>
            <a:ext cx="365760" cy="365760"/>
          </a:xfrm>
          <a:prstGeom prst="ellipse">
            <a:avLst/>
          </a:prstGeom>
          <a:solidFill>
            <a:schemeClr val="accent1"/>
          </a:solidFill>
          <a:ln/>
        </p:spPr>
      </p:sp>
      <p:pic>
        <p:nvPicPr>
          <p:cNvPr id="36" name="Role 2 icon" descr="Role 2"/>
          <p:cNvPicPr>
            <a:picLocks noChangeAspect="1"/>
          </p:cNvPicPr>
          <p:nvPr/>
        </p:nvPicPr>
        <p:blipFill>
          <a:blip r:embed="rId8"/>
          <a:stretch>
            <a:fillRect/>
          </a:stretch>
        </p:blipFill>
        <p:spPr>
          <a:xfrm>
            <a:off x="2746858" y="3734410"/>
            <a:ext cx="175565" cy="175565"/>
          </a:xfrm>
          <a:prstGeom prst="rect">
            <a:avLst/>
          </a:prstGeom>
        </p:spPr>
      </p:pic>
      <p:sp>
        <p:nvSpPr>
          <p:cNvPr id="37" name="Role 2 title"/>
          <p:cNvSpPr txBox="1"/>
          <p:nvPr/>
        </p:nvSpPr>
        <p:spPr>
          <a:xfrm>
            <a:off x="3108960" y="3639312"/>
            <a:ext cx="1325880" cy="365760"/>
          </a:xfrm>
          <a:prstGeom prst="rect">
            <a:avLst/>
          </a:prstGeom>
          <a:noFill/>
          <a:ln/>
        </p:spPr>
        <p:txBody>
          <a:bodyPr wrap="square" lIns="0" tIns="0" rIns="0" bIns="0" rtlCol="0" anchor="ctr"/>
          <a:lstStyle/>
          <a:p>
            <a:pPr marL="0" indent="0">
              <a:buNone/>
            </a:pPr>
            <a:r>
              <a:rPr lang="en-US" sz="1500" b="1" dirty="0">
                <a:solidFill>
                  <a:schemeClr val="tx1"/>
                </a:solidFill>
              </a:rPr>
              <a:t>Boat owner</a:t>
            </a:r>
            <a:endParaRPr lang="en-US" sz="1500" dirty="0"/>
          </a:p>
        </p:txBody>
      </p:sp>
      <p:sp>
        <p:nvSpPr>
          <p:cNvPr id="38" name="Role 2 text"/>
          <p:cNvSpPr txBox="1"/>
          <p:nvPr/>
        </p:nvSpPr>
        <p:spPr>
          <a:xfrm>
            <a:off x="2651760" y="4069080"/>
            <a:ext cx="1783080" cy="502920"/>
          </a:xfrm>
          <a:prstGeom prst="rect">
            <a:avLst/>
          </a:prstGeom>
          <a:noFill/>
          <a:ln/>
        </p:spPr>
        <p:txBody>
          <a:bodyPr wrap="square" lIns="0" tIns="0" rIns="0" bIns="0" rtlCol="0" anchor="t"/>
          <a:lstStyle/>
          <a:p>
            <a:pPr marL="0" indent="0">
              <a:buNone/>
            </a:pPr>
            <a:r>
              <a:rPr lang="en-US" sz="1200" dirty="0">
                <a:solidFill>
                  <a:schemeClr val="tx1"/>
                </a:solidFill>
              </a:rPr>
              <a:t>Registers vessels, publishes sailings</a:t>
            </a:r>
            <a:endParaRPr lang="en-US" sz="1200" dirty="0"/>
          </a:p>
        </p:txBody>
      </p:sp>
      <p:sp>
        <p:nvSpPr>
          <p:cNvPr id="39" name="Role card 3"/>
          <p:cNvSpPr/>
          <p:nvPr/>
        </p:nvSpPr>
        <p:spPr>
          <a:xfrm>
            <a:off x="4626864" y="3566160"/>
            <a:ext cx="1965960" cy="1051560"/>
          </a:xfrm>
          <a:prstGeom prst="roundRect">
            <a:avLst>
              <a:gd name="adj" fmla="val 6957"/>
            </a:avLst>
          </a:prstGeom>
          <a:solidFill>
            <a:schemeClr val="bg2"/>
          </a:solidFill>
          <a:ln/>
        </p:spPr>
      </p:sp>
      <p:sp>
        <p:nvSpPr>
          <p:cNvPr id="40" name="Role 3 circle"/>
          <p:cNvSpPr/>
          <p:nvPr/>
        </p:nvSpPr>
        <p:spPr>
          <a:xfrm>
            <a:off x="4736592" y="3639312"/>
            <a:ext cx="365760" cy="365760"/>
          </a:xfrm>
          <a:prstGeom prst="ellipse">
            <a:avLst/>
          </a:prstGeom>
          <a:solidFill>
            <a:schemeClr val="accent1"/>
          </a:solidFill>
          <a:ln/>
        </p:spPr>
      </p:sp>
      <p:pic>
        <p:nvPicPr>
          <p:cNvPr id="41" name="Role 3 icon" descr="Role 3"/>
          <p:cNvPicPr>
            <a:picLocks noChangeAspect="1"/>
          </p:cNvPicPr>
          <p:nvPr/>
        </p:nvPicPr>
        <p:blipFill>
          <a:blip r:embed="rId9"/>
          <a:stretch>
            <a:fillRect/>
          </a:stretch>
        </p:blipFill>
        <p:spPr>
          <a:xfrm>
            <a:off x="4831690" y="3734410"/>
            <a:ext cx="175565" cy="175565"/>
          </a:xfrm>
          <a:prstGeom prst="rect">
            <a:avLst/>
          </a:prstGeom>
        </p:spPr>
      </p:pic>
      <p:sp>
        <p:nvSpPr>
          <p:cNvPr id="42" name="Role 3 title"/>
          <p:cNvSpPr txBox="1"/>
          <p:nvPr/>
        </p:nvSpPr>
        <p:spPr>
          <a:xfrm>
            <a:off x="5193792" y="3639312"/>
            <a:ext cx="1325880" cy="365760"/>
          </a:xfrm>
          <a:prstGeom prst="rect">
            <a:avLst/>
          </a:prstGeom>
          <a:noFill/>
          <a:ln/>
        </p:spPr>
        <p:txBody>
          <a:bodyPr wrap="square" lIns="0" tIns="0" rIns="0" bIns="0" rtlCol="0" anchor="ctr"/>
          <a:lstStyle/>
          <a:p>
            <a:pPr marL="0" indent="0">
              <a:buNone/>
            </a:pPr>
            <a:r>
              <a:rPr lang="en-US" sz="1500" b="1" dirty="0">
                <a:solidFill>
                  <a:schemeClr val="tx1"/>
                </a:solidFill>
              </a:rPr>
              <a:t>Warehouse</a:t>
            </a:r>
            <a:endParaRPr lang="en-US" sz="1500" dirty="0"/>
          </a:p>
        </p:txBody>
      </p:sp>
      <p:sp>
        <p:nvSpPr>
          <p:cNvPr id="43" name="Role 3 text"/>
          <p:cNvSpPr txBox="1"/>
          <p:nvPr/>
        </p:nvSpPr>
        <p:spPr>
          <a:xfrm>
            <a:off x="4736592" y="4069080"/>
            <a:ext cx="1783080" cy="502920"/>
          </a:xfrm>
          <a:prstGeom prst="rect">
            <a:avLst/>
          </a:prstGeom>
          <a:noFill/>
          <a:ln/>
        </p:spPr>
        <p:txBody>
          <a:bodyPr wrap="square" lIns="0" tIns="0" rIns="0" bIns="0" rtlCol="0" anchor="t"/>
          <a:lstStyle/>
          <a:p>
            <a:pPr marL="0" indent="0">
              <a:buNone/>
            </a:pPr>
            <a:r>
              <a:rPr lang="en-US" sz="1200" dirty="0">
                <a:solidFill>
                  <a:schemeClr val="tx1"/>
                </a:solidFill>
              </a:rPr>
              <a:t>Lists storage, sees utilisation</a:t>
            </a:r>
            <a:endParaRPr lang="en-US" sz="1200" dirty="0"/>
          </a:p>
        </p:txBody>
      </p:sp>
      <p:sp>
        <p:nvSpPr>
          <p:cNvPr id="44" name="Role card 4"/>
          <p:cNvSpPr/>
          <p:nvPr/>
        </p:nvSpPr>
        <p:spPr>
          <a:xfrm>
            <a:off x="6711696" y="3566160"/>
            <a:ext cx="1965960" cy="1051560"/>
          </a:xfrm>
          <a:prstGeom prst="roundRect">
            <a:avLst>
              <a:gd name="adj" fmla="val 6957"/>
            </a:avLst>
          </a:prstGeom>
          <a:solidFill>
            <a:schemeClr val="bg2"/>
          </a:solidFill>
          <a:ln/>
        </p:spPr>
      </p:sp>
      <p:sp>
        <p:nvSpPr>
          <p:cNvPr id="45" name="Role 4 circle"/>
          <p:cNvSpPr/>
          <p:nvPr/>
        </p:nvSpPr>
        <p:spPr>
          <a:xfrm>
            <a:off x="6821424" y="3639312"/>
            <a:ext cx="365760" cy="365760"/>
          </a:xfrm>
          <a:prstGeom prst="ellipse">
            <a:avLst/>
          </a:prstGeom>
          <a:solidFill>
            <a:schemeClr val="accent1"/>
          </a:solidFill>
          <a:ln/>
        </p:spPr>
      </p:sp>
      <p:pic>
        <p:nvPicPr>
          <p:cNvPr id="46" name="Role 4 icon" descr="Role 4"/>
          <p:cNvPicPr>
            <a:picLocks noChangeAspect="1"/>
          </p:cNvPicPr>
          <p:nvPr/>
        </p:nvPicPr>
        <p:blipFill>
          <a:blip r:embed="rId10"/>
          <a:stretch>
            <a:fillRect/>
          </a:stretch>
        </p:blipFill>
        <p:spPr>
          <a:xfrm>
            <a:off x="6916522" y="3734410"/>
            <a:ext cx="175565" cy="175565"/>
          </a:xfrm>
          <a:prstGeom prst="rect">
            <a:avLst/>
          </a:prstGeom>
        </p:spPr>
      </p:pic>
      <p:sp>
        <p:nvSpPr>
          <p:cNvPr id="47" name="Role 4 title"/>
          <p:cNvSpPr txBox="1"/>
          <p:nvPr/>
        </p:nvSpPr>
        <p:spPr>
          <a:xfrm>
            <a:off x="7278624" y="3639312"/>
            <a:ext cx="1325880" cy="365760"/>
          </a:xfrm>
          <a:prstGeom prst="rect">
            <a:avLst/>
          </a:prstGeom>
          <a:noFill/>
          <a:ln/>
        </p:spPr>
        <p:txBody>
          <a:bodyPr wrap="square" lIns="0" tIns="0" rIns="0" bIns="0" rtlCol="0" anchor="ctr"/>
          <a:lstStyle/>
          <a:p>
            <a:pPr marL="0" indent="0">
              <a:buNone/>
            </a:pPr>
            <a:r>
              <a:rPr lang="en-US" sz="1500" b="1" dirty="0">
                <a:solidFill>
                  <a:schemeClr val="tx1"/>
                </a:solidFill>
              </a:rPr>
              <a:t>Planner</a:t>
            </a:r>
            <a:endParaRPr lang="en-US" sz="1500" dirty="0"/>
          </a:p>
        </p:txBody>
      </p:sp>
      <p:sp>
        <p:nvSpPr>
          <p:cNvPr id="48" name="Role 4 text"/>
          <p:cNvSpPr txBox="1"/>
          <p:nvPr/>
        </p:nvSpPr>
        <p:spPr>
          <a:xfrm>
            <a:off x="6821424" y="4069080"/>
            <a:ext cx="1783080" cy="502920"/>
          </a:xfrm>
          <a:prstGeom prst="rect">
            <a:avLst/>
          </a:prstGeom>
          <a:noFill/>
          <a:ln/>
        </p:spPr>
        <p:txBody>
          <a:bodyPr wrap="square" lIns="0" tIns="0" rIns="0" bIns="0" rtlCol="0" anchor="t"/>
          <a:lstStyle/>
          <a:p>
            <a:pPr marL="0" indent="0">
              <a:buNone/>
            </a:pPr>
            <a:r>
              <a:rPr lang="en-US" sz="1200" dirty="0">
                <a:solidFill>
                  <a:schemeClr val="tx1"/>
                </a:solidFill>
              </a:rPr>
              <a:t>Sees corridor viability and disruptions</a:t>
            </a:r>
            <a:endParaRPr lang="en-US" sz="1200" dirty="0"/>
          </a:p>
        </p:txBody>
      </p:sp>
      <p:sp>
        <p:nvSpPr>
          <p:cNvPr id="49"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The deadline decides the mode</a:t>
            </a:r>
            <a:endParaRPr lang="en-US" sz="3200" dirty="0"/>
          </a:p>
        </p:txBody>
      </p:sp>
      <p:sp>
        <p:nvSpPr>
          <p:cNvPr id="3" name="Caveat bar"/>
          <p:cNvSpPr/>
          <p:nvPr/>
        </p:nvSpPr>
        <p:spPr>
          <a:xfrm>
            <a:off x="457200" y="960120"/>
            <a:ext cx="8229600" cy="310896"/>
          </a:xfrm>
          <a:prstGeom prst="roundRect">
            <a:avLst>
              <a:gd name="adj" fmla="val 23529"/>
            </a:avLst>
          </a:prstGeom>
          <a:solidFill>
            <a:schemeClr val="bg2"/>
          </a:solidFill>
          <a:ln/>
        </p:spPr>
      </p:sp>
      <p:sp>
        <p:nvSpPr>
          <p:cNvPr id="4" name="Caveat text"/>
          <p:cNvSpPr txBox="1"/>
          <p:nvPr/>
        </p:nvSpPr>
        <p:spPr>
          <a:xfrm>
            <a:off x="594360" y="960120"/>
            <a:ext cx="7955280" cy="310896"/>
          </a:xfrm>
          <a:prstGeom prst="rect">
            <a:avLst/>
          </a:prstGeom>
          <a:noFill/>
          <a:ln/>
        </p:spPr>
        <p:txBody>
          <a:bodyPr wrap="square" lIns="0" tIns="0" rIns="0" bIns="0" rtlCol="0" anchor="ctr"/>
          <a:lstStyle/>
          <a:p>
            <a:pPr marL="0" indent="0">
              <a:buNone/>
            </a:pPr>
            <a:r>
              <a:rPr lang="en-US" sz="1400" b="1" dirty="0">
                <a:solidFill>
                  <a:schemeClr val="accent4"/>
                </a:solidFill>
              </a:rPr>
              <a:t>Hybrid cost: barge leg only. It excludes first and last-mile trucking; road is door to door.</a:t>
            </a:r>
            <a:endParaRPr lang="en-US" sz="1400" dirty="0"/>
          </a:p>
        </p:txBody>
      </p:sp>
      <p:pic>
        <p:nvPicPr>
          <p:cNvPr id="5" name="Hero screenshot 10 h deadline" descr="Prototype: 10 h deadline recommends HYBRID"/>
          <p:cNvPicPr>
            <a:picLocks noChangeAspect="1"/>
          </p:cNvPicPr>
          <p:nvPr/>
        </p:nvPicPr>
        <p:blipFill>
          <a:blip r:embed="rId3"/>
          <a:stretch>
            <a:fillRect/>
          </a:stretch>
        </p:blipFill>
        <p:spPr>
          <a:xfrm>
            <a:off x="457200" y="1371600"/>
            <a:ext cx="4023360" cy="1896066"/>
          </a:xfrm>
          <a:prstGeom prst="rect">
            <a:avLst/>
          </a:prstGeom>
          <a:effectLst>
            <a:outerShdw blurRad="101600" dist="25400" dir="5400000" algn="bl" rotWithShape="0">
              <a:srgbClr val="000000">
                <a:alpha val="14000"/>
              </a:srgbClr>
            </a:outerShdw>
          </a:effectLst>
        </p:spPr>
      </p:pic>
      <p:sp>
        <p:nvSpPr>
          <p:cNvPr id="6" name="Hero result 10 h deadline"/>
          <p:cNvSpPr txBox="1"/>
          <p:nvPr/>
        </p:nvSpPr>
        <p:spPr>
          <a:xfrm>
            <a:off x="457200" y="3359106"/>
            <a:ext cx="4023360" cy="457200"/>
          </a:xfrm>
          <a:prstGeom prst="rect">
            <a:avLst/>
          </a:prstGeom>
          <a:noFill/>
          <a:ln/>
        </p:spPr>
        <p:txBody>
          <a:bodyPr wrap="square" lIns="0" tIns="0" rIns="0" bIns="0" rtlCol="0" anchor="t"/>
          <a:lstStyle/>
          <a:p>
            <a:pPr marL="0" indent="0">
              <a:buNone/>
            </a:pPr>
            <a:r>
              <a:rPr lang="en-US" sz="2400" b="1" dirty="0">
                <a:solidFill>
                  <a:schemeClr val="accent1"/>
                </a:solidFill>
              </a:rPr>
              <a:t>10 h deadline  →  HYBRID</a:t>
            </a:r>
            <a:endParaRPr lang="en-US" sz="2400" dirty="0"/>
          </a:p>
        </p:txBody>
      </p:sp>
      <p:sp>
        <p:nvSpPr>
          <p:cNvPr id="7" name="Hero numbers 10 h deadline"/>
          <p:cNvSpPr txBox="1"/>
          <p:nvPr/>
        </p:nvSpPr>
        <p:spPr>
          <a:xfrm>
            <a:off x="457200" y="3834594"/>
            <a:ext cx="4023360" cy="256032"/>
          </a:xfrm>
          <a:prstGeom prst="rect">
            <a:avLst/>
          </a:prstGeom>
          <a:noFill/>
          <a:ln/>
        </p:spPr>
        <p:txBody>
          <a:bodyPr wrap="square" lIns="0" tIns="0" rIns="0" bIns="0" rtlCol="0" anchor="t"/>
          <a:lstStyle/>
          <a:p>
            <a:pPr marL="0" indent="0">
              <a:buNone/>
            </a:pPr>
            <a:r>
              <a:rPr lang="en-US" sz="1600" b="1" dirty="0">
                <a:solidFill>
                  <a:schemeClr val="tx1"/>
                </a:solidFill>
              </a:rPr>
              <a:t>Rs 5,800  |  6.3 h  |  9.7 kg CO₂</a:t>
            </a:r>
            <a:endParaRPr lang="en-US" sz="1600" dirty="0"/>
          </a:p>
        </p:txBody>
      </p:sp>
      <p:sp>
        <p:nvSpPr>
          <p:cNvPr id="8" name="Hero saving 10 h deadline"/>
          <p:cNvSpPr txBox="1"/>
          <p:nvPr/>
        </p:nvSpPr>
        <p:spPr>
          <a:xfrm>
            <a:off x="457200" y="4127202"/>
            <a:ext cx="4023360" cy="256032"/>
          </a:xfrm>
          <a:prstGeom prst="rect">
            <a:avLst/>
          </a:prstGeom>
          <a:noFill/>
          <a:ln/>
        </p:spPr>
        <p:txBody>
          <a:bodyPr wrap="square" lIns="0" tIns="0" rIns="0" bIns="0" rtlCol="0" anchor="t"/>
          <a:lstStyle/>
          <a:p>
            <a:pPr marL="0" indent="0">
              <a:buNone/>
            </a:pPr>
            <a:r>
              <a:rPr lang="en-US" sz="1400" b="1" dirty="0">
                <a:solidFill>
                  <a:schemeClr val="accent1"/>
                </a:solidFill>
              </a:rPr>
              <a:t>About 10% cheaper, 75% less CO₂ (barge leg)</a:t>
            </a:r>
            <a:endParaRPr lang="en-US" sz="1400" dirty="0"/>
          </a:p>
        </p:txBody>
      </p:sp>
      <p:sp>
        <p:nvSpPr>
          <p:cNvPr id="9" name="Hero note 10 h deadline"/>
          <p:cNvSpPr txBox="1"/>
          <p:nvPr/>
        </p:nvSpPr>
        <p:spPr>
          <a:xfrm>
            <a:off x="457200" y="4401522"/>
            <a:ext cx="4023360" cy="228600"/>
          </a:xfrm>
          <a:prstGeom prst="rect">
            <a:avLst/>
          </a:prstGeom>
          <a:noFill/>
          <a:ln/>
        </p:spPr>
        <p:txBody>
          <a:bodyPr wrap="square" lIns="0" tIns="0" rIns="0" bIns="0" rtlCol="0" anchor="t"/>
          <a:lstStyle/>
          <a:p>
            <a:pPr marL="0" indent="0">
              <a:buNone/>
            </a:pPr>
            <a:r>
              <a:rPr lang="en-US" sz="1200" dirty="0">
                <a:solidFill>
                  <a:schemeClr val="accent5"/>
                </a:solidFill>
              </a:rPr>
              <a:t>Road for comparison: Rs 6,470, 1.6 h, 39.3 kg CO₂</a:t>
            </a:r>
            <a:endParaRPr lang="en-US" sz="1200" dirty="0"/>
          </a:p>
        </p:txBody>
      </p:sp>
      <p:pic>
        <p:nvPicPr>
          <p:cNvPr id="10" name="Hero screenshot 3 h deadline" descr="Prototype: 3 h deadline recommends ROAD"/>
          <p:cNvPicPr>
            <a:picLocks noChangeAspect="1"/>
          </p:cNvPicPr>
          <p:nvPr/>
        </p:nvPicPr>
        <p:blipFill>
          <a:blip r:embed="rId4"/>
          <a:stretch>
            <a:fillRect/>
          </a:stretch>
        </p:blipFill>
        <p:spPr>
          <a:xfrm>
            <a:off x="4663440" y="1371600"/>
            <a:ext cx="4023360" cy="1896066"/>
          </a:xfrm>
          <a:prstGeom prst="rect">
            <a:avLst/>
          </a:prstGeom>
          <a:effectLst>
            <a:outerShdw blurRad="101600" dist="25400" dir="5400000" algn="bl" rotWithShape="0">
              <a:srgbClr val="000000">
                <a:alpha val="14000"/>
              </a:srgbClr>
            </a:outerShdw>
          </a:effectLst>
        </p:spPr>
      </p:pic>
      <p:sp>
        <p:nvSpPr>
          <p:cNvPr id="11" name="Hero result 3 h deadline"/>
          <p:cNvSpPr txBox="1"/>
          <p:nvPr/>
        </p:nvSpPr>
        <p:spPr>
          <a:xfrm>
            <a:off x="4663440" y="3359106"/>
            <a:ext cx="4023360" cy="457200"/>
          </a:xfrm>
          <a:prstGeom prst="rect">
            <a:avLst/>
          </a:prstGeom>
          <a:noFill/>
          <a:ln/>
        </p:spPr>
        <p:txBody>
          <a:bodyPr wrap="square" lIns="0" tIns="0" rIns="0" bIns="0" rtlCol="0" anchor="t"/>
          <a:lstStyle/>
          <a:p>
            <a:pPr marL="0" indent="0">
              <a:buNone/>
            </a:pPr>
            <a:r>
              <a:rPr lang="en-US" sz="2400" b="1" dirty="0">
                <a:solidFill>
                  <a:schemeClr val="accent2"/>
                </a:solidFill>
              </a:rPr>
              <a:t>3 h deadline  →  ROAD</a:t>
            </a:r>
            <a:endParaRPr lang="en-US" sz="2400" dirty="0"/>
          </a:p>
        </p:txBody>
      </p:sp>
      <p:sp>
        <p:nvSpPr>
          <p:cNvPr id="12" name="Hero numbers 3 h deadline"/>
          <p:cNvSpPr txBox="1"/>
          <p:nvPr/>
        </p:nvSpPr>
        <p:spPr>
          <a:xfrm>
            <a:off x="4663440" y="3834594"/>
            <a:ext cx="4023360" cy="256032"/>
          </a:xfrm>
          <a:prstGeom prst="rect">
            <a:avLst/>
          </a:prstGeom>
          <a:noFill/>
          <a:ln/>
        </p:spPr>
        <p:txBody>
          <a:bodyPr wrap="square" lIns="0" tIns="0" rIns="0" bIns="0" rtlCol="0" anchor="t"/>
          <a:lstStyle/>
          <a:p>
            <a:pPr marL="0" indent="0">
              <a:buNone/>
            </a:pPr>
            <a:r>
              <a:rPr lang="en-US" sz="1600" b="1" dirty="0">
                <a:solidFill>
                  <a:schemeClr val="tx1"/>
                </a:solidFill>
              </a:rPr>
              <a:t>Rs 6,470  |  1.6 h  |  39.3 kg CO₂</a:t>
            </a:r>
            <a:endParaRPr lang="en-US" sz="1600" dirty="0"/>
          </a:p>
        </p:txBody>
      </p:sp>
      <p:sp>
        <p:nvSpPr>
          <p:cNvPr id="13" name="Hero saving 3 h deadline"/>
          <p:cNvSpPr txBox="1"/>
          <p:nvPr/>
        </p:nvSpPr>
        <p:spPr>
          <a:xfrm>
            <a:off x="4663440" y="4127202"/>
            <a:ext cx="4023360" cy="256032"/>
          </a:xfrm>
          <a:prstGeom prst="rect">
            <a:avLst/>
          </a:prstGeom>
          <a:noFill/>
          <a:ln/>
        </p:spPr>
        <p:txBody>
          <a:bodyPr wrap="square" lIns="0" tIns="0" rIns="0" bIns="0" rtlCol="0" anchor="t"/>
          <a:lstStyle/>
          <a:p>
            <a:pPr marL="0" indent="0">
              <a:buNone/>
            </a:pPr>
            <a:r>
              <a:rPr lang="en-US" sz="1400" b="1" dirty="0">
                <a:solidFill>
                  <a:schemeClr val="accent1"/>
                </a:solidFill>
              </a:rPr>
              <a:t>Hybrid takes 6.3 h: too slow for 2.5 usable hours</a:t>
            </a:r>
            <a:endParaRPr lang="en-US" sz="1400" dirty="0"/>
          </a:p>
        </p:txBody>
      </p:sp>
      <p:sp>
        <p:nvSpPr>
          <p:cNvPr id="14" name="Hero note 3 h deadline"/>
          <p:cNvSpPr txBox="1"/>
          <p:nvPr/>
        </p:nvSpPr>
        <p:spPr>
          <a:xfrm>
            <a:off x="4663440" y="4401522"/>
            <a:ext cx="4023360" cy="228600"/>
          </a:xfrm>
          <a:prstGeom prst="rect">
            <a:avLst/>
          </a:prstGeom>
          <a:noFill/>
          <a:ln/>
        </p:spPr>
        <p:txBody>
          <a:bodyPr wrap="square" lIns="0" tIns="0" rIns="0" bIns="0" rtlCol="0" anchor="t"/>
          <a:lstStyle/>
          <a:p>
            <a:pPr marL="0" indent="0">
              <a:buNone/>
            </a:pPr>
            <a:r>
              <a:rPr lang="en-US" sz="1200" dirty="0">
                <a:solidFill>
                  <a:schemeClr val="accent5"/>
                </a:solidFill>
              </a:rPr>
              <a:t>Road wins when the deadline is tight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Major features</a:t>
            </a:r>
            <a:endParaRPr lang="en-US" sz="3200" dirty="0"/>
          </a:p>
        </p:txBody>
      </p:sp>
      <p:sp>
        <p:nvSpPr>
          <p:cNvPr id="3" name="Major card 1"/>
          <p:cNvSpPr/>
          <p:nvPr/>
        </p:nvSpPr>
        <p:spPr>
          <a:xfrm>
            <a:off x="457200" y="1097280"/>
            <a:ext cx="2651760" cy="1645920"/>
          </a:xfrm>
          <a:prstGeom prst="roundRect">
            <a:avLst>
              <a:gd name="adj" fmla="val 4444"/>
            </a:avLst>
          </a:prstGeom>
          <a:solidFill>
            <a:schemeClr val="bg2"/>
          </a:solidFill>
          <a:ln/>
        </p:spPr>
      </p:sp>
      <p:sp>
        <p:nvSpPr>
          <p:cNvPr id="4" name="Major 1 circle"/>
          <p:cNvSpPr/>
          <p:nvPr/>
        </p:nvSpPr>
        <p:spPr>
          <a:xfrm>
            <a:off x="640080" y="1280160"/>
            <a:ext cx="457200" cy="457200"/>
          </a:xfrm>
          <a:prstGeom prst="ellipse">
            <a:avLst/>
          </a:prstGeom>
          <a:solidFill>
            <a:schemeClr val="accent1"/>
          </a:solidFill>
          <a:ln/>
        </p:spPr>
      </p:sp>
      <p:pic>
        <p:nvPicPr>
          <p:cNvPr id="5" name="Major 1 icon" descr="Major 1"/>
          <p:cNvPicPr>
            <a:picLocks noChangeAspect="1"/>
          </p:cNvPicPr>
          <p:nvPr/>
        </p:nvPicPr>
        <p:blipFill>
          <a:blip r:embed="rId3"/>
          <a:stretch>
            <a:fillRect/>
          </a:stretch>
        </p:blipFill>
        <p:spPr>
          <a:xfrm>
            <a:off x="758952" y="1399032"/>
            <a:ext cx="219456" cy="219456"/>
          </a:xfrm>
          <a:prstGeom prst="rect">
            <a:avLst/>
          </a:prstGeom>
        </p:spPr>
      </p:pic>
      <p:sp>
        <p:nvSpPr>
          <p:cNvPr id="6" name="Major 1 title"/>
          <p:cNvSpPr txBox="1"/>
          <p:nvPr/>
        </p:nvSpPr>
        <p:spPr>
          <a:xfrm>
            <a:off x="1234440" y="1280160"/>
            <a:ext cx="1783080" cy="457200"/>
          </a:xfrm>
          <a:prstGeom prst="rect">
            <a:avLst/>
          </a:prstGeom>
          <a:noFill/>
          <a:ln/>
        </p:spPr>
        <p:txBody>
          <a:bodyPr wrap="square" lIns="0" tIns="0" rIns="0" bIns="0" rtlCol="0" anchor="ctr"/>
          <a:lstStyle/>
          <a:p>
            <a:pPr marL="0" indent="0">
              <a:buNone/>
            </a:pPr>
            <a:r>
              <a:rPr lang="en-US" sz="1600" b="1" dirty="0">
                <a:solidFill>
                  <a:schemeClr val="tx1"/>
                </a:solidFill>
              </a:rPr>
              <a:t>Decide</a:t>
            </a:r>
            <a:endParaRPr lang="en-US" sz="1600" dirty="0"/>
          </a:p>
        </p:txBody>
      </p:sp>
      <p:sp>
        <p:nvSpPr>
          <p:cNvPr id="7" name="Major 1 text"/>
          <p:cNvSpPr txBox="1"/>
          <p:nvPr/>
        </p:nvSpPr>
        <p:spPr>
          <a:xfrm>
            <a:off x="640080" y="1874520"/>
            <a:ext cx="2331720" cy="822960"/>
          </a:xfrm>
          <a:prstGeom prst="rect">
            <a:avLst/>
          </a:prstGeom>
          <a:noFill/>
          <a:ln/>
        </p:spPr>
        <p:txBody>
          <a:bodyPr wrap="square" lIns="0" tIns="0" rIns="0" bIns="0" rtlCol="0" anchor="t"/>
          <a:lstStyle/>
          <a:p>
            <a:pPr marL="0" indent="0">
              <a:buNone/>
            </a:pPr>
            <a:r>
              <a:rPr lang="en-US" sz="1400" dirty="0">
                <a:solidFill>
                  <a:schemeClr val="tx1"/>
                </a:solidFill>
              </a:rPr>
              <a:t>Road vs hybrid on cost, time, CO₂ and reliability, with a reason</a:t>
            </a:r>
            <a:endParaRPr lang="en-US" sz="1400" dirty="0"/>
          </a:p>
        </p:txBody>
      </p:sp>
      <p:sp>
        <p:nvSpPr>
          <p:cNvPr id="8" name="Major card 2"/>
          <p:cNvSpPr/>
          <p:nvPr/>
        </p:nvSpPr>
        <p:spPr>
          <a:xfrm>
            <a:off x="3246120" y="1097280"/>
            <a:ext cx="2651760" cy="1645920"/>
          </a:xfrm>
          <a:prstGeom prst="roundRect">
            <a:avLst>
              <a:gd name="adj" fmla="val 4444"/>
            </a:avLst>
          </a:prstGeom>
          <a:solidFill>
            <a:schemeClr val="bg2"/>
          </a:solidFill>
          <a:ln/>
        </p:spPr>
      </p:sp>
      <p:sp>
        <p:nvSpPr>
          <p:cNvPr id="9" name="Major 2 circle"/>
          <p:cNvSpPr/>
          <p:nvPr/>
        </p:nvSpPr>
        <p:spPr>
          <a:xfrm>
            <a:off x="3429000" y="1280160"/>
            <a:ext cx="457200" cy="457200"/>
          </a:xfrm>
          <a:prstGeom prst="ellipse">
            <a:avLst/>
          </a:prstGeom>
          <a:solidFill>
            <a:schemeClr val="accent1"/>
          </a:solidFill>
          <a:ln/>
        </p:spPr>
      </p:sp>
      <p:pic>
        <p:nvPicPr>
          <p:cNvPr id="10" name="Major 2 icon" descr="Major 2"/>
          <p:cNvPicPr>
            <a:picLocks noChangeAspect="1"/>
          </p:cNvPicPr>
          <p:nvPr/>
        </p:nvPicPr>
        <p:blipFill>
          <a:blip r:embed="rId4"/>
          <a:stretch>
            <a:fillRect/>
          </a:stretch>
        </p:blipFill>
        <p:spPr>
          <a:xfrm>
            <a:off x="3547872" y="1399032"/>
            <a:ext cx="219456" cy="219456"/>
          </a:xfrm>
          <a:prstGeom prst="rect">
            <a:avLst/>
          </a:prstGeom>
        </p:spPr>
      </p:pic>
      <p:sp>
        <p:nvSpPr>
          <p:cNvPr id="11" name="Major 2 title"/>
          <p:cNvSpPr txBox="1"/>
          <p:nvPr/>
        </p:nvSpPr>
        <p:spPr>
          <a:xfrm>
            <a:off x="4023360" y="1280160"/>
            <a:ext cx="1783080" cy="457200"/>
          </a:xfrm>
          <a:prstGeom prst="rect">
            <a:avLst/>
          </a:prstGeom>
          <a:noFill/>
          <a:ln/>
        </p:spPr>
        <p:txBody>
          <a:bodyPr wrap="square" lIns="0" tIns="0" rIns="0" bIns="0" rtlCol="0" anchor="ctr"/>
          <a:lstStyle/>
          <a:p>
            <a:pPr marL="0" indent="0">
              <a:buNone/>
            </a:pPr>
            <a:r>
              <a:rPr lang="en-US" sz="1600" b="1" dirty="0">
                <a:solidFill>
                  <a:schemeClr val="tx1"/>
                </a:solidFill>
              </a:rPr>
              <a:t>Match</a:t>
            </a:r>
            <a:endParaRPr lang="en-US" sz="1600" dirty="0"/>
          </a:p>
        </p:txBody>
      </p:sp>
      <p:sp>
        <p:nvSpPr>
          <p:cNvPr id="12" name="Major 2 text"/>
          <p:cNvSpPr txBox="1"/>
          <p:nvPr/>
        </p:nvSpPr>
        <p:spPr>
          <a:xfrm>
            <a:off x="3429000" y="1874520"/>
            <a:ext cx="2331720" cy="822960"/>
          </a:xfrm>
          <a:prstGeom prst="rect">
            <a:avLst/>
          </a:prstGeom>
          <a:noFill/>
          <a:ln/>
        </p:spPr>
        <p:txBody>
          <a:bodyPr wrap="square" lIns="0" tIns="0" rIns="0" bIns="0" rtlCol="0" anchor="t"/>
          <a:lstStyle/>
          <a:p>
            <a:pPr marL="0" indent="0">
              <a:buNone/>
            </a:pPr>
            <a:r>
              <a:rPr lang="en-US" sz="1400" dirty="0">
                <a:solidFill>
                  <a:schemeClr val="tx1"/>
                </a:solidFill>
              </a:rPr>
              <a:t>Ranked sailings; excluded vessels shown with reasons</a:t>
            </a:r>
            <a:endParaRPr lang="en-US" sz="1400" dirty="0"/>
          </a:p>
        </p:txBody>
      </p:sp>
      <p:sp>
        <p:nvSpPr>
          <p:cNvPr id="13" name="Major card 3"/>
          <p:cNvSpPr/>
          <p:nvPr/>
        </p:nvSpPr>
        <p:spPr>
          <a:xfrm>
            <a:off x="6035040" y="1097280"/>
            <a:ext cx="2651760" cy="1645920"/>
          </a:xfrm>
          <a:prstGeom prst="roundRect">
            <a:avLst>
              <a:gd name="adj" fmla="val 4444"/>
            </a:avLst>
          </a:prstGeom>
          <a:solidFill>
            <a:schemeClr val="bg2"/>
          </a:solidFill>
          <a:ln/>
        </p:spPr>
      </p:sp>
      <p:sp>
        <p:nvSpPr>
          <p:cNvPr id="14" name="Major 3 circle"/>
          <p:cNvSpPr/>
          <p:nvPr/>
        </p:nvSpPr>
        <p:spPr>
          <a:xfrm>
            <a:off x="6217920" y="1280160"/>
            <a:ext cx="457200" cy="457200"/>
          </a:xfrm>
          <a:prstGeom prst="ellipse">
            <a:avLst/>
          </a:prstGeom>
          <a:solidFill>
            <a:schemeClr val="accent1"/>
          </a:solidFill>
          <a:ln/>
        </p:spPr>
      </p:sp>
      <p:pic>
        <p:nvPicPr>
          <p:cNvPr id="15" name="Major 3 icon" descr="Major 3"/>
          <p:cNvPicPr>
            <a:picLocks noChangeAspect="1"/>
          </p:cNvPicPr>
          <p:nvPr/>
        </p:nvPicPr>
        <p:blipFill>
          <a:blip r:embed="rId5"/>
          <a:stretch>
            <a:fillRect/>
          </a:stretch>
        </p:blipFill>
        <p:spPr>
          <a:xfrm>
            <a:off x="6336792" y="1399032"/>
            <a:ext cx="219456" cy="219456"/>
          </a:xfrm>
          <a:prstGeom prst="rect">
            <a:avLst/>
          </a:prstGeom>
        </p:spPr>
      </p:pic>
      <p:sp>
        <p:nvSpPr>
          <p:cNvPr id="16" name="Major 3 title"/>
          <p:cNvSpPr txBox="1"/>
          <p:nvPr/>
        </p:nvSpPr>
        <p:spPr>
          <a:xfrm>
            <a:off x="6812280" y="1280160"/>
            <a:ext cx="1783080" cy="457200"/>
          </a:xfrm>
          <a:prstGeom prst="rect">
            <a:avLst/>
          </a:prstGeom>
          <a:noFill/>
          <a:ln/>
        </p:spPr>
        <p:txBody>
          <a:bodyPr wrap="square" lIns="0" tIns="0" rIns="0" bIns="0" rtlCol="0" anchor="ctr"/>
          <a:lstStyle/>
          <a:p>
            <a:pPr marL="0" indent="0">
              <a:buNone/>
            </a:pPr>
            <a:r>
              <a:rPr lang="en-US" sz="1600" b="1" dirty="0">
                <a:solidFill>
                  <a:schemeClr val="tx1"/>
                </a:solidFill>
              </a:rPr>
              <a:t>Book safely</a:t>
            </a:r>
            <a:endParaRPr lang="en-US" sz="1600" dirty="0"/>
          </a:p>
        </p:txBody>
      </p:sp>
      <p:sp>
        <p:nvSpPr>
          <p:cNvPr id="17" name="Major 3 text"/>
          <p:cNvSpPr txBox="1"/>
          <p:nvPr/>
        </p:nvSpPr>
        <p:spPr>
          <a:xfrm>
            <a:off x="6217920" y="1874520"/>
            <a:ext cx="2331720" cy="822960"/>
          </a:xfrm>
          <a:prstGeom prst="rect">
            <a:avLst/>
          </a:prstGeom>
          <a:noFill/>
          <a:ln/>
        </p:spPr>
        <p:txBody>
          <a:bodyPr wrap="square" lIns="0" tIns="0" rIns="0" bIns="0" rtlCol="0" anchor="t"/>
          <a:lstStyle/>
          <a:p>
            <a:pPr marL="0" indent="0">
              <a:buNone/>
            </a:pPr>
            <a:r>
              <a:rPr lang="en-US" sz="1400" dirty="0">
                <a:solidFill>
                  <a:schemeClr val="tx1"/>
                </a:solidFill>
              </a:rPr>
              <a:t>Two-step confirmation; hazard gate and compliance review</a:t>
            </a:r>
            <a:endParaRPr lang="en-US" sz="1400" dirty="0"/>
          </a:p>
        </p:txBody>
      </p:sp>
      <p:sp>
        <p:nvSpPr>
          <p:cNvPr id="18" name="Major card 4"/>
          <p:cNvSpPr/>
          <p:nvPr/>
        </p:nvSpPr>
        <p:spPr>
          <a:xfrm>
            <a:off x="457200" y="2880360"/>
            <a:ext cx="2651760" cy="1645920"/>
          </a:xfrm>
          <a:prstGeom prst="roundRect">
            <a:avLst>
              <a:gd name="adj" fmla="val 4444"/>
            </a:avLst>
          </a:prstGeom>
          <a:solidFill>
            <a:schemeClr val="bg2"/>
          </a:solidFill>
          <a:ln/>
        </p:spPr>
      </p:sp>
      <p:sp>
        <p:nvSpPr>
          <p:cNvPr id="19" name="Major 4 circle"/>
          <p:cNvSpPr/>
          <p:nvPr/>
        </p:nvSpPr>
        <p:spPr>
          <a:xfrm>
            <a:off x="640080" y="3063240"/>
            <a:ext cx="457200" cy="457200"/>
          </a:xfrm>
          <a:prstGeom prst="ellipse">
            <a:avLst/>
          </a:prstGeom>
          <a:solidFill>
            <a:schemeClr val="accent1"/>
          </a:solidFill>
          <a:ln/>
        </p:spPr>
      </p:sp>
      <p:pic>
        <p:nvPicPr>
          <p:cNvPr id="20" name="Major 4 icon" descr="Major 4"/>
          <p:cNvPicPr>
            <a:picLocks noChangeAspect="1"/>
          </p:cNvPicPr>
          <p:nvPr/>
        </p:nvPicPr>
        <p:blipFill>
          <a:blip r:embed="rId6"/>
          <a:stretch>
            <a:fillRect/>
          </a:stretch>
        </p:blipFill>
        <p:spPr>
          <a:xfrm>
            <a:off x="758952" y="3182112"/>
            <a:ext cx="219456" cy="219456"/>
          </a:xfrm>
          <a:prstGeom prst="rect">
            <a:avLst/>
          </a:prstGeom>
        </p:spPr>
      </p:pic>
      <p:sp>
        <p:nvSpPr>
          <p:cNvPr id="21" name="Major 4 title"/>
          <p:cNvSpPr txBox="1"/>
          <p:nvPr/>
        </p:nvSpPr>
        <p:spPr>
          <a:xfrm>
            <a:off x="1234440" y="3063240"/>
            <a:ext cx="1783080" cy="457200"/>
          </a:xfrm>
          <a:prstGeom prst="rect">
            <a:avLst/>
          </a:prstGeom>
          <a:noFill/>
          <a:ln/>
        </p:spPr>
        <p:txBody>
          <a:bodyPr wrap="square" lIns="0" tIns="0" rIns="0" bIns="0" rtlCol="0" anchor="ctr"/>
          <a:lstStyle/>
          <a:p>
            <a:pPr marL="0" indent="0">
              <a:buNone/>
            </a:pPr>
            <a:r>
              <a:rPr lang="en-US" sz="1600" b="1" dirty="0">
                <a:solidFill>
                  <a:schemeClr val="tx1"/>
                </a:solidFill>
              </a:rPr>
              <a:t>Re-plan</a:t>
            </a:r>
            <a:endParaRPr lang="en-US" sz="1600" dirty="0"/>
          </a:p>
        </p:txBody>
      </p:sp>
      <p:sp>
        <p:nvSpPr>
          <p:cNvPr id="22" name="Major 4 text"/>
          <p:cNvSpPr txBox="1"/>
          <p:nvPr/>
        </p:nvSpPr>
        <p:spPr>
          <a:xfrm>
            <a:off x="640080" y="3657600"/>
            <a:ext cx="2331720" cy="822960"/>
          </a:xfrm>
          <a:prstGeom prst="rect">
            <a:avLst/>
          </a:prstGeom>
          <a:noFill/>
          <a:ln/>
        </p:spPr>
        <p:txBody>
          <a:bodyPr wrap="square" lIns="0" tIns="0" rIns="0" bIns="0" rtlCol="0" anchor="t"/>
          <a:lstStyle/>
          <a:p>
            <a:pPr marL="0" indent="0">
              <a:buNone/>
            </a:pPr>
            <a:r>
              <a:rPr lang="en-US" sz="1400" dirty="0">
                <a:solidFill>
                  <a:schemeClr val="tx1"/>
                </a:solidFill>
              </a:rPr>
              <a:t>Disruption alternatives, ranked; nothing changes until you confirm</a:t>
            </a:r>
            <a:endParaRPr lang="en-US" sz="1400" dirty="0"/>
          </a:p>
        </p:txBody>
      </p:sp>
      <p:sp>
        <p:nvSpPr>
          <p:cNvPr id="23" name="Major card 5"/>
          <p:cNvSpPr/>
          <p:nvPr/>
        </p:nvSpPr>
        <p:spPr>
          <a:xfrm>
            <a:off x="3246120" y="2880360"/>
            <a:ext cx="2651760" cy="1645920"/>
          </a:xfrm>
          <a:prstGeom prst="roundRect">
            <a:avLst>
              <a:gd name="adj" fmla="val 4444"/>
            </a:avLst>
          </a:prstGeom>
          <a:solidFill>
            <a:schemeClr val="bg2"/>
          </a:solidFill>
          <a:ln/>
        </p:spPr>
      </p:sp>
      <p:sp>
        <p:nvSpPr>
          <p:cNvPr id="24" name="Major 5 circle"/>
          <p:cNvSpPr/>
          <p:nvPr/>
        </p:nvSpPr>
        <p:spPr>
          <a:xfrm>
            <a:off x="3429000" y="3063240"/>
            <a:ext cx="457200" cy="457200"/>
          </a:xfrm>
          <a:prstGeom prst="ellipse">
            <a:avLst/>
          </a:prstGeom>
          <a:solidFill>
            <a:schemeClr val="accent1"/>
          </a:solidFill>
          <a:ln/>
        </p:spPr>
      </p:sp>
      <p:pic>
        <p:nvPicPr>
          <p:cNvPr id="25" name="Major 5 icon" descr="Major 5"/>
          <p:cNvPicPr>
            <a:picLocks noChangeAspect="1"/>
          </p:cNvPicPr>
          <p:nvPr/>
        </p:nvPicPr>
        <p:blipFill>
          <a:blip r:embed="rId7"/>
          <a:stretch>
            <a:fillRect/>
          </a:stretch>
        </p:blipFill>
        <p:spPr>
          <a:xfrm>
            <a:off x="3547872" y="3182112"/>
            <a:ext cx="219456" cy="219456"/>
          </a:xfrm>
          <a:prstGeom prst="rect">
            <a:avLst/>
          </a:prstGeom>
        </p:spPr>
      </p:pic>
      <p:sp>
        <p:nvSpPr>
          <p:cNvPr id="26" name="Major 5 title"/>
          <p:cNvSpPr txBox="1"/>
          <p:nvPr/>
        </p:nvSpPr>
        <p:spPr>
          <a:xfrm>
            <a:off x="4023360" y="3063240"/>
            <a:ext cx="1783080" cy="457200"/>
          </a:xfrm>
          <a:prstGeom prst="rect">
            <a:avLst/>
          </a:prstGeom>
          <a:noFill/>
          <a:ln/>
        </p:spPr>
        <p:txBody>
          <a:bodyPr wrap="square" lIns="0" tIns="0" rIns="0" bIns="0" rtlCol="0" anchor="ctr"/>
          <a:lstStyle/>
          <a:p>
            <a:pPr marL="0" indent="0">
              <a:buNone/>
            </a:pPr>
            <a:r>
              <a:rPr lang="en-US" sz="1600" b="1" dirty="0">
                <a:solidFill>
                  <a:schemeClr val="tx1"/>
                </a:solidFill>
              </a:rPr>
              <a:t>List and build trust</a:t>
            </a:r>
            <a:endParaRPr lang="en-US" sz="1600" dirty="0"/>
          </a:p>
        </p:txBody>
      </p:sp>
      <p:sp>
        <p:nvSpPr>
          <p:cNvPr id="27" name="Major 5 text"/>
          <p:cNvSpPr txBox="1"/>
          <p:nvPr/>
        </p:nvSpPr>
        <p:spPr>
          <a:xfrm>
            <a:off x="3429000" y="3657600"/>
            <a:ext cx="2331720" cy="822960"/>
          </a:xfrm>
          <a:prstGeom prst="rect">
            <a:avLst/>
          </a:prstGeom>
          <a:noFill/>
          <a:ln/>
        </p:spPr>
        <p:txBody>
          <a:bodyPr wrap="square" lIns="0" tIns="0" rIns="0" bIns="0" rtlCol="0" anchor="t"/>
          <a:lstStyle/>
          <a:p>
            <a:pPr marL="0" indent="0">
              <a:buNone/>
            </a:pPr>
            <a:r>
              <a:rPr lang="en-US" sz="1400" dirty="0">
                <a:solidFill>
                  <a:schemeClr val="tx1"/>
                </a:solidFill>
              </a:rPr>
              <a:t>Vessel and sailing listings; on-time record with trip counts</a:t>
            </a:r>
            <a:endParaRPr lang="en-US" sz="1400" dirty="0"/>
          </a:p>
        </p:txBody>
      </p:sp>
      <p:sp>
        <p:nvSpPr>
          <p:cNvPr id="28" name="Major card 6"/>
          <p:cNvSpPr/>
          <p:nvPr/>
        </p:nvSpPr>
        <p:spPr>
          <a:xfrm>
            <a:off x="6035040" y="2880360"/>
            <a:ext cx="2651760" cy="1645920"/>
          </a:xfrm>
          <a:prstGeom prst="roundRect">
            <a:avLst>
              <a:gd name="adj" fmla="val 4444"/>
            </a:avLst>
          </a:prstGeom>
          <a:solidFill>
            <a:schemeClr val="bg2"/>
          </a:solidFill>
          <a:ln/>
        </p:spPr>
      </p:sp>
      <p:sp>
        <p:nvSpPr>
          <p:cNvPr id="29" name="Major 6 circle"/>
          <p:cNvSpPr/>
          <p:nvPr/>
        </p:nvSpPr>
        <p:spPr>
          <a:xfrm>
            <a:off x="6217920" y="3063240"/>
            <a:ext cx="457200" cy="457200"/>
          </a:xfrm>
          <a:prstGeom prst="ellipse">
            <a:avLst/>
          </a:prstGeom>
          <a:solidFill>
            <a:schemeClr val="accent1"/>
          </a:solidFill>
          <a:ln/>
        </p:spPr>
      </p:sp>
      <p:pic>
        <p:nvPicPr>
          <p:cNvPr id="30" name="Major 6 icon" descr="Major 6"/>
          <p:cNvPicPr>
            <a:picLocks noChangeAspect="1"/>
          </p:cNvPicPr>
          <p:nvPr/>
        </p:nvPicPr>
        <p:blipFill>
          <a:blip r:embed="rId8"/>
          <a:stretch>
            <a:fillRect/>
          </a:stretch>
        </p:blipFill>
        <p:spPr>
          <a:xfrm>
            <a:off x="6336792" y="3182112"/>
            <a:ext cx="219456" cy="219456"/>
          </a:xfrm>
          <a:prstGeom prst="rect">
            <a:avLst/>
          </a:prstGeom>
        </p:spPr>
      </p:pic>
      <p:sp>
        <p:nvSpPr>
          <p:cNvPr id="31" name="Major 6 title"/>
          <p:cNvSpPr txBox="1"/>
          <p:nvPr/>
        </p:nvSpPr>
        <p:spPr>
          <a:xfrm>
            <a:off x="6812280" y="3063240"/>
            <a:ext cx="1783080" cy="457200"/>
          </a:xfrm>
          <a:prstGeom prst="rect">
            <a:avLst/>
          </a:prstGeom>
          <a:noFill/>
          <a:ln/>
        </p:spPr>
        <p:txBody>
          <a:bodyPr wrap="square" lIns="0" tIns="0" rIns="0" bIns="0" rtlCol="0" anchor="ctr"/>
          <a:lstStyle/>
          <a:p>
            <a:pPr marL="0" indent="0">
              <a:buNone/>
            </a:pPr>
            <a:r>
              <a:rPr lang="en-US" sz="1600" b="1" dirty="0">
                <a:solidFill>
                  <a:schemeClr val="tx1"/>
                </a:solidFill>
              </a:rPr>
              <a:t>Store and plan</a:t>
            </a:r>
            <a:endParaRPr lang="en-US" sz="1600" dirty="0"/>
          </a:p>
        </p:txBody>
      </p:sp>
      <p:sp>
        <p:nvSpPr>
          <p:cNvPr id="32" name="Major 6 text"/>
          <p:cNvSpPr txBox="1"/>
          <p:nvPr/>
        </p:nvSpPr>
        <p:spPr>
          <a:xfrm>
            <a:off x="6217920" y="3657600"/>
            <a:ext cx="2331720" cy="822960"/>
          </a:xfrm>
          <a:prstGeom prst="rect">
            <a:avLst/>
          </a:prstGeom>
          <a:noFill/>
          <a:ln/>
        </p:spPr>
        <p:txBody>
          <a:bodyPr wrap="square" lIns="0" tIns="0" rIns="0" bIns="0" rtlCol="0" anchor="t"/>
          <a:lstStyle/>
          <a:p>
            <a:pPr marL="0" indent="0">
              <a:buNone/>
            </a:pPr>
            <a:r>
              <a:rPr lang="en-US" sz="1400" dirty="0">
                <a:solidFill>
                  <a:schemeClr val="tx1"/>
                </a:solidFill>
              </a:rPr>
              <a:t>Warehouse staging and utilisation; planner views</a:t>
            </a:r>
            <a:endParaRPr lang="en-US" sz="1400" dirty="0"/>
          </a:p>
        </p:txBody>
      </p:sp>
      <p:sp>
        <p:nvSpPr>
          <p:cNvPr id="33"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Built for the brief</a:t>
            </a:r>
            <a:endParaRPr lang="en-US" sz="3200" dirty="0"/>
          </a:p>
        </p:txBody>
      </p:sp>
      <p:sp>
        <p:nvSpPr>
          <p:cNvPr id="3" name="Brief subtitle"/>
          <p:cNvSpPr txBox="1"/>
          <p:nvPr/>
        </p:nvSpPr>
        <p:spPr>
          <a:xfrm>
            <a:off x="457200" y="914400"/>
            <a:ext cx="8229600" cy="256032"/>
          </a:xfrm>
          <a:prstGeom prst="rect">
            <a:avLst/>
          </a:prstGeom>
          <a:noFill/>
          <a:ln/>
        </p:spPr>
        <p:txBody>
          <a:bodyPr wrap="square" lIns="0" tIns="0" rIns="0" bIns="0" rtlCol="0" anchor="t"/>
          <a:lstStyle/>
          <a:p>
            <a:pPr marL="0" indent="0">
              <a:buNone/>
            </a:pPr>
            <a:r>
              <a:rPr lang="en-US" sz="1400" dirty="0">
                <a:solidFill>
                  <a:schemeClr val="accent5"/>
                </a:solidFill>
              </a:rPr>
              <a:t>Major features: the five suggested in Challenge 7, all built</a:t>
            </a:r>
            <a:endParaRPr lang="en-US" sz="1400" dirty="0"/>
          </a:p>
        </p:txBody>
      </p:sp>
      <p:sp>
        <p:nvSpPr>
          <p:cNvPr id="4" name="Feature row 1"/>
          <p:cNvSpPr/>
          <p:nvPr/>
        </p:nvSpPr>
        <p:spPr>
          <a:xfrm>
            <a:off x="457200" y="1280160"/>
            <a:ext cx="8229600" cy="585216"/>
          </a:xfrm>
          <a:prstGeom prst="roundRect">
            <a:avLst>
              <a:gd name="adj" fmla="val 12500"/>
            </a:avLst>
          </a:prstGeom>
          <a:solidFill>
            <a:schemeClr val="bg2"/>
          </a:solidFill>
          <a:ln/>
        </p:spPr>
      </p:sp>
      <p:sp>
        <p:nvSpPr>
          <p:cNvPr id="5" name="Feature 1 circle"/>
          <p:cNvSpPr/>
          <p:nvPr/>
        </p:nvSpPr>
        <p:spPr>
          <a:xfrm>
            <a:off x="594360" y="1362456"/>
            <a:ext cx="420624" cy="420624"/>
          </a:xfrm>
          <a:prstGeom prst="ellipse">
            <a:avLst/>
          </a:prstGeom>
          <a:solidFill>
            <a:schemeClr val="accent1"/>
          </a:solidFill>
          <a:ln/>
        </p:spPr>
      </p:sp>
      <p:pic>
        <p:nvPicPr>
          <p:cNvPr id="6" name="Feature 1 icon" descr="Feature 1"/>
          <p:cNvPicPr>
            <a:picLocks noChangeAspect="1"/>
          </p:cNvPicPr>
          <p:nvPr/>
        </p:nvPicPr>
        <p:blipFill>
          <a:blip r:embed="rId3"/>
          <a:stretch>
            <a:fillRect/>
          </a:stretch>
        </p:blipFill>
        <p:spPr>
          <a:xfrm>
            <a:off x="703722" y="1471818"/>
            <a:ext cx="201900" cy="201900"/>
          </a:xfrm>
          <a:prstGeom prst="rect">
            <a:avLst/>
          </a:prstGeom>
        </p:spPr>
      </p:pic>
      <p:sp>
        <p:nvSpPr>
          <p:cNvPr id="7" name="Feature 1 name"/>
          <p:cNvSpPr txBox="1"/>
          <p:nvPr/>
        </p:nvSpPr>
        <p:spPr>
          <a:xfrm>
            <a:off x="1234440" y="1280160"/>
            <a:ext cx="2743200" cy="585216"/>
          </a:xfrm>
          <a:prstGeom prst="rect">
            <a:avLst/>
          </a:prstGeom>
          <a:noFill/>
          <a:ln/>
        </p:spPr>
        <p:txBody>
          <a:bodyPr wrap="square" lIns="0" tIns="0" rIns="0" bIns="0" rtlCol="0" anchor="ctr"/>
          <a:lstStyle/>
          <a:p>
            <a:pPr marL="0" indent="0">
              <a:buNone/>
            </a:pPr>
            <a:r>
              <a:rPr lang="en-US" sz="1600" b="1" dirty="0">
                <a:solidFill>
                  <a:schemeClr val="tx1"/>
                </a:solidFill>
              </a:rPr>
              <a:t>Cargo posting</a:t>
            </a:r>
            <a:endParaRPr lang="en-US" sz="1600" dirty="0"/>
          </a:p>
        </p:txBody>
      </p:sp>
      <p:sp>
        <p:nvSpPr>
          <p:cNvPr id="8" name="Feature 1 text"/>
          <p:cNvSpPr txBox="1"/>
          <p:nvPr/>
        </p:nvSpPr>
        <p:spPr>
          <a:xfrm>
            <a:off x="4069080" y="1280160"/>
            <a:ext cx="3154680" cy="585216"/>
          </a:xfrm>
          <a:prstGeom prst="rect">
            <a:avLst/>
          </a:prstGeom>
          <a:noFill/>
          <a:ln/>
        </p:spPr>
        <p:txBody>
          <a:bodyPr wrap="square" lIns="0" tIns="0" rIns="0" bIns="0" rtlCol="0" anchor="ctr"/>
          <a:lstStyle/>
          <a:p>
            <a:pPr marL="0" indent="0">
              <a:buNone/>
            </a:pPr>
            <a:r>
              <a:rPr lang="en-US" sz="1400" dirty="0">
                <a:solidFill>
                  <a:schemeClr val="tx1"/>
                </a:solidFill>
              </a:rPr>
              <a:t>Weight, route, hazard class; validated</a:t>
            </a:r>
            <a:endParaRPr lang="en-US" sz="1400" dirty="0"/>
          </a:p>
        </p:txBody>
      </p:sp>
      <p:sp>
        <p:nvSpPr>
          <p:cNvPr id="9" name="Feature 1 status"/>
          <p:cNvSpPr/>
          <p:nvPr/>
        </p:nvSpPr>
        <p:spPr>
          <a:xfrm>
            <a:off x="7315200" y="1435608"/>
            <a:ext cx="1280160" cy="274320"/>
          </a:xfrm>
          <a:prstGeom prst="roundRect">
            <a:avLst>
              <a:gd name="adj" fmla="val 20000"/>
            </a:avLst>
          </a:prstGeom>
          <a:solidFill>
            <a:schemeClr val="accent3"/>
          </a:solidFill>
          <a:ln/>
        </p:spPr>
      </p:sp>
      <p:sp>
        <p:nvSpPr>
          <p:cNvPr id="10" name="Feature 1 status text"/>
          <p:cNvSpPr txBox="1"/>
          <p:nvPr/>
        </p:nvSpPr>
        <p:spPr>
          <a:xfrm>
            <a:off x="7315200" y="1435608"/>
            <a:ext cx="1280160" cy="274320"/>
          </a:xfrm>
          <a:prstGeom prst="rect">
            <a:avLst/>
          </a:prstGeom>
          <a:noFill/>
          <a:ln/>
        </p:spPr>
        <p:txBody>
          <a:bodyPr wrap="square" lIns="0" tIns="0" rIns="0" bIns="0" rtlCol="0" anchor="ctr"/>
          <a:lstStyle/>
          <a:p>
            <a:pPr marL="0" indent="0" algn="ctr">
              <a:buNone/>
            </a:pPr>
            <a:r>
              <a:rPr lang="en-US" sz="1000" b="1" dirty="0">
                <a:solidFill>
                  <a:schemeClr val="bg1"/>
                </a:solidFill>
              </a:rPr>
              <a:t>BUILT AND TESTED</a:t>
            </a:r>
            <a:endParaRPr lang="en-US" sz="1000" dirty="0"/>
          </a:p>
        </p:txBody>
      </p:sp>
      <p:sp>
        <p:nvSpPr>
          <p:cNvPr id="11" name="Feature row 2"/>
          <p:cNvSpPr/>
          <p:nvPr/>
        </p:nvSpPr>
        <p:spPr>
          <a:xfrm>
            <a:off x="457200" y="1920240"/>
            <a:ext cx="8229600" cy="585216"/>
          </a:xfrm>
          <a:prstGeom prst="roundRect">
            <a:avLst>
              <a:gd name="adj" fmla="val 12500"/>
            </a:avLst>
          </a:prstGeom>
          <a:solidFill>
            <a:schemeClr val="bg2"/>
          </a:solidFill>
          <a:ln/>
        </p:spPr>
      </p:sp>
      <p:sp>
        <p:nvSpPr>
          <p:cNvPr id="12" name="Feature 2 circle"/>
          <p:cNvSpPr/>
          <p:nvPr/>
        </p:nvSpPr>
        <p:spPr>
          <a:xfrm>
            <a:off x="594360" y="2002536"/>
            <a:ext cx="420624" cy="420624"/>
          </a:xfrm>
          <a:prstGeom prst="ellipse">
            <a:avLst/>
          </a:prstGeom>
          <a:solidFill>
            <a:schemeClr val="accent1"/>
          </a:solidFill>
          <a:ln/>
        </p:spPr>
      </p:sp>
      <p:pic>
        <p:nvPicPr>
          <p:cNvPr id="13" name="Feature 2 icon" descr="Feature 2"/>
          <p:cNvPicPr>
            <a:picLocks noChangeAspect="1"/>
          </p:cNvPicPr>
          <p:nvPr/>
        </p:nvPicPr>
        <p:blipFill>
          <a:blip r:embed="rId4"/>
          <a:stretch>
            <a:fillRect/>
          </a:stretch>
        </p:blipFill>
        <p:spPr>
          <a:xfrm>
            <a:off x="703722" y="2111898"/>
            <a:ext cx="201900" cy="201900"/>
          </a:xfrm>
          <a:prstGeom prst="rect">
            <a:avLst/>
          </a:prstGeom>
        </p:spPr>
      </p:pic>
      <p:sp>
        <p:nvSpPr>
          <p:cNvPr id="14" name="Feature 2 name"/>
          <p:cNvSpPr txBox="1"/>
          <p:nvPr/>
        </p:nvSpPr>
        <p:spPr>
          <a:xfrm>
            <a:off x="1234440" y="1920240"/>
            <a:ext cx="2743200" cy="585216"/>
          </a:xfrm>
          <a:prstGeom prst="rect">
            <a:avLst/>
          </a:prstGeom>
          <a:noFill/>
          <a:ln/>
        </p:spPr>
        <p:txBody>
          <a:bodyPr wrap="square" lIns="0" tIns="0" rIns="0" bIns="0" rtlCol="0" anchor="ctr"/>
          <a:lstStyle/>
          <a:p>
            <a:pPr marL="0" indent="0">
              <a:buNone/>
            </a:pPr>
            <a:r>
              <a:rPr lang="en-US" sz="1600" b="1" dirty="0">
                <a:solidFill>
                  <a:schemeClr val="tx1"/>
                </a:solidFill>
              </a:rPr>
              <a:t>Boat availability listing</a:t>
            </a:r>
            <a:endParaRPr lang="en-US" sz="1600" dirty="0"/>
          </a:p>
        </p:txBody>
      </p:sp>
      <p:sp>
        <p:nvSpPr>
          <p:cNvPr id="15" name="Feature 2 text"/>
          <p:cNvSpPr txBox="1"/>
          <p:nvPr/>
        </p:nvSpPr>
        <p:spPr>
          <a:xfrm>
            <a:off x="4069080" y="1920240"/>
            <a:ext cx="3154680" cy="585216"/>
          </a:xfrm>
          <a:prstGeom prst="rect">
            <a:avLst/>
          </a:prstGeom>
          <a:noFill/>
          <a:ln/>
        </p:spPr>
        <p:txBody>
          <a:bodyPr wrap="square" lIns="0" tIns="0" rIns="0" bIns="0" rtlCol="0" anchor="ctr"/>
          <a:lstStyle/>
          <a:p>
            <a:pPr marL="0" indent="0">
              <a:buNone/>
            </a:pPr>
            <a:r>
              <a:rPr lang="en-US" sz="1400" dirty="0">
                <a:solidFill>
                  <a:schemeClr val="tx1"/>
                </a:solidFill>
              </a:rPr>
              <a:t>Register by form or message; publish sailings</a:t>
            </a:r>
            <a:endParaRPr lang="en-US" sz="1400" dirty="0"/>
          </a:p>
        </p:txBody>
      </p:sp>
      <p:sp>
        <p:nvSpPr>
          <p:cNvPr id="16" name="Feature 2 status"/>
          <p:cNvSpPr/>
          <p:nvPr/>
        </p:nvSpPr>
        <p:spPr>
          <a:xfrm>
            <a:off x="7315200" y="2075688"/>
            <a:ext cx="1280160" cy="274320"/>
          </a:xfrm>
          <a:prstGeom prst="roundRect">
            <a:avLst>
              <a:gd name="adj" fmla="val 20000"/>
            </a:avLst>
          </a:prstGeom>
          <a:solidFill>
            <a:schemeClr val="accent3"/>
          </a:solidFill>
          <a:ln/>
        </p:spPr>
      </p:sp>
      <p:sp>
        <p:nvSpPr>
          <p:cNvPr id="17" name="Feature 2 status text"/>
          <p:cNvSpPr txBox="1"/>
          <p:nvPr/>
        </p:nvSpPr>
        <p:spPr>
          <a:xfrm>
            <a:off x="7315200" y="2075688"/>
            <a:ext cx="1280160" cy="274320"/>
          </a:xfrm>
          <a:prstGeom prst="rect">
            <a:avLst/>
          </a:prstGeom>
          <a:noFill/>
          <a:ln/>
        </p:spPr>
        <p:txBody>
          <a:bodyPr wrap="square" lIns="0" tIns="0" rIns="0" bIns="0" rtlCol="0" anchor="ctr"/>
          <a:lstStyle/>
          <a:p>
            <a:pPr marL="0" indent="0" algn="ctr">
              <a:buNone/>
            </a:pPr>
            <a:r>
              <a:rPr lang="en-US" sz="1000" b="1" dirty="0">
                <a:solidFill>
                  <a:schemeClr val="bg1"/>
                </a:solidFill>
              </a:rPr>
              <a:t>BUILT AND TESTED</a:t>
            </a:r>
            <a:endParaRPr lang="en-US" sz="1000" dirty="0"/>
          </a:p>
        </p:txBody>
      </p:sp>
      <p:sp>
        <p:nvSpPr>
          <p:cNvPr id="18" name="Feature row 3"/>
          <p:cNvSpPr/>
          <p:nvPr/>
        </p:nvSpPr>
        <p:spPr>
          <a:xfrm>
            <a:off x="457200" y="2560320"/>
            <a:ext cx="8229600" cy="585216"/>
          </a:xfrm>
          <a:prstGeom prst="roundRect">
            <a:avLst>
              <a:gd name="adj" fmla="val 12500"/>
            </a:avLst>
          </a:prstGeom>
          <a:solidFill>
            <a:schemeClr val="bg2"/>
          </a:solidFill>
          <a:ln/>
        </p:spPr>
      </p:sp>
      <p:sp>
        <p:nvSpPr>
          <p:cNvPr id="19" name="Feature 3 circle"/>
          <p:cNvSpPr/>
          <p:nvPr/>
        </p:nvSpPr>
        <p:spPr>
          <a:xfrm>
            <a:off x="594360" y="2642616"/>
            <a:ext cx="420624" cy="420624"/>
          </a:xfrm>
          <a:prstGeom prst="ellipse">
            <a:avLst/>
          </a:prstGeom>
          <a:solidFill>
            <a:schemeClr val="accent1"/>
          </a:solidFill>
          <a:ln/>
        </p:spPr>
      </p:sp>
      <p:pic>
        <p:nvPicPr>
          <p:cNvPr id="20" name="Feature 3 icon" descr="Feature 3"/>
          <p:cNvPicPr>
            <a:picLocks noChangeAspect="1"/>
          </p:cNvPicPr>
          <p:nvPr/>
        </p:nvPicPr>
        <p:blipFill>
          <a:blip r:embed="rId5"/>
          <a:stretch>
            <a:fillRect/>
          </a:stretch>
        </p:blipFill>
        <p:spPr>
          <a:xfrm>
            <a:off x="703722" y="2751978"/>
            <a:ext cx="201900" cy="201900"/>
          </a:xfrm>
          <a:prstGeom prst="rect">
            <a:avLst/>
          </a:prstGeom>
        </p:spPr>
      </p:pic>
      <p:sp>
        <p:nvSpPr>
          <p:cNvPr id="21" name="Feature 3 name"/>
          <p:cNvSpPr txBox="1"/>
          <p:nvPr/>
        </p:nvSpPr>
        <p:spPr>
          <a:xfrm>
            <a:off x="1234440" y="2560320"/>
            <a:ext cx="2743200" cy="585216"/>
          </a:xfrm>
          <a:prstGeom prst="rect">
            <a:avLst/>
          </a:prstGeom>
          <a:noFill/>
          <a:ln/>
        </p:spPr>
        <p:txBody>
          <a:bodyPr wrap="square" lIns="0" tIns="0" rIns="0" bIns="0" rtlCol="0" anchor="ctr"/>
          <a:lstStyle/>
          <a:p>
            <a:pPr marL="0" indent="0">
              <a:buNone/>
            </a:pPr>
            <a:r>
              <a:rPr lang="en-US" sz="1600" b="1" dirty="0">
                <a:solidFill>
                  <a:schemeClr val="tx1"/>
                </a:solidFill>
              </a:rPr>
              <a:t>Matching recommendations</a:t>
            </a:r>
            <a:endParaRPr lang="en-US" sz="1600" dirty="0"/>
          </a:p>
        </p:txBody>
      </p:sp>
      <p:sp>
        <p:nvSpPr>
          <p:cNvPr id="22" name="Feature 3 text"/>
          <p:cNvSpPr txBox="1"/>
          <p:nvPr/>
        </p:nvSpPr>
        <p:spPr>
          <a:xfrm>
            <a:off x="4069080" y="2560320"/>
            <a:ext cx="3154680" cy="585216"/>
          </a:xfrm>
          <a:prstGeom prst="rect">
            <a:avLst/>
          </a:prstGeom>
          <a:noFill/>
          <a:ln/>
        </p:spPr>
        <p:txBody>
          <a:bodyPr wrap="square" lIns="0" tIns="0" rIns="0" bIns="0" rtlCol="0" anchor="ctr"/>
          <a:lstStyle/>
          <a:p>
            <a:pPr marL="0" indent="0">
              <a:buNone/>
            </a:pPr>
            <a:r>
              <a:rPr lang="en-US" sz="1400" dirty="0">
                <a:solidFill>
                  <a:schemeClr val="tx1"/>
                </a:solidFill>
              </a:rPr>
              <a:t>Ranked sailings; exclusions explained</a:t>
            </a:r>
            <a:endParaRPr lang="en-US" sz="1400" dirty="0"/>
          </a:p>
        </p:txBody>
      </p:sp>
      <p:sp>
        <p:nvSpPr>
          <p:cNvPr id="23" name="Feature 3 status"/>
          <p:cNvSpPr/>
          <p:nvPr/>
        </p:nvSpPr>
        <p:spPr>
          <a:xfrm>
            <a:off x="7315200" y="2715768"/>
            <a:ext cx="1280160" cy="274320"/>
          </a:xfrm>
          <a:prstGeom prst="roundRect">
            <a:avLst>
              <a:gd name="adj" fmla="val 20000"/>
            </a:avLst>
          </a:prstGeom>
          <a:solidFill>
            <a:schemeClr val="accent3"/>
          </a:solidFill>
          <a:ln/>
        </p:spPr>
      </p:sp>
      <p:sp>
        <p:nvSpPr>
          <p:cNvPr id="24" name="Feature 3 status text"/>
          <p:cNvSpPr txBox="1"/>
          <p:nvPr/>
        </p:nvSpPr>
        <p:spPr>
          <a:xfrm>
            <a:off x="7315200" y="2715768"/>
            <a:ext cx="1280160" cy="274320"/>
          </a:xfrm>
          <a:prstGeom prst="rect">
            <a:avLst/>
          </a:prstGeom>
          <a:noFill/>
          <a:ln/>
        </p:spPr>
        <p:txBody>
          <a:bodyPr wrap="square" lIns="0" tIns="0" rIns="0" bIns="0" rtlCol="0" anchor="ctr"/>
          <a:lstStyle/>
          <a:p>
            <a:pPr marL="0" indent="0" algn="ctr">
              <a:buNone/>
            </a:pPr>
            <a:r>
              <a:rPr lang="en-US" sz="1000" b="1" dirty="0">
                <a:solidFill>
                  <a:schemeClr val="bg1"/>
                </a:solidFill>
              </a:rPr>
              <a:t>BUILT AND TESTED</a:t>
            </a:r>
            <a:endParaRPr lang="en-US" sz="1000" dirty="0"/>
          </a:p>
        </p:txBody>
      </p:sp>
      <p:sp>
        <p:nvSpPr>
          <p:cNvPr id="25" name="Feature row 4"/>
          <p:cNvSpPr/>
          <p:nvPr/>
        </p:nvSpPr>
        <p:spPr>
          <a:xfrm>
            <a:off x="457200" y="3200400"/>
            <a:ext cx="8229600" cy="585216"/>
          </a:xfrm>
          <a:prstGeom prst="roundRect">
            <a:avLst>
              <a:gd name="adj" fmla="val 12500"/>
            </a:avLst>
          </a:prstGeom>
          <a:solidFill>
            <a:schemeClr val="bg2"/>
          </a:solidFill>
          <a:ln/>
        </p:spPr>
      </p:sp>
      <p:sp>
        <p:nvSpPr>
          <p:cNvPr id="26" name="Feature 4 circle"/>
          <p:cNvSpPr/>
          <p:nvPr/>
        </p:nvSpPr>
        <p:spPr>
          <a:xfrm>
            <a:off x="594360" y="3282696"/>
            <a:ext cx="420624" cy="420624"/>
          </a:xfrm>
          <a:prstGeom prst="ellipse">
            <a:avLst/>
          </a:prstGeom>
          <a:solidFill>
            <a:schemeClr val="accent1"/>
          </a:solidFill>
          <a:ln/>
        </p:spPr>
      </p:sp>
      <p:pic>
        <p:nvPicPr>
          <p:cNvPr id="27" name="Feature 4 icon" descr="Feature 4"/>
          <p:cNvPicPr>
            <a:picLocks noChangeAspect="1"/>
          </p:cNvPicPr>
          <p:nvPr/>
        </p:nvPicPr>
        <p:blipFill>
          <a:blip r:embed="rId6"/>
          <a:stretch>
            <a:fillRect/>
          </a:stretch>
        </p:blipFill>
        <p:spPr>
          <a:xfrm>
            <a:off x="703722" y="3392058"/>
            <a:ext cx="201900" cy="201900"/>
          </a:xfrm>
          <a:prstGeom prst="rect">
            <a:avLst/>
          </a:prstGeom>
        </p:spPr>
      </p:pic>
      <p:sp>
        <p:nvSpPr>
          <p:cNvPr id="28" name="Feature 4 name"/>
          <p:cNvSpPr txBox="1"/>
          <p:nvPr/>
        </p:nvSpPr>
        <p:spPr>
          <a:xfrm>
            <a:off x="1234440" y="3200400"/>
            <a:ext cx="2743200" cy="585216"/>
          </a:xfrm>
          <a:prstGeom prst="rect">
            <a:avLst/>
          </a:prstGeom>
          <a:noFill/>
          <a:ln/>
        </p:spPr>
        <p:txBody>
          <a:bodyPr wrap="square" lIns="0" tIns="0" rIns="0" bIns="0" rtlCol="0" anchor="ctr"/>
          <a:lstStyle/>
          <a:p>
            <a:pPr marL="0" indent="0">
              <a:buNone/>
            </a:pPr>
            <a:r>
              <a:rPr lang="en-US" sz="1600" b="1" dirty="0">
                <a:solidFill>
                  <a:schemeClr val="tx1"/>
                </a:solidFill>
              </a:rPr>
              <a:t>Schedule planning</a:t>
            </a:r>
            <a:endParaRPr lang="en-US" sz="1600" dirty="0"/>
          </a:p>
        </p:txBody>
      </p:sp>
      <p:sp>
        <p:nvSpPr>
          <p:cNvPr id="29" name="Feature 4 text"/>
          <p:cNvSpPr txBox="1"/>
          <p:nvPr/>
        </p:nvSpPr>
        <p:spPr>
          <a:xfrm>
            <a:off x="4069080" y="3200400"/>
            <a:ext cx="3154680" cy="585216"/>
          </a:xfrm>
          <a:prstGeom prst="rect">
            <a:avLst/>
          </a:prstGeom>
          <a:noFill/>
          <a:ln/>
        </p:spPr>
        <p:txBody>
          <a:bodyPr wrap="square" lIns="0" tIns="0" rIns="0" bIns="0" rtlCol="0" anchor="ctr"/>
          <a:lstStyle/>
          <a:p>
            <a:pPr marL="0" indent="0">
              <a:buNone/>
            </a:pPr>
            <a:r>
              <a:rPr lang="en-US" sz="1400" dirty="0">
                <a:solidFill>
                  <a:schemeClr val="tx1"/>
                </a:solidFill>
              </a:rPr>
              <a:t>Sailing times; simulated milestone timeline</a:t>
            </a:r>
            <a:endParaRPr lang="en-US" sz="1400" dirty="0"/>
          </a:p>
        </p:txBody>
      </p:sp>
      <p:sp>
        <p:nvSpPr>
          <p:cNvPr id="30" name="Feature 4 status"/>
          <p:cNvSpPr/>
          <p:nvPr/>
        </p:nvSpPr>
        <p:spPr>
          <a:xfrm>
            <a:off x="7315200" y="3355848"/>
            <a:ext cx="1280160" cy="274320"/>
          </a:xfrm>
          <a:prstGeom prst="roundRect">
            <a:avLst>
              <a:gd name="adj" fmla="val 20000"/>
            </a:avLst>
          </a:prstGeom>
          <a:solidFill>
            <a:schemeClr val="accent2"/>
          </a:solidFill>
          <a:ln/>
        </p:spPr>
      </p:sp>
      <p:sp>
        <p:nvSpPr>
          <p:cNvPr id="31" name="Feature 4 status text"/>
          <p:cNvSpPr txBox="1"/>
          <p:nvPr/>
        </p:nvSpPr>
        <p:spPr>
          <a:xfrm>
            <a:off x="7315200" y="3355848"/>
            <a:ext cx="1280160" cy="274320"/>
          </a:xfrm>
          <a:prstGeom prst="rect">
            <a:avLst/>
          </a:prstGeom>
          <a:noFill/>
          <a:ln/>
        </p:spPr>
        <p:txBody>
          <a:bodyPr wrap="square" lIns="0" tIns="0" rIns="0" bIns="0" rtlCol="0" anchor="ctr"/>
          <a:lstStyle/>
          <a:p>
            <a:pPr marL="0" indent="0" algn="ctr">
              <a:buNone/>
            </a:pPr>
            <a:r>
              <a:rPr lang="en-US" sz="1000" b="1" dirty="0">
                <a:solidFill>
                  <a:schemeClr val="tx1"/>
                </a:solidFill>
              </a:rPr>
              <a:t>BUILT, MOCKED</a:t>
            </a:r>
            <a:endParaRPr lang="en-US" sz="1000" dirty="0"/>
          </a:p>
        </p:txBody>
      </p:sp>
      <p:sp>
        <p:nvSpPr>
          <p:cNvPr id="32" name="Feature row 5"/>
          <p:cNvSpPr/>
          <p:nvPr/>
        </p:nvSpPr>
        <p:spPr>
          <a:xfrm>
            <a:off x="457200" y="3840480"/>
            <a:ext cx="8229600" cy="585216"/>
          </a:xfrm>
          <a:prstGeom prst="roundRect">
            <a:avLst>
              <a:gd name="adj" fmla="val 12500"/>
            </a:avLst>
          </a:prstGeom>
          <a:solidFill>
            <a:schemeClr val="bg2"/>
          </a:solidFill>
          <a:ln/>
        </p:spPr>
      </p:sp>
      <p:sp>
        <p:nvSpPr>
          <p:cNvPr id="33" name="Feature 5 circle"/>
          <p:cNvSpPr/>
          <p:nvPr/>
        </p:nvSpPr>
        <p:spPr>
          <a:xfrm>
            <a:off x="594360" y="3922776"/>
            <a:ext cx="420624" cy="420624"/>
          </a:xfrm>
          <a:prstGeom prst="ellipse">
            <a:avLst/>
          </a:prstGeom>
          <a:solidFill>
            <a:schemeClr val="accent1"/>
          </a:solidFill>
          <a:ln/>
        </p:spPr>
      </p:sp>
      <p:pic>
        <p:nvPicPr>
          <p:cNvPr id="34" name="Feature 5 icon" descr="Feature 5"/>
          <p:cNvPicPr>
            <a:picLocks noChangeAspect="1"/>
          </p:cNvPicPr>
          <p:nvPr/>
        </p:nvPicPr>
        <p:blipFill>
          <a:blip r:embed="rId7"/>
          <a:stretch>
            <a:fillRect/>
          </a:stretch>
        </p:blipFill>
        <p:spPr>
          <a:xfrm>
            <a:off x="703722" y="4032138"/>
            <a:ext cx="201900" cy="201900"/>
          </a:xfrm>
          <a:prstGeom prst="rect">
            <a:avLst/>
          </a:prstGeom>
        </p:spPr>
      </p:pic>
      <p:sp>
        <p:nvSpPr>
          <p:cNvPr id="35" name="Feature 5 name"/>
          <p:cNvSpPr txBox="1"/>
          <p:nvPr/>
        </p:nvSpPr>
        <p:spPr>
          <a:xfrm>
            <a:off x="1234440" y="3840480"/>
            <a:ext cx="2743200" cy="585216"/>
          </a:xfrm>
          <a:prstGeom prst="rect">
            <a:avLst/>
          </a:prstGeom>
          <a:noFill/>
          <a:ln/>
        </p:spPr>
        <p:txBody>
          <a:bodyPr wrap="square" lIns="0" tIns="0" rIns="0" bIns="0" rtlCol="0" anchor="ctr"/>
          <a:lstStyle/>
          <a:p>
            <a:pPr marL="0" indent="0">
              <a:buNone/>
            </a:pPr>
            <a:r>
              <a:rPr lang="en-US" sz="1600" b="1" dirty="0">
                <a:solidFill>
                  <a:schemeClr val="tx1"/>
                </a:solidFill>
              </a:rPr>
              <a:t>Cost comparison</a:t>
            </a:r>
            <a:endParaRPr lang="en-US" sz="1600" dirty="0"/>
          </a:p>
        </p:txBody>
      </p:sp>
      <p:sp>
        <p:nvSpPr>
          <p:cNvPr id="36" name="Feature 5 text"/>
          <p:cNvSpPr txBox="1"/>
          <p:nvPr/>
        </p:nvSpPr>
        <p:spPr>
          <a:xfrm>
            <a:off x="4069080" y="3840480"/>
            <a:ext cx="3154680" cy="585216"/>
          </a:xfrm>
          <a:prstGeom prst="rect">
            <a:avLst/>
          </a:prstGeom>
          <a:noFill/>
          <a:ln/>
        </p:spPr>
        <p:txBody>
          <a:bodyPr wrap="square" lIns="0" tIns="0" rIns="0" bIns="0" rtlCol="0" anchor="ctr"/>
          <a:lstStyle/>
          <a:p>
            <a:pPr marL="0" indent="0">
              <a:buNone/>
            </a:pPr>
            <a:r>
              <a:rPr lang="en-US" sz="1400" dirty="0">
                <a:solidFill>
                  <a:schemeClr val="tx1"/>
                </a:solidFill>
              </a:rPr>
              <a:t>Road vs hybrid: cost, time, CO₂, reliability</a:t>
            </a:r>
            <a:endParaRPr lang="en-US" sz="1400" dirty="0"/>
          </a:p>
        </p:txBody>
      </p:sp>
      <p:sp>
        <p:nvSpPr>
          <p:cNvPr id="37" name="Feature 5 status"/>
          <p:cNvSpPr/>
          <p:nvPr/>
        </p:nvSpPr>
        <p:spPr>
          <a:xfrm>
            <a:off x="7315200" y="3995928"/>
            <a:ext cx="1280160" cy="274320"/>
          </a:xfrm>
          <a:prstGeom prst="roundRect">
            <a:avLst>
              <a:gd name="adj" fmla="val 20000"/>
            </a:avLst>
          </a:prstGeom>
          <a:solidFill>
            <a:schemeClr val="accent3"/>
          </a:solidFill>
          <a:ln/>
        </p:spPr>
      </p:sp>
      <p:sp>
        <p:nvSpPr>
          <p:cNvPr id="38" name="Feature 5 status text"/>
          <p:cNvSpPr txBox="1"/>
          <p:nvPr/>
        </p:nvSpPr>
        <p:spPr>
          <a:xfrm>
            <a:off x="7315200" y="3995928"/>
            <a:ext cx="1280160" cy="274320"/>
          </a:xfrm>
          <a:prstGeom prst="rect">
            <a:avLst/>
          </a:prstGeom>
          <a:noFill/>
          <a:ln/>
        </p:spPr>
        <p:txBody>
          <a:bodyPr wrap="square" lIns="0" tIns="0" rIns="0" bIns="0" rtlCol="0" anchor="ctr"/>
          <a:lstStyle/>
          <a:p>
            <a:pPr marL="0" indent="0" algn="ctr">
              <a:buNone/>
            </a:pPr>
            <a:r>
              <a:rPr lang="en-US" sz="1000" b="1" dirty="0">
                <a:solidFill>
                  <a:schemeClr val="bg1"/>
                </a:solidFill>
              </a:rPr>
              <a:t>BUILT AND TESTED</a:t>
            </a:r>
            <a:endParaRPr lang="en-US" sz="1000" dirty="0"/>
          </a:p>
        </p:txBody>
      </p:sp>
      <p:sp>
        <p:nvSpPr>
          <p:cNvPr id="39"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Functions: shipper</a:t>
            </a:r>
            <a:endParaRPr lang="en-US" sz="3200" dirty="0"/>
          </a:p>
        </p:txBody>
      </p:sp>
      <p:sp>
        <p:nvSpPr>
          <p:cNvPr id="3" name="Ship fn 1 circle"/>
          <p:cNvSpPr/>
          <p:nvPr/>
        </p:nvSpPr>
        <p:spPr>
          <a:xfrm>
            <a:off x="457200" y="1152144"/>
            <a:ext cx="292608" cy="292608"/>
          </a:xfrm>
          <a:prstGeom prst="ellipse">
            <a:avLst/>
          </a:prstGeom>
          <a:solidFill>
            <a:schemeClr val="accent1"/>
          </a:solidFill>
          <a:ln/>
        </p:spPr>
      </p:sp>
      <p:sp>
        <p:nvSpPr>
          <p:cNvPr id="4" name="Ship fn 1 num"/>
          <p:cNvSpPr txBox="1"/>
          <p:nvPr/>
        </p:nvSpPr>
        <p:spPr>
          <a:xfrm>
            <a:off x="457200" y="1152144"/>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5" name="Ship fn 1"/>
          <p:cNvSpPr txBox="1"/>
          <p:nvPr/>
        </p:nvSpPr>
        <p:spPr>
          <a:xfrm>
            <a:off x="868680" y="1097280"/>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Compare options</a:t>
            </a:r>
            <a:r>
              <a:rPr lang="en-US" sz="1300" dirty="0">
                <a:solidFill>
                  <a:schemeClr val="accent5"/>
                </a:solidFill>
              </a:rPr>
              <a:t>  road vs hybrid, with a reason</a:t>
            </a:r>
            <a:endParaRPr lang="en-US" sz="1400" dirty="0"/>
          </a:p>
        </p:txBody>
      </p:sp>
      <p:sp>
        <p:nvSpPr>
          <p:cNvPr id="6" name="Ship fn 2 circle"/>
          <p:cNvSpPr/>
          <p:nvPr/>
        </p:nvSpPr>
        <p:spPr>
          <a:xfrm>
            <a:off x="457200" y="1581912"/>
            <a:ext cx="292608" cy="292608"/>
          </a:xfrm>
          <a:prstGeom prst="ellipse">
            <a:avLst/>
          </a:prstGeom>
          <a:solidFill>
            <a:schemeClr val="accent1"/>
          </a:solidFill>
          <a:ln/>
        </p:spPr>
      </p:sp>
      <p:sp>
        <p:nvSpPr>
          <p:cNvPr id="7" name="Ship fn 2 num"/>
          <p:cNvSpPr txBox="1"/>
          <p:nvPr/>
        </p:nvSpPr>
        <p:spPr>
          <a:xfrm>
            <a:off x="457200" y="1581912"/>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8" name="Ship fn 2"/>
          <p:cNvSpPr txBox="1"/>
          <p:nvPr/>
        </p:nvSpPr>
        <p:spPr>
          <a:xfrm>
            <a:off x="868680" y="1527048"/>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Post cargo</a:t>
            </a:r>
            <a:r>
              <a:rPr lang="en-US" sz="1300" dirty="0">
                <a:solidFill>
                  <a:schemeClr val="accent5"/>
                </a:solidFill>
              </a:rPr>
              <a:t>  hazard class and warning banner</a:t>
            </a:r>
            <a:endParaRPr lang="en-US" sz="1400" dirty="0"/>
          </a:p>
        </p:txBody>
      </p:sp>
      <p:sp>
        <p:nvSpPr>
          <p:cNvPr id="9" name="Ship fn 3 circle"/>
          <p:cNvSpPr/>
          <p:nvPr/>
        </p:nvSpPr>
        <p:spPr>
          <a:xfrm>
            <a:off x="457200" y="2011680"/>
            <a:ext cx="292608" cy="292608"/>
          </a:xfrm>
          <a:prstGeom prst="ellipse">
            <a:avLst/>
          </a:prstGeom>
          <a:solidFill>
            <a:schemeClr val="accent1"/>
          </a:solidFill>
          <a:ln/>
        </p:spPr>
      </p:sp>
      <p:sp>
        <p:nvSpPr>
          <p:cNvPr id="10" name="Ship fn 3 num"/>
          <p:cNvSpPr txBox="1"/>
          <p:nvPr/>
        </p:nvSpPr>
        <p:spPr>
          <a:xfrm>
            <a:off x="457200" y="2011680"/>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1" name="Ship fn 3"/>
          <p:cNvSpPr txBox="1"/>
          <p:nvPr/>
        </p:nvSpPr>
        <p:spPr>
          <a:xfrm>
            <a:off x="868680" y="1956816"/>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Matches</a:t>
            </a:r>
            <a:r>
              <a:rPr lang="en-US" sz="1300" dirty="0">
                <a:solidFill>
                  <a:schemeClr val="accent5"/>
                </a:solidFill>
              </a:rPr>
              <a:t>  ranked sailings; exclusions explained</a:t>
            </a:r>
            <a:endParaRPr lang="en-US" sz="1400" dirty="0"/>
          </a:p>
        </p:txBody>
      </p:sp>
      <p:sp>
        <p:nvSpPr>
          <p:cNvPr id="12" name="Ship fn 4 circle"/>
          <p:cNvSpPr/>
          <p:nvPr/>
        </p:nvSpPr>
        <p:spPr>
          <a:xfrm>
            <a:off x="457200" y="2441448"/>
            <a:ext cx="292608" cy="292608"/>
          </a:xfrm>
          <a:prstGeom prst="ellipse">
            <a:avLst/>
          </a:prstGeom>
          <a:solidFill>
            <a:schemeClr val="accent1"/>
          </a:solidFill>
          <a:ln/>
        </p:spPr>
      </p:sp>
      <p:sp>
        <p:nvSpPr>
          <p:cNvPr id="13" name="Ship fn 4 num"/>
          <p:cNvSpPr txBox="1"/>
          <p:nvPr/>
        </p:nvSpPr>
        <p:spPr>
          <a:xfrm>
            <a:off x="457200" y="2441448"/>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4" name="Ship fn 4"/>
          <p:cNvSpPr txBox="1"/>
          <p:nvPr/>
        </p:nvSpPr>
        <p:spPr>
          <a:xfrm>
            <a:off x="868680" y="2386584"/>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Warehouse staging</a:t>
            </a:r>
            <a:r>
              <a:rPr lang="en-US" sz="1300" dirty="0">
                <a:solidFill>
                  <a:schemeClr val="accent5"/>
                </a:solidFill>
              </a:rPr>
              <a:t>  itemised plan for long waits</a:t>
            </a:r>
            <a:endParaRPr lang="en-US" sz="1400" dirty="0"/>
          </a:p>
        </p:txBody>
      </p:sp>
      <p:sp>
        <p:nvSpPr>
          <p:cNvPr id="15" name="Ship fn 5 circle"/>
          <p:cNvSpPr/>
          <p:nvPr/>
        </p:nvSpPr>
        <p:spPr>
          <a:xfrm>
            <a:off x="457200" y="2871216"/>
            <a:ext cx="292608" cy="292608"/>
          </a:xfrm>
          <a:prstGeom prst="ellipse">
            <a:avLst/>
          </a:prstGeom>
          <a:solidFill>
            <a:schemeClr val="accent1"/>
          </a:solidFill>
          <a:ln/>
        </p:spPr>
      </p:sp>
      <p:sp>
        <p:nvSpPr>
          <p:cNvPr id="16" name="Ship fn 5 num"/>
          <p:cNvSpPr txBox="1"/>
          <p:nvPr/>
        </p:nvSpPr>
        <p:spPr>
          <a:xfrm>
            <a:off x="457200" y="2871216"/>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17" name="Ship fn 5"/>
          <p:cNvSpPr txBox="1"/>
          <p:nvPr/>
        </p:nvSpPr>
        <p:spPr>
          <a:xfrm>
            <a:off x="868680" y="2816352"/>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Confirm</a:t>
            </a:r>
            <a:r>
              <a:rPr lang="en-US" sz="1300" dirty="0">
                <a:solidFill>
                  <a:schemeClr val="accent5"/>
                </a:solidFill>
              </a:rPr>
              <a:t>  two-step booking; hazard review</a:t>
            </a:r>
            <a:endParaRPr lang="en-US" sz="1400" dirty="0"/>
          </a:p>
        </p:txBody>
      </p:sp>
      <p:sp>
        <p:nvSpPr>
          <p:cNvPr id="18" name="Ship fn 6 circle"/>
          <p:cNvSpPr/>
          <p:nvPr/>
        </p:nvSpPr>
        <p:spPr>
          <a:xfrm>
            <a:off x="457200" y="3300984"/>
            <a:ext cx="292608" cy="292608"/>
          </a:xfrm>
          <a:prstGeom prst="ellipse">
            <a:avLst/>
          </a:prstGeom>
          <a:solidFill>
            <a:schemeClr val="accent1"/>
          </a:solidFill>
          <a:ln/>
        </p:spPr>
      </p:sp>
      <p:sp>
        <p:nvSpPr>
          <p:cNvPr id="19" name="Ship fn 6 num"/>
          <p:cNvSpPr txBox="1"/>
          <p:nvPr/>
        </p:nvSpPr>
        <p:spPr>
          <a:xfrm>
            <a:off x="457200" y="3300984"/>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20" name="Ship fn 6"/>
          <p:cNvSpPr txBox="1"/>
          <p:nvPr/>
        </p:nvSpPr>
        <p:spPr>
          <a:xfrm>
            <a:off x="868680" y="3246120"/>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My shipments</a:t>
            </a:r>
            <a:r>
              <a:rPr lang="en-US" sz="1300" dirty="0">
                <a:solidFill>
                  <a:schemeClr val="accent5"/>
                </a:solidFill>
              </a:rPr>
              <a:t>  timeline; mark delivered</a:t>
            </a:r>
            <a:endParaRPr lang="en-US" sz="1400" dirty="0"/>
          </a:p>
        </p:txBody>
      </p:sp>
      <p:sp>
        <p:nvSpPr>
          <p:cNvPr id="21" name="Ship fn 7 circle"/>
          <p:cNvSpPr/>
          <p:nvPr/>
        </p:nvSpPr>
        <p:spPr>
          <a:xfrm>
            <a:off x="457200" y="3730752"/>
            <a:ext cx="292608" cy="292608"/>
          </a:xfrm>
          <a:prstGeom prst="ellipse">
            <a:avLst/>
          </a:prstGeom>
          <a:solidFill>
            <a:schemeClr val="accent1"/>
          </a:solidFill>
          <a:ln/>
        </p:spPr>
      </p:sp>
      <p:sp>
        <p:nvSpPr>
          <p:cNvPr id="22" name="Ship fn 7 num"/>
          <p:cNvSpPr txBox="1"/>
          <p:nvPr/>
        </p:nvSpPr>
        <p:spPr>
          <a:xfrm>
            <a:off x="457200" y="3730752"/>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7</a:t>
            </a:r>
            <a:endParaRPr lang="en-US" sz="1200" dirty="0"/>
          </a:p>
        </p:txBody>
      </p:sp>
      <p:sp>
        <p:nvSpPr>
          <p:cNvPr id="23" name="Ship fn 7"/>
          <p:cNvSpPr txBox="1"/>
          <p:nvPr/>
        </p:nvSpPr>
        <p:spPr>
          <a:xfrm>
            <a:off x="868680" y="3675888"/>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Simulate disruption</a:t>
            </a:r>
            <a:r>
              <a:rPr lang="en-US" sz="1300" dirty="0">
                <a:solidFill>
                  <a:schemeClr val="accent5"/>
                </a:solidFill>
              </a:rPr>
              <a:t>  ranked alternatives, explicit confirm</a:t>
            </a:r>
            <a:endParaRPr lang="en-US" sz="1400" dirty="0"/>
          </a:p>
        </p:txBody>
      </p:sp>
      <p:sp>
        <p:nvSpPr>
          <p:cNvPr id="24" name="Ship fn 8 circle"/>
          <p:cNvSpPr/>
          <p:nvPr/>
        </p:nvSpPr>
        <p:spPr>
          <a:xfrm>
            <a:off x="457200" y="4160520"/>
            <a:ext cx="292608" cy="292608"/>
          </a:xfrm>
          <a:prstGeom prst="ellipse">
            <a:avLst/>
          </a:prstGeom>
          <a:solidFill>
            <a:schemeClr val="accent1"/>
          </a:solidFill>
          <a:ln/>
        </p:spPr>
      </p:sp>
      <p:sp>
        <p:nvSpPr>
          <p:cNvPr id="25" name="Ship fn 8 num"/>
          <p:cNvSpPr txBox="1"/>
          <p:nvPr/>
        </p:nvSpPr>
        <p:spPr>
          <a:xfrm>
            <a:off x="457200" y="4160520"/>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8</a:t>
            </a:r>
            <a:endParaRPr lang="en-US" sz="1200" dirty="0"/>
          </a:p>
        </p:txBody>
      </p:sp>
      <p:sp>
        <p:nvSpPr>
          <p:cNvPr id="26" name="Ship fn 8"/>
          <p:cNvSpPr txBox="1"/>
          <p:nvPr/>
        </p:nvSpPr>
        <p:spPr>
          <a:xfrm>
            <a:off x="868680" y="4105656"/>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Plain-language intake</a:t>
            </a:r>
            <a:r>
              <a:rPr lang="en-US" sz="1300" dirty="0">
                <a:solidFill>
                  <a:schemeClr val="accent5"/>
                </a:solidFill>
              </a:rPr>
              <a:t>  simulated chat; English only</a:t>
            </a:r>
            <a:endParaRPr lang="en-US" sz="1400" dirty="0"/>
          </a:p>
        </p:txBody>
      </p:sp>
      <p:pic>
        <p:nvPicPr>
          <p:cNvPr id="27" name="Shipper screen: post cargo" descr="Post cargo screen with the compliance review banner for flammable cargo"/>
          <p:cNvPicPr>
            <a:picLocks noChangeAspect="1"/>
          </p:cNvPicPr>
          <p:nvPr/>
        </p:nvPicPr>
        <p:blipFill>
          <a:blip r:embed="rId3"/>
          <a:stretch>
            <a:fillRect/>
          </a:stretch>
        </p:blipFill>
        <p:spPr>
          <a:xfrm>
            <a:off x="5394960" y="1097280"/>
            <a:ext cx="3291840" cy="1627001"/>
          </a:xfrm>
          <a:prstGeom prst="rect">
            <a:avLst/>
          </a:prstGeom>
          <a:effectLst>
            <a:outerShdw blurRad="101600" dist="25400" dir="5400000" algn="bl" rotWithShape="0">
              <a:srgbClr val="000000">
                <a:alpha val="14000"/>
              </a:srgbClr>
            </a:outerShdw>
          </a:effectLst>
        </p:spPr>
      </p:pic>
      <p:pic>
        <p:nvPicPr>
          <p:cNvPr id="28" name="Shipper screen: matches" descr="Matches screen: no certified vessel, with exclusion reasons"/>
          <p:cNvPicPr>
            <a:picLocks noChangeAspect="1"/>
          </p:cNvPicPr>
          <p:nvPr/>
        </p:nvPicPr>
        <p:blipFill>
          <a:blip r:embed="rId4"/>
          <a:stretch>
            <a:fillRect/>
          </a:stretch>
        </p:blipFill>
        <p:spPr>
          <a:xfrm>
            <a:off x="5394960" y="2861441"/>
            <a:ext cx="3291840" cy="1740513"/>
          </a:xfrm>
          <a:prstGeom prst="rect">
            <a:avLst/>
          </a:prstGeom>
          <a:effectLst>
            <a:outerShdw blurRad="101600" dist="25400" dir="5400000" algn="bl" rotWithShape="0">
              <a:srgbClr val="000000">
                <a:alpha val="14000"/>
              </a:srgbClr>
            </a:outerShdw>
          </a:effectLst>
        </p:spPr>
      </p:pic>
      <p:sp>
        <p:nvSpPr>
          <p:cNvPr id="29"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Functions: boat owner</a:t>
            </a:r>
            <a:endParaRPr lang="en-US" sz="3200" dirty="0"/>
          </a:p>
        </p:txBody>
      </p:sp>
      <p:sp>
        <p:nvSpPr>
          <p:cNvPr id="3" name="Owner fn 1 circle"/>
          <p:cNvSpPr/>
          <p:nvPr/>
        </p:nvSpPr>
        <p:spPr>
          <a:xfrm>
            <a:off x="457200" y="1161288"/>
            <a:ext cx="310896" cy="310896"/>
          </a:xfrm>
          <a:prstGeom prst="ellipse">
            <a:avLst/>
          </a:prstGeom>
          <a:solidFill>
            <a:schemeClr val="accent1"/>
          </a:solidFill>
          <a:ln/>
        </p:spPr>
      </p:sp>
      <p:sp>
        <p:nvSpPr>
          <p:cNvPr id="4" name="Owner fn 1 num"/>
          <p:cNvSpPr txBox="1"/>
          <p:nvPr/>
        </p:nvSpPr>
        <p:spPr>
          <a:xfrm>
            <a:off x="457200" y="1161288"/>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5" name="Owner fn 1"/>
          <p:cNvSpPr txBox="1"/>
          <p:nvPr/>
        </p:nvSpPr>
        <p:spPr>
          <a:xfrm>
            <a:off x="896112" y="1097280"/>
            <a:ext cx="4297680" cy="438912"/>
          </a:xfrm>
          <a:prstGeom prst="rect">
            <a:avLst/>
          </a:prstGeom>
          <a:noFill/>
          <a:ln/>
        </p:spPr>
        <p:txBody>
          <a:bodyPr wrap="square" lIns="0" tIns="0" rIns="0" bIns="0" rtlCol="0" anchor="ctr"/>
          <a:lstStyle/>
          <a:p>
            <a:pPr marL="0" indent="0">
              <a:buNone/>
            </a:pPr>
            <a:r>
              <a:rPr lang="en-US" sz="1400" b="1" dirty="0">
                <a:solidFill>
                  <a:schemeClr val="tx1"/>
                </a:solidFill>
              </a:rPr>
              <a:t>Register a vessel</a:t>
            </a:r>
            <a:r>
              <a:rPr lang="en-US" sz="1300" dirty="0">
                <a:solidFill>
                  <a:schemeClr val="accent5"/>
                </a:solidFill>
              </a:rPr>
              <a:t>  form with per-field checks</a:t>
            </a:r>
            <a:endParaRPr lang="en-US" sz="1400" dirty="0"/>
          </a:p>
        </p:txBody>
      </p:sp>
      <p:sp>
        <p:nvSpPr>
          <p:cNvPr id="6" name="Owner fn 2 circle"/>
          <p:cNvSpPr/>
          <p:nvPr/>
        </p:nvSpPr>
        <p:spPr>
          <a:xfrm>
            <a:off x="457200" y="1636776"/>
            <a:ext cx="310896" cy="310896"/>
          </a:xfrm>
          <a:prstGeom prst="ellipse">
            <a:avLst/>
          </a:prstGeom>
          <a:solidFill>
            <a:schemeClr val="accent1"/>
          </a:solidFill>
          <a:ln/>
        </p:spPr>
      </p:sp>
      <p:sp>
        <p:nvSpPr>
          <p:cNvPr id="7" name="Owner fn 2 num"/>
          <p:cNvSpPr txBox="1"/>
          <p:nvPr/>
        </p:nvSpPr>
        <p:spPr>
          <a:xfrm>
            <a:off x="457200" y="1636776"/>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8" name="Owner fn 2"/>
          <p:cNvSpPr txBox="1"/>
          <p:nvPr/>
        </p:nvSpPr>
        <p:spPr>
          <a:xfrm>
            <a:off x="896112" y="1572768"/>
            <a:ext cx="4297680" cy="438912"/>
          </a:xfrm>
          <a:prstGeom prst="rect">
            <a:avLst/>
          </a:prstGeom>
          <a:noFill/>
          <a:ln/>
        </p:spPr>
        <p:txBody>
          <a:bodyPr wrap="square" lIns="0" tIns="0" rIns="0" bIns="0" rtlCol="0" anchor="ctr"/>
          <a:lstStyle/>
          <a:p>
            <a:pPr marL="0" indent="0">
              <a:buNone/>
            </a:pPr>
            <a:r>
              <a:rPr lang="en-US" sz="1400" b="1" dirty="0">
                <a:solidFill>
                  <a:schemeClr val="tx1"/>
                </a:solidFill>
              </a:rPr>
              <a:t>Register from a message</a:t>
            </a:r>
            <a:r>
              <a:rPr lang="en-US" sz="1300" dirty="0">
                <a:solidFill>
                  <a:schemeClr val="accent5"/>
                </a:solidFill>
              </a:rPr>
              <a:t>  e.g. "12 ton barge, Vaikom..."</a:t>
            </a:r>
            <a:endParaRPr lang="en-US" sz="1400" dirty="0"/>
          </a:p>
        </p:txBody>
      </p:sp>
      <p:sp>
        <p:nvSpPr>
          <p:cNvPr id="9" name="Owner fn 3 circle"/>
          <p:cNvSpPr/>
          <p:nvPr/>
        </p:nvSpPr>
        <p:spPr>
          <a:xfrm>
            <a:off x="457200" y="2112264"/>
            <a:ext cx="310896" cy="310896"/>
          </a:xfrm>
          <a:prstGeom prst="ellipse">
            <a:avLst/>
          </a:prstGeom>
          <a:solidFill>
            <a:schemeClr val="accent1"/>
          </a:solidFill>
          <a:ln/>
        </p:spPr>
      </p:sp>
      <p:sp>
        <p:nvSpPr>
          <p:cNvPr id="10" name="Owner fn 3 num"/>
          <p:cNvSpPr txBox="1"/>
          <p:nvPr/>
        </p:nvSpPr>
        <p:spPr>
          <a:xfrm>
            <a:off x="457200" y="2112264"/>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1" name="Owner fn 3"/>
          <p:cNvSpPr txBox="1"/>
          <p:nvPr/>
        </p:nvSpPr>
        <p:spPr>
          <a:xfrm>
            <a:off x="896112" y="2048256"/>
            <a:ext cx="4297680" cy="438912"/>
          </a:xfrm>
          <a:prstGeom prst="rect">
            <a:avLst/>
          </a:prstGeom>
          <a:noFill/>
          <a:ln/>
        </p:spPr>
        <p:txBody>
          <a:bodyPr wrap="square" lIns="0" tIns="0" rIns="0" bIns="0" rtlCol="0" anchor="ctr"/>
          <a:lstStyle/>
          <a:p>
            <a:pPr marL="0" indent="0">
              <a:buNone/>
            </a:pPr>
            <a:r>
              <a:rPr lang="en-US" sz="1400" b="1" dirty="0">
                <a:solidFill>
                  <a:schemeClr val="tx1"/>
                </a:solidFill>
              </a:rPr>
              <a:t>Publish sailings</a:t>
            </a:r>
            <a:r>
              <a:rPr lang="en-US" sz="1300" dirty="0">
                <a:solidFill>
                  <a:schemeClr val="accent5"/>
                </a:solidFill>
              </a:rPr>
              <a:t>  route, weekdays, time, price, capacity</a:t>
            </a:r>
            <a:endParaRPr lang="en-US" sz="1400" dirty="0"/>
          </a:p>
        </p:txBody>
      </p:sp>
      <p:sp>
        <p:nvSpPr>
          <p:cNvPr id="12" name="Owner fn 4 circle"/>
          <p:cNvSpPr/>
          <p:nvPr/>
        </p:nvSpPr>
        <p:spPr>
          <a:xfrm>
            <a:off x="457200" y="2587752"/>
            <a:ext cx="310896" cy="310896"/>
          </a:xfrm>
          <a:prstGeom prst="ellipse">
            <a:avLst/>
          </a:prstGeom>
          <a:solidFill>
            <a:schemeClr val="accent1"/>
          </a:solidFill>
          <a:ln/>
        </p:spPr>
      </p:sp>
      <p:sp>
        <p:nvSpPr>
          <p:cNvPr id="13" name="Owner fn 4 num"/>
          <p:cNvSpPr txBox="1"/>
          <p:nvPr/>
        </p:nvSpPr>
        <p:spPr>
          <a:xfrm>
            <a:off x="457200" y="2587752"/>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4" name="Owner fn 4"/>
          <p:cNvSpPr txBox="1"/>
          <p:nvPr/>
        </p:nvSpPr>
        <p:spPr>
          <a:xfrm>
            <a:off x="896112" y="2523744"/>
            <a:ext cx="4297680" cy="438912"/>
          </a:xfrm>
          <a:prstGeom prst="rect">
            <a:avLst/>
          </a:prstGeom>
          <a:noFill/>
          <a:ln/>
        </p:spPr>
        <p:txBody>
          <a:bodyPr wrap="square" lIns="0" tIns="0" rIns="0" bIns="0" rtlCol="0" anchor="ctr"/>
          <a:lstStyle/>
          <a:p>
            <a:pPr marL="0" indent="0">
              <a:buNone/>
            </a:pPr>
            <a:r>
              <a:rPr lang="en-US" sz="1400" b="1" dirty="0">
                <a:solidFill>
                  <a:schemeClr val="tx1"/>
                </a:solidFill>
              </a:rPr>
              <a:t>Verification</a:t>
            </a:r>
            <a:r>
              <a:rPr lang="en-US" sz="1300" dirty="0">
                <a:solidFill>
                  <a:schemeClr val="accent5"/>
                </a:solidFill>
              </a:rPr>
              <a:t>  demo admin action (simulated)</a:t>
            </a:r>
            <a:endParaRPr lang="en-US" sz="1400" dirty="0"/>
          </a:p>
        </p:txBody>
      </p:sp>
      <p:sp>
        <p:nvSpPr>
          <p:cNvPr id="15" name="Owner fn 5 circle"/>
          <p:cNvSpPr/>
          <p:nvPr/>
        </p:nvSpPr>
        <p:spPr>
          <a:xfrm>
            <a:off x="457200" y="3063240"/>
            <a:ext cx="310896" cy="310896"/>
          </a:xfrm>
          <a:prstGeom prst="ellipse">
            <a:avLst/>
          </a:prstGeom>
          <a:solidFill>
            <a:schemeClr val="accent1"/>
          </a:solidFill>
          <a:ln/>
        </p:spPr>
      </p:sp>
      <p:sp>
        <p:nvSpPr>
          <p:cNvPr id="16" name="Owner fn 5 num"/>
          <p:cNvSpPr txBox="1"/>
          <p:nvPr/>
        </p:nvSpPr>
        <p:spPr>
          <a:xfrm>
            <a:off x="457200" y="3063240"/>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17" name="Owner fn 5"/>
          <p:cNvSpPr txBox="1"/>
          <p:nvPr/>
        </p:nvSpPr>
        <p:spPr>
          <a:xfrm>
            <a:off x="896112" y="2999232"/>
            <a:ext cx="4297680" cy="438912"/>
          </a:xfrm>
          <a:prstGeom prst="rect">
            <a:avLst/>
          </a:prstGeom>
          <a:noFill/>
          <a:ln/>
        </p:spPr>
        <p:txBody>
          <a:bodyPr wrap="square" lIns="0" tIns="0" rIns="0" bIns="0" rtlCol="0" anchor="ctr"/>
          <a:lstStyle/>
          <a:p>
            <a:pPr marL="0" indent="0">
              <a:buNone/>
            </a:pPr>
            <a:r>
              <a:rPr lang="en-US" sz="1400" b="1" dirty="0">
                <a:solidFill>
                  <a:schemeClr val="tx1"/>
                </a:solidFill>
              </a:rPr>
              <a:t>Suspend / reinstate</a:t>
            </a:r>
            <a:r>
              <a:rPr lang="en-US" sz="1300" dirty="0">
                <a:solidFill>
                  <a:schemeClr val="accent5"/>
                </a:solidFill>
              </a:rPr>
              <a:t>  existing bookings stay untouched</a:t>
            </a:r>
            <a:endParaRPr lang="en-US" sz="1400" dirty="0"/>
          </a:p>
        </p:txBody>
      </p:sp>
      <p:sp>
        <p:nvSpPr>
          <p:cNvPr id="18" name="Owner fn 6 circle"/>
          <p:cNvSpPr/>
          <p:nvPr/>
        </p:nvSpPr>
        <p:spPr>
          <a:xfrm>
            <a:off x="457200" y="3538728"/>
            <a:ext cx="310896" cy="310896"/>
          </a:xfrm>
          <a:prstGeom prst="ellipse">
            <a:avLst/>
          </a:prstGeom>
          <a:solidFill>
            <a:schemeClr val="accent1"/>
          </a:solidFill>
          <a:ln/>
        </p:spPr>
      </p:sp>
      <p:sp>
        <p:nvSpPr>
          <p:cNvPr id="19" name="Owner fn 6 num"/>
          <p:cNvSpPr txBox="1"/>
          <p:nvPr/>
        </p:nvSpPr>
        <p:spPr>
          <a:xfrm>
            <a:off x="457200" y="3538728"/>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20" name="Owner fn 6"/>
          <p:cNvSpPr txBox="1"/>
          <p:nvPr/>
        </p:nvSpPr>
        <p:spPr>
          <a:xfrm>
            <a:off x="896112" y="3474720"/>
            <a:ext cx="4297680" cy="438912"/>
          </a:xfrm>
          <a:prstGeom prst="rect">
            <a:avLst/>
          </a:prstGeom>
          <a:noFill/>
          <a:ln/>
        </p:spPr>
        <p:txBody>
          <a:bodyPr wrap="square" lIns="0" tIns="0" rIns="0" bIns="0" rtlCol="0" anchor="ctr"/>
          <a:lstStyle/>
          <a:p>
            <a:pPr marL="0" indent="0">
              <a:buNone/>
            </a:pPr>
            <a:r>
              <a:rPr lang="en-US" sz="1400" b="1" dirty="0">
                <a:solidFill>
                  <a:schemeClr val="tx1"/>
                </a:solidFill>
              </a:rPr>
              <a:t>On-time record</a:t>
            </a:r>
            <a:r>
              <a:rPr lang="en-US" sz="1300" dirty="0">
                <a:solidFill>
                  <a:schemeClr val="accent5"/>
                </a:solidFill>
              </a:rPr>
              <a:t>  rate always shown with trip count</a:t>
            </a:r>
            <a:endParaRPr lang="en-US" sz="1400" dirty="0"/>
          </a:p>
        </p:txBody>
      </p:sp>
      <p:sp>
        <p:nvSpPr>
          <p:cNvPr id="21" name="Owner fn 7 circle"/>
          <p:cNvSpPr/>
          <p:nvPr/>
        </p:nvSpPr>
        <p:spPr>
          <a:xfrm>
            <a:off x="457200" y="4014216"/>
            <a:ext cx="310896" cy="310896"/>
          </a:xfrm>
          <a:prstGeom prst="ellipse">
            <a:avLst/>
          </a:prstGeom>
          <a:solidFill>
            <a:schemeClr val="accent1"/>
          </a:solidFill>
          <a:ln/>
        </p:spPr>
      </p:sp>
      <p:sp>
        <p:nvSpPr>
          <p:cNvPr id="22" name="Owner fn 7 num"/>
          <p:cNvSpPr txBox="1"/>
          <p:nvPr/>
        </p:nvSpPr>
        <p:spPr>
          <a:xfrm>
            <a:off x="457200" y="4014216"/>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7</a:t>
            </a:r>
            <a:endParaRPr lang="en-US" sz="1200" dirty="0"/>
          </a:p>
        </p:txBody>
      </p:sp>
      <p:sp>
        <p:nvSpPr>
          <p:cNvPr id="23" name="Owner fn 7"/>
          <p:cNvSpPr txBox="1"/>
          <p:nvPr/>
        </p:nvSpPr>
        <p:spPr>
          <a:xfrm>
            <a:off x="896112" y="3950208"/>
            <a:ext cx="4297680" cy="438912"/>
          </a:xfrm>
          <a:prstGeom prst="rect">
            <a:avLst/>
          </a:prstGeom>
          <a:noFill/>
          <a:ln/>
        </p:spPr>
        <p:txBody>
          <a:bodyPr wrap="square" lIns="0" tIns="0" rIns="0" bIns="0" rtlCol="0" anchor="ctr"/>
          <a:lstStyle/>
          <a:p>
            <a:pPr marL="0" indent="0">
              <a:buNone/>
            </a:pPr>
            <a:r>
              <a:rPr lang="en-US" sz="1400" b="1" dirty="0">
                <a:solidFill>
                  <a:schemeClr val="tx1"/>
                </a:solidFill>
              </a:rPr>
              <a:t>Delivery history</a:t>
            </a:r>
            <a:r>
              <a:rPr lang="en-US" sz="1300" dirty="0">
                <a:solidFill>
                  <a:schemeClr val="accent5"/>
                </a:solidFill>
              </a:rPr>
              <a:t>  recorded when a shipment is delivered</a:t>
            </a:r>
            <a:endParaRPr lang="en-US" sz="1400" dirty="0"/>
          </a:p>
        </p:txBody>
      </p:sp>
      <p:pic>
        <p:nvPicPr>
          <p:cNvPr id="24" name="Boat owner screen: register from message" descr="Vessel registration by pasted message with extracted fields"/>
          <p:cNvPicPr>
            <a:picLocks noChangeAspect="1"/>
          </p:cNvPicPr>
          <p:nvPr/>
        </p:nvPicPr>
        <p:blipFill>
          <a:blip r:embed="rId3"/>
          <a:stretch>
            <a:fillRect/>
          </a:stretch>
        </p:blipFill>
        <p:spPr>
          <a:xfrm>
            <a:off x="5394960" y="1097280"/>
            <a:ext cx="3291840" cy="1014038"/>
          </a:xfrm>
          <a:prstGeom prst="rect">
            <a:avLst/>
          </a:prstGeom>
          <a:effectLst>
            <a:outerShdw blurRad="101600" dist="25400" dir="5400000" algn="bl" rotWithShape="0">
              <a:srgbClr val="000000">
                <a:alpha val="14000"/>
              </a:srgbClr>
            </a:outerShdw>
          </a:effectLst>
        </p:spPr>
      </p:pic>
      <p:pic>
        <p:nvPicPr>
          <p:cNvPr id="25" name="Boat owner screen: history" descr="On-time record with trip counts, simulated"/>
          <p:cNvPicPr>
            <a:picLocks noChangeAspect="1"/>
          </p:cNvPicPr>
          <p:nvPr/>
        </p:nvPicPr>
        <p:blipFill>
          <a:blip r:embed="rId4"/>
          <a:stretch>
            <a:fillRect/>
          </a:stretch>
        </p:blipFill>
        <p:spPr>
          <a:xfrm>
            <a:off x="5394960" y="2248478"/>
            <a:ext cx="3291840" cy="870257"/>
          </a:xfrm>
          <a:prstGeom prst="rect">
            <a:avLst/>
          </a:prstGeom>
          <a:effectLst>
            <a:outerShdw blurRad="101600" dist="25400" dir="5400000" algn="bl" rotWithShape="0">
              <a:srgbClr val="000000">
                <a:alpha val="14000"/>
              </a:srgbClr>
            </a:outerShdw>
          </a:effectLst>
        </p:spPr>
      </p:pic>
      <p:sp>
        <p:nvSpPr>
          <p:cNvPr id="26"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Functions: warehouse and planner</a:t>
            </a:r>
            <a:endParaRPr lang="en-US" sz="3200" dirty="0"/>
          </a:p>
        </p:txBody>
      </p:sp>
      <p:sp>
        <p:nvSpPr>
          <p:cNvPr id="3" name="WP fn 1 circle"/>
          <p:cNvSpPr/>
          <p:nvPr/>
        </p:nvSpPr>
        <p:spPr>
          <a:xfrm>
            <a:off x="457200" y="1170432"/>
            <a:ext cx="329184" cy="329184"/>
          </a:xfrm>
          <a:prstGeom prst="ellipse">
            <a:avLst/>
          </a:prstGeom>
          <a:solidFill>
            <a:schemeClr val="accent1"/>
          </a:solidFill>
          <a:ln/>
        </p:spPr>
      </p:sp>
      <p:sp>
        <p:nvSpPr>
          <p:cNvPr id="4" name="WP fn 1 num"/>
          <p:cNvSpPr txBox="1"/>
          <p:nvPr/>
        </p:nvSpPr>
        <p:spPr>
          <a:xfrm>
            <a:off x="457200" y="1170432"/>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5" name="WP fn 1"/>
          <p:cNvSpPr txBox="1"/>
          <p:nvPr/>
        </p:nvSpPr>
        <p:spPr>
          <a:xfrm>
            <a:off x="914400" y="1097280"/>
            <a:ext cx="4251960" cy="475488"/>
          </a:xfrm>
          <a:prstGeom prst="rect">
            <a:avLst/>
          </a:prstGeom>
          <a:noFill/>
          <a:ln/>
        </p:spPr>
        <p:txBody>
          <a:bodyPr wrap="square" lIns="0" tIns="0" rIns="0" bIns="0" rtlCol="0" anchor="ctr"/>
          <a:lstStyle/>
          <a:p>
            <a:pPr marL="0" indent="0">
              <a:buNone/>
            </a:pPr>
            <a:r>
              <a:rPr lang="en-US" sz="1400" b="1" dirty="0">
                <a:solidFill>
                  <a:schemeClr val="tx1"/>
                </a:solidFill>
              </a:rPr>
              <a:t>Register a warehouse</a:t>
            </a:r>
            <a:r>
              <a:rPr lang="en-US" sz="1300" dirty="0">
                <a:solidFill>
                  <a:schemeClr val="accent5"/>
                </a:solidFill>
              </a:rPr>
              <a:t>  capacity, costs, classes accepted</a:t>
            </a:r>
            <a:endParaRPr lang="en-US" sz="1400" dirty="0"/>
          </a:p>
        </p:txBody>
      </p:sp>
      <p:sp>
        <p:nvSpPr>
          <p:cNvPr id="6" name="WP fn 2 circle"/>
          <p:cNvSpPr/>
          <p:nvPr/>
        </p:nvSpPr>
        <p:spPr>
          <a:xfrm>
            <a:off x="457200" y="1700784"/>
            <a:ext cx="329184" cy="329184"/>
          </a:xfrm>
          <a:prstGeom prst="ellipse">
            <a:avLst/>
          </a:prstGeom>
          <a:solidFill>
            <a:schemeClr val="accent1"/>
          </a:solidFill>
          <a:ln/>
        </p:spPr>
      </p:sp>
      <p:sp>
        <p:nvSpPr>
          <p:cNvPr id="7" name="WP fn 2 num"/>
          <p:cNvSpPr txBox="1"/>
          <p:nvPr/>
        </p:nvSpPr>
        <p:spPr>
          <a:xfrm>
            <a:off x="457200" y="1700784"/>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8" name="WP fn 2"/>
          <p:cNvSpPr txBox="1"/>
          <p:nvPr/>
        </p:nvSpPr>
        <p:spPr>
          <a:xfrm>
            <a:off x="914400" y="1627632"/>
            <a:ext cx="4251960" cy="475488"/>
          </a:xfrm>
          <a:prstGeom prst="rect">
            <a:avLst/>
          </a:prstGeom>
          <a:noFill/>
          <a:ln/>
        </p:spPr>
        <p:txBody>
          <a:bodyPr wrap="square" lIns="0" tIns="0" rIns="0" bIns="0" rtlCol="0" anchor="ctr"/>
          <a:lstStyle/>
          <a:p>
            <a:pPr marL="0" indent="0">
              <a:buNone/>
            </a:pPr>
            <a:r>
              <a:rPr lang="en-US" sz="1400" b="1" dirty="0">
                <a:solidFill>
                  <a:schemeClr val="tx1"/>
                </a:solidFill>
              </a:rPr>
              <a:t>Utilisation</a:t>
            </a:r>
            <a:r>
              <a:rPr lang="en-US" sz="1300" dirty="0">
                <a:solidFill>
                  <a:schemeClr val="accent5"/>
                </a:solidFill>
              </a:rPr>
              <a:t>  capacity used and available</a:t>
            </a:r>
            <a:endParaRPr lang="en-US" sz="1400" dirty="0"/>
          </a:p>
        </p:txBody>
      </p:sp>
      <p:sp>
        <p:nvSpPr>
          <p:cNvPr id="9" name="WP fn 3 circle"/>
          <p:cNvSpPr/>
          <p:nvPr/>
        </p:nvSpPr>
        <p:spPr>
          <a:xfrm>
            <a:off x="457200" y="2231136"/>
            <a:ext cx="329184" cy="329184"/>
          </a:xfrm>
          <a:prstGeom prst="ellipse">
            <a:avLst/>
          </a:prstGeom>
          <a:solidFill>
            <a:schemeClr val="accent1"/>
          </a:solidFill>
          <a:ln/>
        </p:spPr>
      </p:sp>
      <p:sp>
        <p:nvSpPr>
          <p:cNvPr id="10" name="WP fn 3 num"/>
          <p:cNvSpPr txBox="1"/>
          <p:nvPr/>
        </p:nvSpPr>
        <p:spPr>
          <a:xfrm>
            <a:off x="457200" y="2231136"/>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1" name="WP fn 3"/>
          <p:cNvSpPr txBox="1"/>
          <p:nvPr/>
        </p:nvSpPr>
        <p:spPr>
          <a:xfrm>
            <a:off x="914400" y="2157984"/>
            <a:ext cx="4251960" cy="475488"/>
          </a:xfrm>
          <a:prstGeom prst="rect">
            <a:avLst/>
          </a:prstGeom>
          <a:noFill/>
          <a:ln/>
        </p:spPr>
        <p:txBody>
          <a:bodyPr wrap="square" lIns="0" tIns="0" rIns="0" bIns="0" rtlCol="0" anchor="ctr"/>
          <a:lstStyle/>
          <a:p>
            <a:pPr marL="0" indent="0">
              <a:buNone/>
            </a:pPr>
            <a:r>
              <a:rPr lang="en-US" sz="1400" b="1" dirty="0">
                <a:solidFill>
                  <a:schemeClr val="tx1"/>
                </a:solidFill>
              </a:rPr>
              <a:t>Staging plans</a:t>
            </a:r>
            <a:r>
              <a:rPr lang="en-US" sz="1300" dirty="0">
                <a:solidFill>
                  <a:schemeClr val="accent5"/>
                </a:solidFill>
              </a:rPr>
              <a:t>  storage cost, time and CO₂, itemised</a:t>
            </a:r>
            <a:endParaRPr lang="en-US" sz="1400" dirty="0"/>
          </a:p>
        </p:txBody>
      </p:sp>
      <p:sp>
        <p:nvSpPr>
          <p:cNvPr id="12" name="WP fn 4 circle"/>
          <p:cNvSpPr/>
          <p:nvPr/>
        </p:nvSpPr>
        <p:spPr>
          <a:xfrm>
            <a:off x="457200" y="2761488"/>
            <a:ext cx="329184" cy="329184"/>
          </a:xfrm>
          <a:prstGeom prst="ellipse">
            <a:avLst/>
          </a:prstGeom>
          <a:solidFill>
            <a:schemeClr val="accent5"/>
          </a:solidFill>
          <a:ln/>
        </p:spPr>
      </p:sp>
      <p:sp>
        <p:nvSpPr>
          <p:cNvPr id="13" name="WP fn 4 num"/>
          <p:cNvSpPr txBox="1"/>
          <p:nvPr/>
        </p:nvSpPr>
        <p:spPr>
          <a:xfrm>
            <a:off x="457200" y="2761488"/>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4" name="WP fn 4"/>
          <p:cNvSpPr txBox="1"/>
          <p:nvPr/>
        </p:nvSpPr>
        <p:spPr>
          <a:xfrm>
            <a:off x="914400" y="2688336"/>
            <a:ext cx="4251960" cy="475488"/>
          </a:xfrm>
          <a:prstGeom prst="rect">
            <a:avLst/>
          </a:prstGeom>
          <a:noFill/>
          <a:ln/>
        </p:spPr>
        <p:txBody>
          <a:bodyPr wrap="square" lIns="0" tIns="0" rIns="0" bIns="0" rtlCol="0" anchor="ctr"/>
          <a:lstStyle/>
          <a:p>
            <a:pPr marL="0" indent="0">
              <a:buNone/>
            </a:pPr>
            <a:r>
              <a:rPr lang="en-US" sz="1400" b="1" dirty="0">
                <a:solidFill>
                  <a:schemeClr val="tx1"/>
                </a:solidFill>
              </a:rPr>
              <a:t>Corridor viability</a:t>
            </a:r>
            <a:r>
              <a:rPr lang="en-US" sz="1300" dirty="0">
                <a:solidFill>
                  <a:schemeClr val="accent5"/>
                </a:solidFill>
              </a:rPr>
              <a:t>  break-even distance by corridor</a:t>
            </a:r>
            <a:endParaRPr lang="en-US" sz="1400" dirty="0"/>
          </a:p>
        </p:txBody>
      </p:sp>
      <p:sp>
        <p:nvSpPr>
          <p:cNvPr id="15" name="WP fn 5 circle"/>
          <p:cNvSpPr/>
          <p:nvPr/>
        </p:nvSpPr>
        <p:spPr>
          <a:xfrm>
            <a:off x="457200" y="3291840"/>
            <a:ext cx="329184" cy="329184"/>
          </a:xfrm>
          <a:prstGeom prst="ellipse">
            <a:avLst/>
          </a:prstGeom>
          <a:solidFill>
            <a:schemeClr val="accent5"/>
          </a:solidFill>
          <a:ln/>
        </p:spPr>
      </p:sp>
      <p:sp>
        <p:nvSpPr>
          <p:cNvPr id="16" name="WP fn 5 num"/>
          <p:cNvSpPr txBox="1"/>
          <p:nvPr/>
        </p:nvSpPr>
        <p:spPr>
          <a:xfrm>
            <a:off x="457200" y="3291840"/>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17" name="WP fn 5"/>
          <p:cNvSpPr txBox="1"/>
          <p:nvPr/>
        </p:nvSpPr>
        <p:spPr>
          <a:xfrm>
            <a:off x="914400" y="3218688"/>
            <a:ext cx="4251960" cy="475488"/>
          </a:xfrm>
          <a:prstGeom prst="rect">
            <a:avLst/>
          </a:prstGeom>
          <a:noFill/>
          <a:ln/>
        </p:spPr>
        <p:txBody>
          <a:bodyPr wrap="square" lIns="0" tIns="0" rIns="0" bIns="0" rtlCol="0" anchor="ctr"/>
          <a:lstStyle/>
          <a:p>
            <a:pPr marL="0" indent="0">
              <a:buNone/>
            </a:pPr>
            <a:r>
              <a:rPr lang="en-US" sz="1400" b="1" dirty="0">
                <a:solidFill>
                  <a:schemeClr val="tx1"/>
                </a:solidFill>
              </a:rPr>
              <a:t>Corridor map</a:t>
            </a:r>
            <a:r>
              <a:rPr lang="en-US" sz="1300" dirty="0">
                <a:solidFill>
                  <a:schemeClr val="accent5"/>
                </a:solidFill>
              </a:rPr>
              <a:t>  static NW-3 diagram, works offline</a:t>
            </a:r>
            <a:endParaRPr lang="en-US" sz="1400" dirty="0"/>
          </a:p>
        </p:txBody>
      </p:sp>
      <p:sp>
        <p:nvSpPr>
          <p:cNvPr id="18" name="WP fn 6 circle"/>
          <p:cNvSpPr/>
          <p:nvPr/>
        </p:nvSpPr>
        <p:spPr>
          <a:xfrm>
            <a:off x="457200" y="3822192"/>
            <a:ext cx="329184" cy="329184"/>
          </a:xfrm>
          <a:prstGeom prst="ellipse">
            <a:avLst/>
          </a:prstGeom>
          <a:solidFill>
            <a:schemeClr val="accent5"/>
          </a:solidFill>
          <a:ln/>
        </p:spPr>
      </p:sp>
      <p:sp>
        <p:nvSpPr>
          <p:cNvPr id="19" name="WP fn 6 num"/>
          <p:cNvSpPr txBox="1"/>
          <p:nvPr/>
        </p:nvSpPr>
        <p:spPr>
          <a:xfrm>
            <a:off x="457200" y="3822192"/>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20" name="WP fn 6"/>
          <p:cNvSpPr txBox="1"/>
          <p:nvPr/>
        </p:nvSpPr>
        <p:spPr>
          <a:xfrm>
            <a:off x="914400" y="3749040"/>
            <a:ext cx="4251960" cy="475488"/>
          </a:xfrm>
          <a:prstGeom prst="rect">
            <a:avLst/>
          </a:prstGeom>
          <a:noFill/>
          <a:ln/>
        </p:spPr>
        <p:txBody>
          <a:bodyPr wrap="square" lIns="0" tIns="0" rIns="0" bIns="0" rtlCol="0" anchor="ctr"/>
          <a:lstStyle/>
          <a:p>
            <a:pPr marL="0" indent="0">
              <a:buNone/>
            </a:pPr>
            <a:r>
              <a:rPr lang="en-US" sz="1400" b="1" dirty="0">
                <a:solidFill>
                  <a:schemeClr val="tx1"/>
                </a:solidFill>
              </a:rPr>
              <a:t>Disruption summary</a:t>
            </a:r>
            <a:r>
              <a:rPr lang="en-US" sz="1300" dirty="0">
                <a:solidFill>
                  <a:schemeClr val="accent5"/>
                </a:solidFill>
              </a:rPr>
              <a:t>  counts by type and corridor</a:t>
            </a:r>
            <a:endParaRPr lang="en-US" sz="1400" dirty="0"/>
          </a:p>
        </p:txBody>
      </p:sp>
      <p:sp>
        <p:nvSpPr>
          <p:cNvPr id="21" name="WP legend"/>
          <p:cNvSpPr txBox="1"/>
          <p:nvPr/>
        </p:nvSpPr>
        <p:spPr>
          <a:xfrm>
            <a:off x="457200" y="4343400"/>
            <a:ext cx="4663440" cy="228600"/>
          </a:xfrm>
          <a:prstGeom prst="rect">
            <a:avLst/>
          </a:prstGeom>
          <a:noFill/>
          <a:ln/>
        </p:spPr>
        <p:txBody>
          <a:bodyPr wrap="square" lIns="0" tIns="0" rIns="0" bIns="0" rtlCol="0" anchor="t"/>
          <a:lstStyle/>
          <a:p>
            <a:pPr marL="0" indent="0">
              <a:buNone/>
            </a:pPr>
            <a:r>
              <a:rPr lang="en-US" sz="1200" dirty="0">
                <a:solidFill>
                  <a:schemeClr val="accent5"/>
                </a:solidFill>
              </a:rPr>
              <a:t>Warehouse (1 to 3), planner (4 to 6)</a:t>
            </a:r>
            <a:endParaRPr lang="en-US" sz="1200" dirty="0"/>
          </a:p>
        </p:txBody>
      </p:sp>
      <p:pic>
        <p:nvPicPr>
          <p:cNvPr id="22" name="Warehouse screen: utilisation" descr="Warehouse utilisation table, simulated"/>
          <p:cNvPicPr>
            <a:picLocks noChangeAspect="1"/>
          </p:cNvPicPr>
          <p:nvPr/>
        </p:nvPicPr>
        <p:blipFill>
          <a:blip r:embed="rId3"/>
          <a:stretch>
            <a:fillRect/>
          </a:stretch>
        </p:blipFill>
        <p:spPr>
          <a:xfrm>
            <a:off x="5394960" y="1097280"/>
            <a:ext cx="3291840" cy="624314"/>
          </a:xfrm>
          <a:prstGeom prst="rect">
            <a:avLst/>
          </a:prstGeom>
          <a:effectLst>
            <a:outerShdw blurRad="101600" dist="25400" dir="5400000" algn="bl" rotWithShape="0">
              <a:srgbClr val="000000">
                <a:alpha val="14000"/>
              </a:srgbClr>
            </a:outerShdw>
          </a:effectLst>
        </p:spPr>
      </p:pic>
      <p:pic>
        <p:nvPicPr>
          <p:cNvPr id="23" name="Planner screen: disruption summary" descr="Disruption summary by type and corridor, simulated"/>
          <p:cNvPicPr>
            <a:picLocks noChangeAspect="1"/>
          </p:cNvPicPr>
          <p:nvPr/>
        </p:nvPicPr>
        <p:blipFill>
          <a:blip r:embed="rId4"/>
          <a:stretch>
            <a:fillRect/>
          </a:stretch>
        </p:blipFill>
        <p:spPr>
          <a:xfrm>
            <a:off x="5394960" y="1858754"/>
            <a:ext cx="3291840" cy="567559"/>
          </a:xfrm>
          <a:prstGeom prst="rect">
            <a:avLst/>
          </a:prstGeom>
          <a:effectLst>
            <a:outerShdw blurRad="101600" dist="25400" dir="5400000" algn="bl" rotWithShape="0">
              <a:srgbClr val="000000">
                <a:alpha val="14000"/>
              </a:srgbClr>
            </a:outerShdw>
          </a:effectLst>
        </p:spPr>
      </p:pic>
      <p:pic>
        <p:nvPicPr>
          <p:cNvPr id="24" name="Planner screen: corridor viability" descr="Corridor viability table with tags"/>
          <p:cNvPicPr>
            <a:picLocks noChangeAspect="1"/>
          </p:cNvPicPr>
          <p:nvPr/>
        </p:nvPicPr>
        <p:blipFill>
          <a:blip r:embed="rId5"/>
          <a:stretch>
            <a:fillRect/>
          </a:stretch>
        </p:blipFill>
        <p:spPr>
          <a:xfrm>
            <a:off x="5394960" y="2563473"/>
            <a:ext cx="3291840" cy="1040524"/>
          </a:xfrm>
          <a:prstGeom prst="rect">
            <a:avLst/>
          </a:prstGeom>
          <a:effectLst>
            <a:outerShdw blurRad="101600" dist="25400" dir="5400000" algn="bl" rotWithShape="0">
              <a:srgbClr val="000000">
                <a:alpha val="14000"/>
              </a:srgbClr>
            </a:outerShdw>
          </a:effectLst>
        </p:spPr>
      </p:pic>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Functions: safety and trust</a:t>
            </a:r>
            <a:endParaRPr lang="en-US" sz="3200" dirty="0"/>
          </a:p>
        </p:txBody>
      </p:sp>
      <p:sp>
        <p:nvSpPr>
          <p:cNvPr id="3" name="Safety fn 1 circle"/>
          <p:cNvSpPr/>
          <p:nvPr/>
        </p:nvSpPr>
        <p:spPr>
          <a:xfrm>
            <a:off x="457200" y="1152144"/>
            <a:ext cx="292608" cy="292608"/>
          </a:xfrm>
          <a:prstGeom prst="ellipse">
            <a:avLst/>
          </a:prstGeom>
          <a:solidFill>
            <a:schemeClr val="accent3"/>
          </a:solidFill>
          <a:ln/>
        </p:spPr>
      </p:sp>
      <p:sp>
        <p:nvSpPr>
          <p:cNvPr id="4" name="Safety fn 1 num"/>
          <p:cNvSpPr txBox="1"/>
          <p:nvPr/>
        </p:nvSpPr>
        <p:spPr>
          <a:xfrm>
            <a:off x="457200" y="1152144"/>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5" name="Safety fn 1"/>
          <p:cNvSpPr txBox="1"/>
          <p:nvPr/>
        </p:nvSpPr>
        <p:spPr>
          <a:xfrm>
            <a:off x="868680" y="1097280"/>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Hazard hard filter</a:t>
            </a:r>
            <a:r>
              <a:rPr lang="en-US" sz="1200" dirty="0">
                <a:solidFill>
                  <a:schemeClr val="accent5"/>
                </a:solidFill>
              </a:rPr>
              <a:t>  uncertified vessels excluded, reason named</a:t>
            </a:r>
            <a:endParaRPr lang="en-US" sz="1400" dirty="0"/>
          </a:p>
        </p:txBody>
      </p:sp>
      <p:sp>
        <p:nvSpPr>
          <p:cNvPr id="6" name="Safety fn 2 circle"/>
          <p:cNvSpPr/>
          <p:nvPr/>
        </p:nvSpPr>
        <p:spPr>
          <a:xfrm>
            <a:off x="457200" y="1581912"/>
            <a:ext cx="292608" cy="292608"/>
          </a:xfrm>
          <a:prstGeom prst="ellipse">
            <a:avLst/>
          </a:prstGeom>
          <a:solidFill>
            <a:schemeClr val="accent3"/>
          </a:solidFill>
          <a:ln/>
        </p:spPr>
      </p:sp>
      <p:sp>
        <p:nvSpPr>
          <p:cNvPr id="7" name="Safety fn 2 num"/>
          <p:cNvSpPr txBox="1"/>
          <p:nvPr/>
        </p:nvSpPr>
        <p:spPr>
          <a:xfrm>
            <a:off x="457200" y="1581912"/>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8" name="Safety fn 2"/>
          <p:cNvSpPr txBox="1"/>
          <p:nvPr/>
        </p:nvSpPr>
        <p:spPr>
          <a:xfrm>
            <a:off x="868680" y="1527048"/>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Compliance review</a:t>
            </a:r>
            <a:r>
              <a:rPr lang="en-US" sz="1200" dirty="0">
                <a:solidFill>
                  <a:schemeClr val="accent5"/>
                </a:solidFill>
              </a:rPr>
              <a:t>  separate gate for bookings and re-plans</a:t>
            </a:r>
            <a:endParaRPr lang="en-US" sz="1400" dirty="0"/>
          </a:p>
        </p:txBody>
      </p:sp>
      <p:sp>
        <p:nvSpPr>
          <p:cNvPr id="9" name="Safety fn 3 circle"/>
          <p:cNvSpPr/>
          <p:nvPr/>
        </p:nvSpPr>
        <p:spPr>
          <a:xfrm>
            <a:off x="457200" y="2011680"/>
            <a:ext cx="292608" cy="292608"/>
          </a:xfrm>
          <a:prstGeom prst="ellipse">
            <a:avLst/>
          </a:prstGeom>
          <a:solidFill>
            <a:schemeClr val="accent3"/>
          </a:solidFill>
          <a:ln/>
        </p:spPr>
      </p:sp>
      <p:sp>
        <p:nvSpPr>
          <p:cNvPr id="10" name="Safety fn 3 num"/>
          <p:cNvSpPr txBox="1"/>
          <p:nvPr/>
        </p:nvSpPr>
        <p:spPr>
          <a:xfrm>
            <a:off x="457200" y="2011680"/>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1" name="Safety fn 3"/>
          <p:cNvSpPr txBox="1"/>
          <p:nvPr/>
        </p:nvSpPr>
        <p:spPr>
          <a:xfrm>
            <a:off x="868680" y="1956816"/>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Human confirmation</a:t>
            </a:r>
            <a:r>
              <a:rPr lang="en-US" sz="1200" dirty="0">
                <a:solidFill>
                  <a:schemeClr val="accent5"/>
                </a:solidFill>
              </a:rPr>
              <a:t>  booking, re-plan and staging all need a click</a:t>
            </a:r>
            <a:endParaRPr lang="en-US" sz="1400" dirty="0"/>
          </a:p>
        </p:txBody>
      </p:sp>
      <p:sp>
        <p:nvSpPr>
          <p:cNvPr id="12" name="Safety fn 4 circle"/>
          <p:cNvSpPr/>
          <p:nvPr/>
        </p:nvSpPr>
        <p:spPr>
          <a:xfrm>
            <a:off x="457200" y="2441448"/>
            <a:ext cx="292608" cy="292608"/>
          </a:xfrm>
          <a:prstGeom prst="ellipse">
            <a:avLst/>
          </a:prstGeom>
          <a:solidFill>
            <a:schemeClr val="accent3"/>
          </a:solidFill>
          <a:ln/>
        </p:spPr>
      </p:sp>
      <p:sp>
        <p:nvSpPr>
          <p:cNvPr id="13" name="Safety fn 4 num"/>
          <p:cNvSpPr txBox="1"/>
          <p:nvPr/>
        </p:nvSpPr>
        <p:spPr>
          <a:xfrm>
            <a:off x="457200" y="2441448"/>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4" name="Safety fn 4"/>
          <p:cNvSpPr txBox="1"/>
          <p:nvPr/>
        </p:nvSpPr>
        <p:spPr>
          <a:xfrm>
            <a:off x="868680" y="2386584"/>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Evidence tags</a:t>
            </a:r>
            <a:r>
              <a:rPr lang="en-US" sz="1200" dirty="0">
                <a:solidFill>
                  <a:schemeClr val="accent5"/>
                </a:solidFill>
              </a:rPr>
              <a:t>  [sourced], [assumed], [simulated] on every number</a:t>
            </a:r>
            <a:endParaRPr lang="en-US" sz="1400" dirty="0"/>
          </a:p>
        </p:txBody>
      </p:sp>
      <p:sp>
        <p:nvSpPr>
          <p:cNvPr id="15" name="Safety fn 5 circle"/>
          <p:cNvSpPr/>
          <p:nvPr/>
        </p:nvSpPr>
        <p:spPr>
          <a:xfrm>
            <a:off x="457200" y="2871216"/>
            <a:ext cx="292608" cy="292608"/>
          </a:xfrm>
          <a:prstGeom prst="ellipse">
            <a:avLst/>
          </a:prstGeom>
          <a:solidFill>
            <a:schemeClr val="accent3"/>
          </a:solidFill>
          <a:ln/>
        </p:spPr>
      </p:sp>
      <p:sp>
        <p:nvSpPr>
          <p:cNvPr id="16" name="Safety fn 5 num"/>
          <p:cNvSpPr txBox="1"/>
          <p:nvPr/>
        </p:nvSpPr>
        <p:spPr>
          <a:xfrm>
            <a:off x="457200" y="2871216"/>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17" name="Safety fn 5"/>
          <p:cNvSpPr txBox="1"/>
          <p:nvPr/>
        </p:nvSpPr>
        <p:spPr>
          <a:xfrm>
            <a:off x="868680" y="2816352"/>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Input checks</a:t>
            </a:r>
            <a:r>
              <a:rPr lang="en-US" sz="1200" dirty="0">
                <a:solidFill>
                  <a:schemeClr val="accent5"/>
                </a:solidFill>
              </a:rPr>
              <a:t>  field-level errors; duplicate guard</a:t>
            </a:r>
            <a:endParaRPr lang="en-US" sz="1400" dirty="0"/>
          </a:p>
        </p:txBody>
      </p:sp>
      <p:sp>
        <p:nvSpPr>
          <p:cNvPr id="18" name="Safety fn 6 circle"/>
          <p:cNvSpPr/>
          <p:nvPr/>
        </p:nvSpPr>
        <p:spPr>
          <a:xfrm>
            <a:off x="457200" y="3300984"/>
            <a:ext cx="292608" cy="292608"/>
          </a:xfrm>
          <a:prstGeom prst="ellipse">
            <a:avLst/>
          </a:prstGeom>
          <a:solidFill>
            <a:schemeClr val="accent3"/>
          </a:solidFill>
          <a:ln/>
        </p:spPr>
      </p:sp>
      <p:sp>
        <p:nvSpPr>
          <p:cNvPr id="19" name="Safety fn 6 num"/>
          <p:cNvSpPr txBox="1"/>
          <p:nvPr/>
        </p:nvSpPr>
        <p:spPr>
          <a:xfrm>
            <a:off x="457200" y="3300984"/>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20" name="Safety fn 6"/>
          <p:cNvSpPr txBox="1"/>
          <p:nvPr/>
        </p:nvSpPr>
        <p:spPr>
          <a:xfrm>
            <a:off x="868680" y="3246120"/>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Privacy scrub</a:t>
            </a:r>
            <a:r>
              <a:rPr lang="en-US" sz="1200" dirty="0">
                <a:solidFill>
                  <a:schemeClr val="accent5"/>
                </a:solidFill>
              </a:rPr>
              <a:t>  phones and emails removed before parsing</a:t>
            </a:r>
            <a:endParaRPr lang="en-US" sz="1400" dirty="0"/>
          </a:p>
        </p:txBody>
      </p:sp>
      <p:sp>
        <p:nvSpPr>
          <p:cNvPr id="21" name="Safety fn 7 circle"/>
          <p:cNvSpPr/>
          <p:nvPr/>
        </p:nvSpPr>
        <p:spPr>
          <a:xfrm>
            <a:off x="457200" y="3730752"/>
            <a:ext cx="292608" cy="292608"/>
          </a:xfrm>
          <a:prstGeom prst="ellipse">
            <a:avLst/>
          </a:prstGeom>
          <a:solidFill>
            <a:schemeClr val="accent3"/>
          </a:solidFill>
          <a:ln/>
        </p:spPr>
      </p:sp>
      <p:sp>
        <p:nvSpPr>
          <p:cNvPr id="22" name="Safety fn 7 num"/>
          <p:cNvSpPr txBox="1"/>
          <p:nvPr/>
        </p:nvSpPr>
        <p:spPr>
          <a:xfrm>
            <a:off x="457200" y="3730752"/>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7</a:t>
            </a:r>
            <a:endParaRPr lang="en-US" sz="1200" dirty="0"/>
          </a:p>
        </p:txBody>
      </p:sp>
      <p:sp>
        <p:nvSpPr>
          <p:cNvPr id="23" name="Safety fn 7"/>
          <p:cNvSpPr txBox="1"/>
          <p:nvPr/>
        </p:nvSpPr>
        <p:spPr>
          <a:xfrm>
            <a:off x="868680" y="3675888"/>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What-if scenarios</a:t>
            </a:r>
            <a:r>
              <a:rPr lang="en-US" sz="1200" dirty="0">
                <a:solidFill>
                  <a:schemeClr val="accent5"/>
                </a:solidFill>
              </a:rPr>
              <a:t>  subsidy (off by default); perishable rules</a:t>
            </a:r>
            <a:endParaRPr lang="en-US" sz="1400" dirty="0"/>
          </a:p>
        </p:txBody>
      </p:sp>
      <p:sp>
        <p:nvSpPr>
          <p:cNvPr id="24" name="Safety fn 8 circle"/>
          <p:cNvSpPr/>
          <p:nvPr/>
        </p:nvSpPr>
        <p:spPr>
          <a:xfrm>
            <a:off x="457200" y="4160520"/>
            <a:ext cx="292608" cy="292608"/>
          </a:xfrm>
          <a:prstGeom prst="ellipse">
            <a:avLst/>
          </a:prstGeom>
          <a:solidFill>
            <a:schemeClr val="accent3"/>
          </a:solidFill>
          <a:ln/>
        </p:spPr>
      </p:sp>
      <p:sp>
        <p:nvSpPr>
          <p:cNvPr id="25" name="Safety fn 8 num"/>
          <p:cNvSpPr txBox="1"/>
          <p:nvPr/>
        </p:nvSpPr>
        <p:spPr>
          <a:xfrm>
            <a:off x="457200" y="4160520"/>
            <a:ext cx="292608" cy="292608"/>
          </a:xfrm>
          <a:prstGeom prst="rect">
            <a:avLst/>
          </a:prstGeom>
          <a:noFill/>
          <a:ln/>
        </p:spPr>
        <p:txBody>
          <a:bodyPr wrap="square" lIns="0" tIns="0" rIns="0" bIns="0" rtlCol="0" anchor="ctr"/>
          <a:lstStyle/>
          <a:p>
            <a:pPr marL="0" indent="0" algn="ctr">
              <a:buNone/>
            </a:pPr>
            <a:r>
              <a:rPr lang="en-US" sz="1200" b="1" dirty="0">
                <a:solidFill>
                  <a:schemeClr val="bg1"/>
                </a:solidFill>
              </a:rPr>
              <a:t>8</a:t>
            </a:r>
            <a:endParaRPr lang="en-US" sz="1200" dirty="0"/>
          </a:p>
        </p:txBody>
      </p:sp>
      <p:sp>
        <p:nvSpPr>
          <p:cNvPr id="26" name="Safety fn 8"/>
          <p:cNvSpPr txBox="1"/>
          <p:nvPr/>
        </p:nvSpPr>
        <p:spPr>
          <a:xfrm>
            <a:off x="868680" y="4105656"/>
            <a:ext cx="4297680" cy="402336"/>
          </a:xfrm>
          <a:prstGeom prst="rect">
            <a:avLst/>
          </a:prstGeom>
          <a:noFill/>
          <a:ln/>
        </p:spPr>
        <p:txBody>
          <a:bodyPr wrap="square" lIns="0" tIns="0" rIns="0" bIns="0" rtlCol="0" anchor="ctr"/>
          <a:lstStyle/>
          <a:p>
            <a:pPr marL="0" indent="0">
              <a:buNone/>
            </a:pPr>
            <a:r>
              <a:rPr lang="en-US" sz="1400" b="1" dirty="0">
                <a:solidFill>
                  <a:schemeClr val="tx1"/>
                </a:solidFill>
              </a:rPr>
              <a:t>Offline demo reset</a:t>
            </a:r>
            <a:r>
              <a:rPr lang="en-US" sz="1200" dirty="0">
                <a:solidFill>
                  <a:schemeClr val="accent5"/>
                </a:solidFill>
              </a:rPr>
              <a:t>  restores seed data in milliseconds</a:t>
            </a:r>
            <a:endParaRPr lang="en-US" sz="1400" dirty="0"/>
          </a:p>
        </p:txBody>
      </p:sp>
      <p:pic>
        <p:nvPicPr>
          <p:cNvPr id="27" name="Safety screen: confirm re-plan" descr="Ranked alternatives and the explicit Confirm re-plan step"/>
          <p:cNvPicPr>
            <a:picLocks noChangeAspect="1"/>
          </p:cNvPicPr>
          <p:nvPr/>
        </p:nvPicPr>
        <p:blipFill>
          <a:blip r:embed="rId3"/>
          <a:stretch>
            <a:fillRect/>
          </a:stretch>
        </p:blipFill>
        <p:spPr>
          <a:xfrm>
            <a:off x="5394960" y="1097280"/>
            <a:ext cx="3291840" cy="1664839"/>
          </a:xfrm>
          <a:prstGeom prst="rect">
            <a:avLst/>
          </a:prstGeom>
          <a:effectLst>
            <a:outerShdw blurRad="101600" dist="25400" dir="5400000" algn="bl" rotWithShape="0">
              <a:srgbClr val="000000">
                <a:alpha val="14000"/>
              </a:srgbClr>
            </a:outerShdw>
          </a:effectLst>
        </p:spPr>
      </p:pic>
      <p:sp>
        <p:nvSpPr>
          <p:cNvPr id="28" name="Tag legend card"/>
          <p:cNvSpPr/>
          <p:nvPr/>
        </p:nvSpPr>
        <p:spPr>
          <a:xfrm>
            <a:off x="5394960" y="3154680"/>
            <a:ext cx="3291840" cy="1417320"/>
          </a:xfrm>
          <a:prstGeom prst="roundRect">
            <a:avLst>
              <a:gd name="adj" fmla="val 5161"/>
            </a:avLst>
          </a:prstGeom>
          <a:solidFill>
            <a:schemeClr val="tx2"/>
          </a:solidFill>
          <a:ln/>
        </p:spPr>
      </p:sp>
      <p:sp>
        <p:nvSpPr>
          <p:cNvPr id="29" name="Legend heading"/>
          <p:cNvSpPr txBox="1"/>
          <p:nvPr/>
        </p:nvSpPr>
        <p:spPr>
          <a:xfrm>
            <a:off x="5532120" y="3246120"/>
            <a:ext cx="3017520" cy="457200"/>
          </a:xfrm>
          <a:prstGeom prst="rect">
            <a:avLst/>
          </a:prstGeom>
          <a:noFill/>
          <a:ln/>
        </p:spPr>
        <p:txBody>
          <a:bodyPr wrap="square" lIns="0" tIns="0" rIns="0" bIns="0" rtlCol="0" anchor="t"/>
          <a:lstStyle/>
          <a:p>
            <a:pPr marL="0" indent="0">
              <a:buNone/>
            </a:pPr>
            <a:r>
              <a:rPr lang="en-US" sz="1400" b="1" dirty="0">
                <a:solidFill>
                  <a:schemeClr val="bg1"/>
                </a:solidFill>
              </a:rPr>
              <a:t>Every number says how far to trust it</a:t>
            </a:r>
            <a:endParaRPr lang="en-US" sz="1400" dirty="0"/>
          </a:p>
        </p:txBody>
      </p:sp>
      <p:sp>
        <p:nvSpPr>
          <p:cNvPr id="30" name="Legend sourced"/>
          <p:cNvSpPr/>
          <p:nvPr/>
        </p:nvSpPr>
        <p:spPr>
          <a:xfrm>
            <a:off x="5532120" y="3794760"/>
            <a:ext cx="868680" cy="256032"/>
          </a:xfrm>
          <a:prstGeom prst="roundRect">
            <a:avLst>
              <a:gd name="adj" fmla="val 21429"/>
            </a:avLst>
          </a:prstGeom>
          <a:solidFill>
            <a:srgbClr val="DCFCE7"/>
          </a:solidFill>
          <a:ln/>
        </p:spPr>
      </p:sp>
      <p:sp>
        <p:nvSpPr>
          <p:cNvPr id="31" name="Legend sourced text"/>
          <p:cNvSpPr txBox="1"/>
          <p:nvPr/>
        </p:nvSpPr>
        <p:spPr>
          <a:xfrm>
            <a:off x="5532120" y="3794760"/>
            <a:ext cx="868680" cy="256032"/>
          </a:xfrm>
          <a:prstGeom prst="rect">
            <a:avLst/>
          </a:prstGeom>
          <a:noFill/>
          <a:ln/>
        </p:spPr>
        <p:txBody>
          <a:bodyPr wrap="square" lIns="0" tIns="0" rIns="0" bIns="0" rtlCol="0" anchor="ctr"/>
          <a:lstStyle/>
          <a:p>
            <a:pPr marL="0" indent="0" algn="ctr">
              <a:buNone/>
            </a:pPr>
            <a:r>
              <a:rPr lang="en-US" sz="1100" b="1" dirty="0">
                <a:solidFill>
                  <a:srgbClr val="166534"/>
                </a:solidFill>
              </a:rPr>
              <a:t>[sourced]</a:t>
            </a:r>
            <a:endParaRPr lang="en-US" sz="1100" dirty="0"/>
          </a:p>
        </p:txBody>
      </p:sp>
      <p:sp>
        <p:nvSpPr>
          <p:cNvPr id="32" name="Legend assumed"/>
          <p:cNvSpPr/>
          <p:nvPr/>
        </p:nvSpPr>
        <p:spPr>
          <a:xfrm>
            <a:off x="6492240" y="3794760"/>
            <a:ext cx="868680" cy="256032"/>
          </a:xfrm>
          <a:prstGeom prst="roundRect">
            <a:avLst>
              <a:gd name="adj" fmla="val 21429"/>
            </a:avLst>
          </a:prstGeom>
          <a:solidFill>
            <a:srgbClr val="FEF9C3"/>
          </a:solidFill>
          <a:ln/>
        </p:spPr>
      </p:sp>
      <p:sp>
        <p:nvSpPr>
          <p:cNvPr id="33" name="Legend assumed text"/>
          <p:cNvSpPr txBox="1"/>
          <p:nvPr/>
        </p:nvSpPr>
        <p:spPr>
          <a:xfrm>
            <a:off x="6492240" y="3794760"/>
            <a:ext cx="868680" cy="256032"/>
          </a:xfrm>
          <a:prstGeom prst="rect">
            <a:avLst/>
          </a:prstGeom>
          <a:noFill/>
          <a:ln/>
        </p:spPr>
        <p:txBody>
          <a:bodyPr wrap="square" lIns="0" tIns="0" rIns="0" bIns="0" rtlCol="0" anchor="ctr"/>
          <a:lstStyle/>
          <a:p>
            <a:pPr marL="0" indent="0" algn="ctr">
              <a:buNone/>
            </a:pPr>
            <a:r>
              <a:rPr lang="en-US" sz="1100" b="1" dirty="0">
                <a:solidFill>
                  <a:srgbClr val="713F12"/>
                </a:solidFill>
              </a:rPr>
              <a:t>[assumed]</a:t>
            </a:r>
            <a:endParaRPr lang="en-US" sz="1100" dirty="0"/>
          </a:p>
        </p:txBody>
      </p:sp>
      <p:sp>
        <p:nvSpPr>
          <p:cNvPr id="34" name="Legend simulated"/>
          <p:cNvSpPr/>
          <p:nvPr/>
        </p:nvSpPr>
        <p:spPr>
          <a:xfrm>
            <a:off x="7452360" y="3794760"/>
            <a:ext cx="1097280" cy="256032"/>
          </a:xfrm>
          <a:prstGeom prst="roundRect">
            <a:avLst>
              <a:gd name="adj" fmla="val 21429"/>
            </a:avLst>
          </a:prstGeom>
          <a:solidFill>
            <a:srgbClr val="EDE9FE"/>
          </a:solidFill>
          <a:ln/>
        </p:spPr>
      </p:sp>
      <p:sp>
        <p:nvSpPr>
          <p:cNvPr id="35" name="Legend simulated text"/>
          <p:cNvSpPr txBox="1"/>
          <p:nvPr/>
        </p:nvSpPr>
        <p:spPr>
          <a:xfrm>
            <a:off x="7452360" y="3794760"/>
            <a:ext cx="1097280" cy="256032"/>
          </a:xfrm>
          <a:prstGeom prst="rect">
            <a:avLst/>
          </a:prstGeom>
          <a:noFill/>
          <a:ln/>
        </p:spPr>
        <p:txBody>
          <a:bodyPr wrap="square" lIns="0" tIns="0" rIns="0" bIns="0" rtlCol="0" anchor="ctr"/>
          <a:lstStyle/>
          <a:p>
            <a:pPr marL="0" indent="0" algn="ctr">
              <a:buNone/>
            </a:pPr>
            <a:r>
              <a:rPr lang="en-US" sz="1100" b="1" dirty="0">
                <a:solidFill>
                  <a:srgbClr val="5B21B6"/>
                </a:solidFill>
              </a:rPr>
              <a:t>[simulated]</a:t>
            </a:r>
            <a:endParaRPr lang="en-US" sz="1100" dirty="0"/>
          </a:p>
        </p:txBody>
      </p:sp>
      <p:sp>
        <p:nvSpPr>
          <p:cNvPr id="36" name="Legend note"/>
          <p:cNvSpPr txBox="1"/>
          <p:nvPr/>
        </p:nvSpPr>
        <p:spPr>
          <a:xfrm>
            <a:off x="5532120" y="4133088"/>
            <a:ext cx="3017520" cy="320040"/>
          </a:xfrm>
          <a:prstGeom prst="rect">
            <a:avLst/>
          </a:prstGeom>
          <a:noFill/>
          <a:ln/>
        </p:spPr>
        <p:txBody>
          <a:bodyPr wrap="square" lIns="0" tIns="0" rIns="0" bIns="0" rtlCol="0" anchor="t"/>
          <a:lstStyle/>
          <a:p>
            <a:pPr marL="0" indent="0">
              <a:buNone/>
            </a:pPr>
            <a:r>
              <a:rPr lang="en-US" sz="1100" dirty="0">
                <a:solidFill>
                  <a:schemeClr val="accent6"/>
                </a:solidFill>
              </a:rPr>
              <a:t>Backhaul and pooling: simple counts after booking.</a:t>
            </a:r>
            <a:endParaRPr lang="en-US" sz="1100" dirty="0"/>
          </a:p>
        </p:txBody>
      </p:sp>
      <p:sp>
        <p:nvSpPr>
          <p:cNvPr id="37"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Innovation 1: how decisions are made</a:t>
            </a:r>
            <a:endParaRPr lang="en-US" sz="3200" dirty="0"/>
          </a:p>
        </p:txBody>
      </p:sp>
      <p:sp>
        <p:nvSpPr>
          <p:cNvPr id="3" name="Flow box 1"/>
          <p:cNvSpPr/>
          <p:nvPr/>
        </p:nvSpPr>
        <p:spPr>
          <a:xfrm>
            <a:off x="457200" y="1554480"/>
            <a:ext cx="1737360" cy="1645920"/>
          </a:xfrm>
          <a:prstGeom prst="roundRect">
            <a:avLst>
              <a:gd name="adj" fmla="val 4444"/>
            </a:avLst>
          </a:prstGeom>
          <a:solidFill>
            <a:schemeClr val="bg2"/>
          </a:solidFill>
          <a:ln/>
        </p:spPr>
      </p:sp>
      <p:sp>
        <p:nvSpPr>
          <p:cNvPr id="4" name="Flow box 1 title"/>
          <p:cNvSpPr txBox="1"/>
          <p:nvPr/>
        </p:nvSpPr>
        <p:spPr>
          <a:xfrm>
            <a:off x="566928" y="1664208"/>
            <a:ext cx="1517904" cy="365760"/>
          </a:xfrm>
          <a:prstGeom prst="rect">
            <a:avLst/>
          </a:prstGeom>
          <a:noFill/>
          <a:ln/>
        </p:spPr>
        <p:txBody>
          <a:bodyPr wrap="square" lIns="0" tIns="0" rIns="0" bIns="0" rtlCol="0" anchor="t"/>
          <a:lstStyle/>
          <a:p>
            <a:pPr marL="0" indent="0">
              <a:buNone/>
            </a:pPr>
            <a:r>
              <a:rPr lang="en-US" sz="1600" b="1" dirty="0">
                <a:solidFill>
                  <a:schemeClr val="tx1"/>
                </a:solidFill>
              </a:rPr>
              <a:t>Forms and text</a:t>
            </a:r>
            <a:endParaRPr lang="en-US" sz="1600" dirty="0"/>
          </a:p>
        </p:txBody>
      </p:sp>
      <p:sp>
        <p:nvSpPr>
          <p:cNvPr id="5" name="Flow box 1 text"/>
          <p:cNvSpPr txBox="1"/>
          <p:nvPr/>
        </p:nvSpPr>
        <p:spPr>
          <a:xfrm>
            <a:off x="566928" y="2075688"/>
            <a:ext cx="1517904" cy="1097280"/>
          </a:xfrm>
          <a:prstGeom prst="rect">
            <a:avLst/>
          </a:prstGeom>
          <a:noFill/>
          <a:ln/>
        </p:spPr>
        <p:txBody>
          <a:bodyPr wrap="square" lIns="0" tIns="0" rIns="0" bIns="0" rtlCol="0" anchor="t"/>
          <a:lstStyle/>
          <a:p>
            <a:pPr marL="0" indent="0">
              <a:buNone/>
            </a:pPr>
            <a:r>
              <a:rPr lang="en-US" sz="1400" dirty="0">
                <a:solidFill>
                  <a:schemeClr val="tx1"/>
                </a:solidFill>
              </a:rPr>
              <a:t>Cargo, vessels, short messages</a:t>
            </a:r>
            <a:endParaRPr lang="en-US" sz="1400" dirty="0"/>
          </a:p>
        </p:txBody>
      </p:sp>
      <p:sp>
        <p:nvSpPr>
          <p:cNvPr id="6" name="Flow arrow 1"/>
          <p:cNvSpPr/>
          <p:nvPr/>
        </p:nvSpPr>
        <p:spPr>
          <a:xfrm>
            <a:off x="2231136" y="2377440"/>
            <a:ext cx="338328" cy="0"/>
          </a:xfrm>
          <a:prstGeom prst="line">
            <a:avLst/>
          </a:prstGeom>
          <a:noFill/>
          <a:ln w="25400">
            <a:solidFill>
              <a:schemeClr val="accent5"/>
            </a:solidFill>
            <a:prstDash val="solid"/>
            <a:tailEnd type="triangle"/>
          </a:ln>
        </p:spPr>
      </p:sp>
      <p:sp>
        <p:nvSpPr>
          <p:cNvPr id="7" name="Flow box 2"/>
          <p:cNvSpPr/>
          <p:nvPr/>
        </p:nvSpPr>
        <p:spPr>
          <a:xfrm>
            <a:off x="2606040" y="1554480"/>
            <a:ext cx="1920240" cy="1645920"/>
          </a:xfrm>
          <a:prstGeom prst="roundRect">
            <a:avLst>
              <a:gd name="adj" fmla="val 4444"/>
            </a:avLst>
          </a:prstGeom>
          <a:solidFill>
            <a:schemeClr val="bg2"/>
          </a:solidFill>
          <a:ln/>
        </p:spPr>
      </p:sp>
      <p:sp>
        <p:nvSpPr>
          <p:cNvPr id="8" name="Flow box 2 title"/>
          <p:cNvSpPr txBox="1"/>
          <p:nvPr/>
        </p:nvSpPr>
        <p:spPr>
          <a:xfrm>
            <a:off x="2715768" y="1664208"/>
            <a:ext cx="1700784" cy="365760"/>
          </a:xfrm>
          <a:prstGeom prst="rect">
            <a:avLst/>
          </a:prstGeom>
          <a:noFill/>
          <a:ln/>
        </p:spPr>
        <p:txBody>
          <a:bodyPr wrap="square" lIns="0" tIns="0" rIns="0" bIns="0" rtlCol="0" anchor="t"/>
          <a:lstStyle/>
          <a:p>
            <a:pPr marL="0" indent="0">
              <a:buNone/>
            </a:pPr>
            <a:r>
              <a:rPr lang="en-US" sz="1600" b="1" dirty="0">
                <a:solidFill>
                  <a:schemeClr val="tx1"/>
                </a:solidFill>
              </a:rPr>
              <a:t>The reader</a:t>
            </a:r>
            <a:endParaRPr lang="en-US" sz="1600" dirty="0"/>
          </a:p>
        </p:txBody>
      </p:sp>
      <p:sp>
        <p:nvSpPr>
          <p:cNvPr id="9" name="Flow box 2 text"/>
          <p:cNvSpPr txBox="1"/>
          <p:nvPr/>
        </p:nvSpPr>
        <p:spPr>
          <a:xfrm>
            <a:off x="2715768" y="2075688"/>
            <a:ext cx="1700784" cy="1097280"/>
          </a:xfrm>
          <a:prstGeom prst="rect">
            <a:avLst/>
          </a:prstGeom>
          <a:noFill/>
          <a:ln/>
        </p:spPr>
        <p:txBody>
          <a:bodyPr wrap="square" lIns="0" tIns="0" rIns="0" bIns="0" rtlCol="0" anchor="t"/>
          <a:lstStyle/>
          <a:p>
            <a:pPr marL="0" indent="0">
              <a:buNone/>
            </a:pPr>
            <a:r>
              <a:rPr lang="en-US" sz="1400" dirty="0">
                <a:solidFill>
                  <a:schemeClr val="tx1"/>
                </a:solidFill>
              </a:rPr>
              <a:t>A simple pattern reader today. IBM Granite adapter: built, not run in this demo.</a:t>
            </a:r>
            <a:endParaRPr lang="en-US" sz="1400" dirty="0"/>
          </a:p>
        </p:txBody>
      </p:sp>
      <p:sp>
        <p:nvSpPr>
          <p:cNvPr id="10" name="Flow tag 2"/>
          <p:cNvSpPr/>
          <p:nvPr/>
        </p:nvSpPr>
        <p:spPr>
          <a:xfrm>
            <a:off x="2606040" y="1170432"/>
            <a:ext cx="1920240" cy="274320"/>
          </a:xfrm>
          <a:prstGeom prst="roundRect">
            <a:avLst>
              <a:gd name="adj" fmla="val 20000"/>
            </a:avLst>
          </a:prstGeom>
          <a:solidFill>
            <a:schemeClr val="accent2"/>
          </a:solidFill>
          <a:ln/>
        </p:spPr>
      </p:sp>
      <p:sp>
        <p:nvSpPr>
          <p:cNvPr id="11" name="Flow tag 2 text"/>
          <p:cNvSpPr txBox="1"/>
          <p:nvPr/>
        </p:nvSpPr>
        <p:spPr>
          <a:xfrm>
            <a:off x="2606040" y="1170432"/>
            <a:ext cx="1920240" cy="274320"/>
          </a:xfrm>
          <a:prstGeom prst="rect">
            <a:avLst/>
          </a:prstGeom>
          <a:noFill/>
          <a:ln/>
        </p:spPr>
        <p:txBody>
          <a:bodyPr wrap="square" lIns="0" tIns="0" rIns="0" bIns="0" rtlCol="0" anchor="ctr"/>
          <a:lstStyle/>
          <a:p>
            <a:pPr marL="0" indent="0" algn="ctr">
              <a:buNone/>
            </a:pPr>
            <a:r>
              <a:rPr lang="en-US" sz="1100" b="1" dirty="0">
                <a:solidFill>
                  <a:schemeClr val="tx1"/>
                </a:solidFill>
              </a:rPr>
              <a:t>AI may help here</a:t>
            </a:r>
            <a:endParaRPr lang="en-US" sz="1100" dirty="0"/>
          </a:p>
        </p:txBody>
      </p:sp>
      <p:sp>
        <p:nvSpPr>
          <p:cNvPr id="12" name="Flow arrow 2"/>
          <p:cNvSpPr/>
          <p:nvPr/>
        </p:nvSpPr>
        <p:spPr>
          <a:xfrm>
            <a:off x="4562856" y="2377440"/>
            <a:ext cx="338328" cy="0"/>
          </a:xfrm>
          <a:prstGeom prst="line">
            <a:avLst/>
          </a:prstGeom>
          <a:noFill/>
          <a:ln w="25400">
            <a:solidFill>
              <a:schemeClr val="accent5"/>
            </a:solidFill>
            <a:prstDash val="solid"/>
            <a:tailEnd type="triangle"/>
          </a:ln>
        </p:spPr>
      </p:sp>
      <p:sp>
        <p:nvSpPr>
          <p:cNvPr id="13" name="Flow box 3"/>
          <p:cNvSpPr/>
          <p:nvPr/>
        </p:nvSpPr>
        <p:spPr>
          <a:xfrm>
            <a:off x="4937760" y="1554480"/>
            <a:ext cx="1920240" cy="1645920"/>
          </a:xfrm>
          <a:prstGeom prst="roundRect">
            <a:avLst>
              <a:gd name="adj" fmla="val 4444"/>
            </a:avLst>
          </a:prstGeom>
          <a:solidFill>
            <a:schemeClr val="tx2"/>
          </a:solidFill>
          <a:ln/>
        </p:spPr>
      </p:sp>
      <p:sp>
        <p:nvSpPr>
          <p:cNvPr id="14" name="Flow box 3 title"/>
          <p:cNvSpPr txBox="1"/>
          <p:nvPr/>
        </p:nvSpPr>
        <p:spPr>
          <a:xfrm>
            <a:off x="5047488" y="1664208"/>
            <a:ext cx="1700784" cy="365760"/>
          </a:xfrm>
          <a:prstGeom prst="rect">
            <a:avLst/>
          </a:prstGeom>
          <a:noFill/>
          <a:ln/>
        </p:spPr>
        <p:txBody>
          <a:bodyPr wrap="square" lIns="0" tIns="0" rIns="0" bIns="0" rtlCol="0" anchor="t"/>
          <a:lstStyle/>
          <a:p>
            <a:pPr marL="0" indent="0">
              <a:buNone/>
            </a:pPr>
            <a:r>
              <a:rPr lang="en-US" sz="1600" b="1" dirty="0">
                <a:solidFill>
                  <a:schemeClr val="bg1"/>
                </a:solidFill>
              </a:rPr>
              <a:t>Decision engine</a:t>
            </a:r>
            <a:endParaRPr lang="en-US" sz="1600" dirty="0"/>
          </a:p>
        </p:txBody>
      </p:sp>
      <p:sp>
        <p:nvSpPr>
          <p:cNvPr id="15" name="Flow box 3 text"/>
          <p:cNvSpPr txBox="1"/>
          <p:nvPr/>
        </p:nvSpPr>
        <p:spPr>
          <a:xfrm>
            <a:off x="5047488" y="2075688"/>
            <a:ext cx="1700784" cy="1097280"/>
          </a:xfrm>
          <a:prstGeom prst="rect">
            <a:avLst/>
          </a:prstGeom>
          <a:noFill/>
          <a:ln/>
        </p:spPr>
        <p:txBody>
          <a:bodyPr wrap="square" lIns="0" tIns="0" rIns="0" bIns="0" rtlCol="0" anchor="t"/>
          <a:lstStyle/>
          <a:p>
            <a:pPr marL="0" indent="0">
              <a:buNone/>
            </a:pPr>
            <a:r>
              <a:rPr lang="en-US" sz="1400" dirty="0">
                <a:solidFill>
                  <a:schemeClr val="bg1"/>
                </a:solidFill>
              </a:rPr>
              <a:t>Pure Python. Reads its numbers from config. Explains itself.</a:t>
            </a:r>
            <a:endParaRPr lang="en-US" sz="1400" dirty="0"/>
          </a:p>
        </p:txBody>
      </p:sp>
      <p:sp>
        <p:nvSpPr>
          <p:cNvPr id="16" name="Flow tag 3"/>
          <p:cNvSpPr/>
          <p:nvPr/>
        </p:nvSpPr>
        <p:spPr>
          <a:xfrm>
            <a:off x="4937760" y="1170432"/>
            <a:ext cx="1920240" cy="274320"/>
          </a:xfrm>
          <a:prstGeom prst="roundRect">
            <a:avLst>
              <a:gd name="adj" fmla="val 20000"/>
            </a:avLst>
          </a:prstGeom>
          <a:solidFill>
            <a:schemeClr val="accent1"/>
          </a:solidFill>
          <a:ln/>
        </p:spPr>
      </p:sp>
      <p:sp>
        <p:nvSpPr>
          <p:cNvPr id="17" name="Flow tag 3 text"/>
          <p:cNvSpPr txBox="1"/>
          <p:nvPr/>
        </p:nvSpPr>
        <p:spPr>
          <a:xfrm>
            <a:off x="4937760" y="1170432"/>
            <a:ext cx="1920240" cy="274320"/>
          </a:xfrm>
          <a:prstGeom prst="rect">
            <a:avLst/>
          </a:prstGeom>
          <a:noFill/>
          <a:ln/>
        </p:spPr>
        <p:txBody>
          <a:bodyPr wrap="square" lIns="0" tIns="0" rIns="0" bIns="0" rtlCol="0" anchor="ctr"/>
          <a:lstStyle/>
          <a:p>
            <a:pPr marL="0" indent="0" algn="ctr">
              <a:buNone/>
            </a:pPr>
            <a:r>
              <a:rPr lang="en-US" sz="1100" b="1" dirty="0">
                <a:solidFill>
                  <a:schemeClr val="bg1"/>
                </a:solidFill>
              </a:rPr>
              <a:t>Decisions happen here</a:t>
            </a:r>
            <a:endParaRPr lang="en-US" sz="1100" dirty="0"/>
          </a:p>
        </p:txBody>
      </p:sp>
      <p:sp>
        <p:nvSpPr>
          <p:cNvPr id="18" name="Flow arrow 3"/>
          <p:cNvSpPr/>
          <p:nvPr/>
        </p:nvSpPr>
        <p:spPr>
          <a:xfrm>
            <a:off x="6894576" y="2377440"/>
            <a:ext cx="338328" cy="0"/>
          </a:xfrm>
          <a:prstGeom prst="line">
            <a:avLst/>
          </a:prstGeom>
          <a:noFill/>
          <a:ln w="25400">
            <a:solidFill>
              <a:schemeClr val="accent5"/>
            </a:solidFill>
            <a:prstDash val="solid"/>
            <a:tailEnd type="triangle"/>
          </a:ln>
        </p:spPr>
      </p:sp>
      <p:sp>
        <p:nvSpPr>
          <p:cNvPr id="19" name="Flow box 4"/>
          <p:cNvSpPr/>
          <p:nvPr/>
        </p:nvSpPr>
        <p:spPr>
          <a:xfrm>
            <a:off x="7269480" y="1554480"/>
            <a:ext cx="1417320" cy="1645920"/>
          </a:xfrm>
          <a:prstGeom prst="roundRect">
            <a:avLst>
              <a:gd name="adj" fmla="val 5161"/>
            </a:avLst>
          </a:prstGeom>
          <a:solidFill>
            <a:schemeClr val="bg2"/>
          </a:solidFill>
          <a:ln/>
        </p:spPr>
      </p:sp>
      <p:sp>
        <p:nvSpPr>
          <p:cNvPr id="20" name="Flow box 4 title"/>
          <p:cNvSpPr txBox="1"/>
          <p:nvPr/>
        </p:nvSpPr>
        <p:spPr>
          <a:xfrm>
            <a:off x="7379208" y="1664208"/>
            <a:ext cx="1197864" cy="365760"/>
          </a:xfrm>
          <a:prstGeom prst="rect">
            <a:avLst/>
          </a:prstGeom>
          <a:noFill/>
          <a:ln/>
        </p:spPr>
        <p:txBody>
          <a:bodyPr wrap="square" lIns="0" tIns="0" rIns="0" bIns="0" rtlCol="0" anchor="t"/>
          <a:lstStyle/>
          <a:p>
            <a:pPr marL="0" indent="0">
              <a:buNone/>
            </a:pPr>
            <a:r>
              <a:rPr lang="en-US" sz="1600" b="1" dirty="0">
                <a:solidFill>
                  <a:schemeClr val="tx1"/>
                </a:solidFill>
              </a:rPr>
              <a:t>A person</a:t>
            </a:r>
            <a:endParaRPr lang="en-US" sz="1600" dirty="0"/>
          </a:p>
        </p:txBody>
      </p:sp>
      <p:sp>
        <p:nvSpPr>
          <p:cNvPr id="21" name="Flow box 4 text"/>
          <p:cNvSpPr txBox="1"/>
          <p:nvPr/>
        </p:nvSpPr>
        <p:spPr>
          <a:xfrm>
            <a:off x="7379208" y="2075688"/>
            <a:ext cx="1197864" cy="1097280"/>
          </a:xfrm>
          <a:prstGeom prst="rect">
            <a:avLst/>
          </a:prstGeom>
          <a:noFill/>
          <a:ln/>
        </p:spPr>
        <p:txBody>
          <a:bodyPr wrap="square" lIns="0" tIns="0" rIns="0" bIns="0" rtlCol="0" anchor="t"/>
          <a:lstStyle/>
          <a:p>
            <a:pPr marL="0" indent="0">
              <a:buNone/>
            </a:pPr>
            <a:r>
              <a:rPr lang="en-US" sz="1400" dirty="0">
                <a:solidFill>
                  <a:schemeClr val="tx1"/>
                </a:solidFill>
              </a:rPr>
              <a:t>Approves every booking and change</a:t>
            </a:r>
            <a:endParaRPr lang="en-US" sz="1400" dirty="0"/>
          </a:p>
        </p:txBody>
      </p:sp>
      <p:sp>
        <p:nvSpPr>
          <p:cNvPr id="22" name="Flow tag 4"/>
          <p:cNvSpPr/>
          <p:nvPr/>
        </p:nvSpPr>
        <p:spPr>
          <a:xfrm>
            <a:off x="7269480" y="1170432"/>
            <a:ext cx="1417320" cy="274320"/>
          </a:xfrm>
          <a:prstGeom prst="roundRect">
            <a:avLst>
              <a:gd name="adj" fmla="val 20000"/>
            </a:avLst>
          </a:prstGeom>
          <a:solidFill>
            <a:schemeClr val="accent3"/>
          </a:solidFill>
          <a:ln/>
        </p:spPr>
      </p:sp>
      <p:sp>
        <p:nvSpPr>
          <p:cNvPr id="23" name="Flow tag 4 text"/>
          <p:cNvSpPr txBox="1"/>
          <p:nvPr/>
        </p:nvSpPr>
        <p:spPr>
          <a:xfrm>
            <a:off x="7269480" y="1170432"/>
            <a:ext cx="1417320" cy="274320"/>
          </a:xfrm>
          <a:prstGeom prst="rect">
            <a:avLst/>
          </a:prstGeom>
          <a:noFill/>
          <a:ln/>
        </p:spPr>
        <p:txBody>
          <a:bodyPr wrap="square" lIns="0" tIns="0" rIns="0" bIns="0" rtlCol="0" anchor="ctr"/>
          <a:lstStyle/>
          <a:p>
            <a:pPr marL="0" indent="0" algn="ctr">
              <a:buNone/>
            </a:pPr>
            <a:r>
              <a:rPr lang="en-US" sz="1100" b="1" dirty="0">
                <a:solidFill>
                  <a:schemeClr val="bg1"/>
                </a:solidFill>
              </a:rPr>
              <a:t>Human in the loop</a:t>
            </a:r>
            <a:endParaRPr lang="en-US" sz="1100" dirty="0"/>
          </a:p>
        </p:txBody>
      </p:sp>
      <p:sp>
        <p:nvSpPr>
          <p:cNvPr id="24" name="Principle banner"/>
          <p:cNvSpPr/>
          <p:nvPr/>
        </p:nvSpPr>
        <p:spPr>
          <a:xfrm>
            <a:off x="457200" y="3429000"/>
            <a:ext cx="8229600" cy="868680"/>
          </a:xfrm>
          <a:prstGeom prst="roundRect">
            <a:avLst>
              <a:gd name="adj" fmla="val 8421"/>
            </a:avLst>
          </a:prstGeom>
          <a:solidFill>
            <a:schemeClr val="bg2"/>
          </a:solidFill>
          <a:ln/>
        </p:spPr>
      </p:sp>
      <p:sp>
        <p:nvSpPr>
          <p:cNvPr id="25" name="Principle headline"/>
          <p:cNvSpPr txBox="1"/>
          <p:nvPr/>
        </p:nvSpPr>
        <p:spPr>
          <a:xfrm>
            <a:off x="640080" y="3502152"/>
            <a:ext cx="7863840" cy="365760"/>
          </a:xfrm>
          <a:prstGeom prst="rect">
            <a:avLst/>
          </a:prstGeom>
          <a:noFill/>
          <a:ln/>
        </p:spPr>
        <p:txBody>
          <a:bodyPr wrap="square" lIns="0" tIns="0" rIns="0" bIns="0" rtlCol="0" anchor="t"/>
          <a:lstStyle/>
          <a:p>
            <a:pPr marL="0" indent="0">
              <a:buNone/>
            </a:pPr>
            <a:r>
              <a:rPr lang="en-US" sz="2000" b="1" dirty="0">
                <a:solidFill>
                  <a:schemeClr val="tx2"/>
                </a:solidFill>
              </a:rPr>
              <a:t>The language model never prices, ranks or recommends.</a:t>
            </a:r>
            <a:endParaRPr lang="en-US" sz="2000" dirty="0"/>
          </a:p>
        </p:txBody>
      </p:sp>
      <p:sp>
        <p:nvSpPr>
          <p:cNvPr id="26" name="Principle detail"/>
          <p:cNvSpPr txBox="1"/>
          <p:nvPr/>
        </p:nvSpPr>
        <p:spPr>
          <a:xfrm>
            <a:off x="640080" y="3886200"/>
            <a:ext cx="7863840" cy="320040"/>
          </a:xfrm>
          <a:prstGeom prst="rect">
            <a:avLst/>
          </a:prstGeom>
          <a:noFill/>
          <a:ln/>
        </p:spPr>
        <p:txBody>
          <a:bodyPr wrap="square" lIns="0" tIns="0" rIns="0" bIns="0" rtlCol="0" anchor="t"/>
          <a:lstStyle/>
          <a:p>
            <a:pPr marL="0" indent="0">
              <a:buNone/>
            </a:pPr>
            <a:r>
              <a:rPr lang="en-US" sz="1400" dirty="0">
                <a:solidFill>
                  <a:schemeClr val="tx1"/>
                </a:solidFill>
              </a:rPr>
              <a:t>Zero LLM imports in the decision engine (checked by grep). The demo runs fully offline, with no API keys.</a:t>
            </a:r>
            <a:endParaRPr lang="en-US" sz="1400" dirty="0"/>
          </a:p>
        </p:txBody>
      </p:sp>
      <p:sp>
        <p:nvSpPr>
          <p:cNvPr id="27" name="Chip Deterministic"/>
          <p:cNvSpPr/>
          <p:nvPr/>
        </p:nvSpPr>
        <p:spPr>
          <a:xfrm>
            <a:off x="457200" y="4407408"/>
            <a:ext cx="1325880" cy="292608"/>
          </a:xfrm>
          <a:prstGeom prst="roundRect">
            <a:avLst>
              <a:gd name="adj" fmla="val 18750"/>
            </a:avLst>
          </a:prstGeom>
          <a:solidFill>
            <a:schemeClr val="accent1"/>
          </a:solidFill>
          <a:ln/>
        </p:spPr>
      </p:sp>
      <p:sp>
        <p:nvSpPr>
          <p:cNvPr id="28" name="Chip Deterministic text"/>
          <p:cNvSpPr txBox="1"/>
          <p:nvPr/>
        </p:nvSpPr>
        <p:spPr>
          <a:xfrm>
            <a:off x="457200" y="4407408"/>
            <a:ext cx="1325880" cy="292608"/>
          </a:xfrm>
          <a:prstGeom prst="rect">
            <a:avLst/>
          </a:prstGeom>
          <a:noFill/>
          <a:ln/>
        </p:spPr>
        <p:txBody>
          <a:bodyPr wrap="square" lIns="0" tIns="0" rIns="0" bIns="0" rtlCol="0" anchor="ctr"/>
          <a:lstStyle/>
          <a:p>
            <a:pPr marL="0" indent="0" algn="ctr">
              <a:buNone/>
            </a:pPr>
            <a:r>
              <a:rPr lang="en-US" sz="1300" b="1" dirty="0">
                <a:solidFill>
                  <a:schemeClr val="bg1"/>
                </a:solidFill>
              </a:rPr>
              <a:t>Deterministic</a:t>
            </a:r>
            <a:endParaRPr lang="en-US" sz="1300" dirty="0"/>
          </a:p>
        </p:txBody>
      </p:sp>
      <p:sp>
        <p:nvSpPr>
          <p:cNvPr id="29" name="Chip Auditable"/>
          <p:cNvSpPr/>
          <p:nvPr/>
        </p:nvSpPr>
        <p:spPr>
          <a:xfrm>
            <a:off x="1920240" y="4407408"/>
            <a:ext cx="1325880" cy="292608"/>
          </a:xfrm>
          <a:prstGeom prst="roundRect">
            <a:avLst>
              <a:gd name="adj" fmla="val 18750"/>
            </a:avLst>
          </a:prstGeom>
          <a:solidFill>
            <a:schemeClr val="accent1"/>
          </a:solidFill>
          <a:ln/>
        </p:spPr>
      </p:sp>
      <p:sp>
        <p:nvSpPr>
          <p:cNvPr id="30" name="Chip Auditable text"/>
          <p:cNvSpPr txBox="1"/>
          <p:nvPr/>
        </p:nvSpPr>
        <p:spPr>
          <a:xfrm>
            <a:off x="1920240" y="4407408"/>
            <a:ext cx="1325880" cy="292608"/>
          </a:xfrm>
          <a:prstGeom prst="rect">
            <a:avLst/>
          </a:prstGeom>
          <a:noFill/>
          <a:ln/>
        </p:spPr>
        <p:txBody>
          <a:bodyPr wrap="square" lIns="0" tIns="0" rIns="0" bIns="0" rtlCol="0" anchor="ctr"/>
          <a:lstStyle/>
          <a:p>
            <a:pPr marL="0" indent="0" algn="ctr">
              <a:buNone/>
            </a:pPr>
            <a:r>
              <a:rPr lang="en-US" sz="1300" b="1" dirty="0">
                <a:solidFill>
                  <a:schemeClr val="bg1"/>
                </a:solidFill>
              </a:rPr>
              <a:t>Auditable</a:t>
            </a:r>
            <a:endParaRPr lang="en-US" sz="1300" dirty="0"/>
          </a:p>
        </p:txBody>
      </p:sp>
      <p:sp>
        <p:nvSpPr>
          <p:cNvPr id="31" name="Chip Offline"/>
          <p:cNvSpPr/>
          <p:nvPr/>
        </p:nvSpPr>
        <p:spPr>
          <a:xfrm>
            <a:off x="3383280" y="4407408"/>
            <a:ext cx="1325880" cy="292608"/>
          </a:xfrm>
          <a:prstGeom prst="roundRect">
            <a:avLst>
              <a:gd name="adj" fmla="val 18750"/>
            </a:avLst>
          </a:prstGeom>
          <a:solidFill>
            <a:schemeClr val="accent1"/>
          </a:solidFill>
          <a:ln/>
        </p:spPr>
      </p:sp>
      <p:sp>
        <p:nvSpPr>
          <p:cNvPr id="32" name="Chip Offline text"/>
          <p:cNvSpPr txBox="1"/>
          <p:nvPr/>
        </p:nvSpPr>
        <p:spPr>
          <a:xfrm>
            <a:off x="3383280" y="4407408"/>
            <a:ext cx="1325880" cy="292608"/>
          </a:xfrm>
          <a:prstGeom prst="rect">
            <a:avLst/>
          </a:prstGeom>
          <a:noFill/>
          <a:ln/>
        </p:spPr>
        <p:txBody>
          <a:bodyPr wrap="square" lIns="0" tIns="0" rIns="0" bIns="0" rtlCol="0" anchor="ctr"/>
          <a:lstStyle/>
          <a:p>
            <a:pPr marL="0" indent="0" algn="ctr">
              <a:buNone/>
            </a:pPr>
            <a:r>
              <a:rPr lang="en-US" sz="1300" b="1" dirty="0">
                <a:solidFill>
                  <a:schemeClr val="bg1"/>
                </a:solidFill>
              </a:rPr>
              <a:t>Offline</a:t>
            </a:r>
            <a:endParaRPr lang="en-US" sz="1300" dirty="0"/>
          </a:p>
        </p:txBody>
      </p:sp>
      <p:sp>
        <p:nvSpPr>
          <p:cNvPr id="33"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Innovation 2: what is new</a:t>
            </a:r>
            <a:endParaRPr lang="en-US" sz="3200" dirty="0"/>
          </a:p>
        </p:txBody>
      </p:sp>
      <p:sp>
        <p:nvSpPr>
          <p:cNvPr id="3" name="Innovation intro"/>
          <p:cNvSpPr txBox="1"/>
          <p:nvPr/>
        </p:nvSpPr>
        <p:spPr>
          <a:xfrm>
            <a:off x="457200" y="914400"/>
            <a:ext cx="8229600" cy="256032"/>
          </a:xfrm>
          <a:prstGeom prst="rect">
            <a:avLst/>
          </a:prstGeom>
          <a:noFill/>
          <a:ln/>
        </p:spPr>
        <p:txBody>
          <a:bodyPr wrap="square" lIns="0" tIns="0" rIns="0" bIns="0" rtlCol="0" anchor="t"/>
          <a:lstStyle/>
          <a:p>
            <a:pPr marL="0" indent="0">
              <a:buNone/>
            </a:pPr>
            <a:r>
              <a:rPr lang="en-US" sz="1400" dirty="0">
                <a:solidFill>
                  <a:schemeClr val="accent5"/>
                </a:solidFill>
              </a:rPr>
              <a:t>The diagram showed how decisions are made. These are the five things that are new.</a:t>
            </a:r>
            <a:endParaRPr lang="en-US" sz="1400" dirty="0"/>
          </a:p>
        </p:txBody>
      </p:sp>
      <p:sp>
        <p:nvSpPr>
          <p:cNvPr id="4" name="Idea 1 number circle"/>
          <p:cNvSpPr/>
          <p:nvPr/>
        </p:nvSpPr>
        <p:spPr>
          <a:xfrm>
            <a:off x="457200" y="1353312"/>
            <a:ext cx="420624" cy="420624"/>
          </a:xfrm>
          <a:prstGeom prst="ellipse">
            <a:avLst/>
          </a:prstGeom>
          <a:solidFill>
            <a:schemeClr val="accent1"/>
          </a:solidFill>
          <a:ln/>
        </p:spPr>
      </p:sp>
      <p:sp>
        <p:nvSpPr>
          <p:cNvPr id="5" name="Idea 1 number"/>
          <p:cNvSpPr txBox="1"/>
          <p:nvPr/>
        </p:nvSpPr>
        <p:spPr>
          <a:xfrm>
            <a:off x="457200" y="1353312"/>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Idea 1 title"/>
          <p:cNvSpPr txBox="1"/>
          <p:nvPr/>
        </p:nvSpPr>
        <p:spPr>
          <a:xfrm>
            <a:off x="1051560" y="1289304"/>
            <a:ext cx="4663440" cy="292608"/>
          </a:xfrm>
          <a:prstGeom prst="rect">
            <a:avLst/>
          </a:prstGeom>
          <a:noFill/>
          <a:ln/>
        </p:spPr>
        <p:txBody>
          <a:bodyPr wrap="square" lIns="0" tIns="0" rIns="0" bIns="0" rtlCol="0" anchor="t"/>
          <a:lstStyle/>
          <a:p>
            <a:pPr marL="0" indent="0">
              <a:buNone/>
            </a:pPr>
            <a:r>
              <a:rPr lang="en-US" sz="1600" b="1" dirty="0">
                <a:solidFill>
                  <a:schemeClr val="tx1"/>
                </a:solidFill>
              </a:rPr>
              <a:t>Explains itself in plain English</a:t>
            </a:r>
            <a:endParaRPr lang="en-US" sz="1600" dirty="0"/>
          </a:p>
        </p:txBody>
      </p:sp>
      <p:sp>
        <p:nvSpPr>
          <p:cNvPr id="7" name="Idea 1 text"/>
          <p:cNvSpPr txBox="1"/>
          <p:nvPr/>
        </p:nvSpPr>
        <p:spPr>
          <a:xfrm>
            <a:off x="1051560" y="1581912"/>
            <a:ext cx="4663440" cy="274320"/>
          </a:xfrm>
          <a:prstGeom prst="rect">
            <a:avLst/>
          </a:prstGeom>
          <a:noFill/>
          <a:ln/>
        </p:spPr>
        <p:txBody>
          <a:bodyPr wrap="square" lIns="0" tIns="0" rIns="0" bIns="0" rtlCol="0" anchor="t"/>
          <a:lstStyle/>
          <a:p>
            <a:pPr marL="0" indent="0">
              <a:buNone/>
            </a:pPr>
            <a:r>
              <a:rPr lang="en-US" sz="1400" dirty="0">
                <a:solidFill>
                  <a:schemeClr val="accent5"/>
                </a:solidFill>
              </a:rPr>
              <a:t>Every recommendation has a reason anyone can check</a:t>
            </a:r>
            <a:endParaRPr lang="en-US" sz="1400" dirty="0"/>
          </a:p>
        </p:txBody>
      </p:sp>
      <p:sp>
        <p:nvSpPr>
          <p:cNvPr id="8" name="Idea 2 number circle"/>
          <p:cNvSpPr/>
          <p:nvPr/>
        </p:nvSpPr>
        <p:spPr>
          <a:xfrm>
            <a:off x="457200" y="1993392"/>
            <a:ext cx="420624" cy="420624"/>
          </a:xfrm>
          <a:prstGeom prst="ellipse">
            <a:avLst/>
          </a:prstGeom>
          <a:solidFill>
            <a:schemeClr val="accent1"/>
          </a:solidFill>
          <a:ln/>
        </p:spPr>
      </p:sp>
      <p:sp>
        <p:nvSpPr>
          <p:cNvPr id="9" name="Idea 2 number"/>
          <p:cNvSpPr txBox="1"/>
          <p:nvPr/>
        </p:nvSpPr>
        <p:spPr>
          <a:xfrm>
            <a:off x="457200" y="1993392"/>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Idea 2 title"/>
          <p:cNvSpPr txBox="1"/>
          <p:nvPr/>
        </p:nvSpPr>
        <p:spPr>
          <a:xfrm>
            <a:off x="1051560" y="1929384"/>
            <a:ext cx="4663440" cy="292608"/>
          </a:xfrm>
          <a:prstGeom prst="rect">
            <a:avLst/>
          </a:prstGeom>
          <a:noFill/>
          <a:ln/>
        </p:spPr>
        <p:txBody>
          <a:bodyPr wrap="square" lIns="0" tIns="0" rIns="0" bIns="0" rtlCol="0" anchor="t"/>
          <a:lstStyle/>
          <a:p>
            <a:pPr marL="0" indent="0">
              <a:buNone/>
            </a:pPr>
            <a:r>
              <a:rPr lang="en-US" sz="1600" b="1" dirty="0">
                <a:solidFill>
                  <a:schemeClr val="tx1"/>
                </a:solidFill>
              </a:rPr>
              <a:t>Every number shows its evidence</a:t>
            </a:r>
            <a:endParaRPr lang="en-US" sz="1600" dirty="0"/>
          </a:p>
        </p:txBody>
      </p:sp>
      <p:sp>
        <p:nvSpPr>
          <p:cNvPr id="11" name="Idea 2 text"/>
          <p:cNvSpPr txBox="1"/>
          <p:nvPr/>
        </p:nvSpPr>
        <p:spPr>
          <a:xfrm>
            <a:off x="1051560" y="2221992"/>
            <a:ext cx="4663440" cy="274320"/>
          </a:xfrm>
          <a:prstGeom prst="rect">
            <a:avLst/>
          </a:prstGeom>
          <a:noFill/>
          <a:ln/>
        </p:spPr>
        <p:txBody>
          <a:bodyPr wrap="square" lIns="0" tIns="0" rIns="0" bIns="0" rtlCol="0" anchor="t"/>
          <a:lstStyle/>
          <a:p>
            <a:pPr marL="0" indent="0">
              <a:buNone/>
            </a:pPr>
            <a:r>
              <a:rPr lang="en-US" sz="1400" dirty="0">
                <a:solidFill>
                  <a:schemeClr val="accent5"/>
                </a:solidFill>
              </a:rPr>
              <a:t>[sourced], [assumed] or [simulated] on screen</a:t>
            </a:r>
            <a:endParaRPr lang="en-US" sz="1400" dirty="0"/>
          </a:p>
        </p:txBody>
      </p:sp>
      <p:sp>
        <p:nvSpPr>
          <p:cNvPr id="12" name="Idea 3 number circle"/>
          <p:cNvSpPr/>
          <p:nvPr/>
        </p:nvSpPr>
        <p:spPr>
          <a:xfrm>
            <a:off x="457200" y="2633472"/>
            <a:ext cx="420624" cy="420624"/>
          </a:xfrm>
          <a:prstGeom prst="ellipse">
            <a:avLst/>
          </a:prstGeom>
          <a:solidFill>
            <a:schemeClr val="accent1"/>
          </a:solidFill>
          <a:ln/>
        </p:spPr>
      </p:sp>
      <p:sp>
        <p:nvSpPr>
          <p:cNvPr id="13" name="Idea 3 number"/>
          <p:cNvSpPr txBox="1"/>
          <p:nvPr/>
        </p:nvSpPr>
        <p:spPr>
          <a:xfrm>
            <a:off x="457200" y="2633472"/>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Idea 3 title"/>
          <p:cNvSpPr txBox="1"/>
          <p:nvPr/>
        </p:nvSpPr>
        <p:spPr>
          <a:xfrm>
            <a:off x="1051560" y="2569464"/>
            <a:ext cx="4663440" cy="292608"/>
          </a:xfrm>
          <a:prstGeom prst="rect">
            <a:avLst/>
          </a:prstGeom>
          <a:noFill/>
          <a:ln/>
        </p:spPr>
        <p:txBody>
          <a:bodyPr wrap="square" lIns="0" tIns="0" rIns="0" bIns="0" rtlCol="0" anchor="t"/>
          <a:lstStyle/>
          <a:p>
            <a:pPr marL="0" indent="0">
              <a:buNone/>
            </a:pPr>
            <a:r>
              <a:rPr lang="en-US" sz="1600" b="1" dirty="0">
                <a:solidFill>
                  <a:schemeClr val="tx1"/>
                </a:solidFill>
              </a:rPr>
              <a:t>Never auto-switch</a:t>
            </a:r>
            <a:endParaRPr lang="en-US" sz="1600" dirty="0"/>
          </a:p>
        </p:txBody>
      </p:sp>
      <p:sp>
        <p:nvSpPr>
          <p:cNvPr id="15" name="Idea 3 text"/>
          <p:cNvSpPr txBox="1"/>
          <p:nvPr/>
        </p:nvSpPr>
        <p:spPr>
          <a:xfrm>
            <a:off x="1051560" y="2862072"/>
            <a:ext cx="4663440" cy="274320"/>
          </a:xfrm>
          <a:prstGeom prst="rect">
            <a:avLst/>
          </a:prstGeom>
          <a:noFill/>
          <a:ln/>
        </p:spPr>
        <p:txBody>
          <a:bodyPr wrap="square" lIns="0" tIns="0" rIns="0" bIns="0" rtlCol="0" anchor="t"/>
          <a:lstStyle/>
          <a:p>
            <a:pPr marL="0" indent="0">
              <a:buNone/>
            </a:pPr>
            <a:r>
              <a:rPr lang="en-US" sz="1400" dirty="0">
                <a:solidFill>
                  <a:schemeClr val="accent5"/>
                </a:solidFill>
              </a:rPr>
              <a:t>Disruption options wait for an explicit confirm</a:t>
            </a:r>
            <a:endParaRPr lang="en-US" sz="1400" dirty="0"/>
          </a:p>
        </p:txBody>
      </p:sp>
      <p:sp>
        <p:nvSpPr>
          <p:cNvPr id="16" name="Idea 4 number circle"/>
          <p:cNvSpPr/>
          <p:nvPr/>
        </p:nvSpPr>
        <p:spPr>
          <a:xfrm>
            <a:off x="457200" y="3273552"/>
            <a:ext cx="420624" cy="420624"/>
          </a:xfrm>
          <a:prstGeom prst="ellipse">
            <a:avLst/>
          </a:prstGeom>
          <a:solidFill>
            <a:schemeClr val="accent1"/>
          </a:solidFill>
          <a:ln/>
        </p:spPr>
      </p:sp>
      <p:sp>
        <p:nvSpPr>
          <p:cNvPr id="17" name="Idea 4 number"/>
          <p:cNvSpPr txBox="1"/>
          <p:nvPr/>
        </p:nvSpPr>
        <p:spPr>
          <a:xfrm>
            <a:off x="457200" y="3273552"/>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8" name="Idea 4 title"/>
          <p:cNvSpPr txBox="1"/>
          <p:nvPr/>
        </p:nvSpPr>
        <p:spPr>
          <a:xfrm>
            <a:off x="1051560" y="3209544"/>
            <a:ext cx="4663440" cy="292608"/>
          </a:xfrm>
          <a:prstGeom prst="rect">
            <a:avLst/>
          </a:prstGeom>
          <a:noFill/>
          <a:ln/>
        </p:spPr>
        <p:txBody>
          <a:bodyPr wrap="square" lIns="0" tIns="0" rIns="0" bIns="0" rtlCol="0" anchor="t"/>
          <a:lstStyle/>
          <a:p>
            <a:pPr marL="0" indent="0">
              <a:buNone/>
            </a:pPr>
            <a:r>
              <a:rPr lang="en-US" sz="1600" b="1" dirty="0">
                <a:solidFill>
                  <a:schemeClr val="tx1"/>
                </a:solidFill>
              </a:rPr>
              <a:t>Fair to new boats</a:t>
            </a:r>
            <a:endParaRPr lang="en-US" sz="1600" dirty="0"/>
          </a:p>
        </p:txBody>
      </p:sp>
      <p:sp>
        <p:nvSpPr>
          <p:cNvPr id="19" name="Idea 4 text"/>
          <p:cNvSpPr txBox="1"/>
          <p:nvPr/>
        </p:nvSpPr>
        <p:spPr>
          <a:xfrm>
            <a:off x="1051560" y="3502152"/>
            <a:ext cx="4663440" cy="274320"/>
          </a:xfrm>
          <a:prstGeom prst="rect">
            <a:avLst/>
          </a:prstGeom>
          <a:noFill/>
          <a:ln/>
        </p:spPr>
        <p:txBody>
          <a:bodyPr wrap="square" lIns="0" tIns="0" rIns="0" bIns="0" rtlCol="0" anchor="t"/>
          <a:lstStyle/>
          <a:p>
            <a:pPr marL="0" indent="0">
              <a:buNone/>
            </a:pPr>
            <a:r>
              <a:rPr lang="en-US" sz="1400" dirty="0">
                <a:solidFill>
                  <a:schemeClr val="accent5"/>
                </a:solidFill>
              </a:rPr>
              <a:t>A fair starting score; trips shown beside the %</a:t>
            </a:r>
            <a:endParaRPr lang="en-US" sz="1400" dirty="0"/>
          </a:p>
        </p:txBody>
      </p:sp>
      <p:sp>
        <p:nvSpPr>
          <p:cNvPr id="20" name="Idea 5 number circle"/>
          <p:cNvSpPr/>
          <p:nvPr/>
        </p:nvSpPr>
        <p:spPr>
          <a:xfrm>
            <a:off x="457200" y="3913632"/>
            <a:ext cx="420624" cy="420624"/>
          </a:xfrm>
          <a:prstGeom prst="ellipse">
            <a:avLst/>
          </a:prstGeom>
          <a:solidFill>
            <a:schemeClr val="accent1"/>
          </a:solidFill>
          <a:ln/>
        </p:spPr>
      </p:sp>
      <p:sp>
        <p:nvSpPr>
          <p:cNvPr id="21" name="Idea 5 number"/>
          <p:cNvSpPr txBox="1"/>
          <p:nvPr/>
        </p:nvSpPr>
        <p:spPr>
          <a:xfrm>
            <a:off x="457200" y="3913632"/>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2" name="Idea 5 title"/>
          <p:cNvSpPr txBox="1"/>
          <p:nvPr/>
        </p:nvSpPr>
        <p:spPr>
          <a:xfrm>
            <a:off x="1051560" y="3849624"/>
            <a:ext cx="4663440" cy="292608"/>
          </a:xfrm>
          <a:prstGeom prst="rect">
            <a:avLst/>
          </a:prstGeom>
          <a:noFill/>
          <a:ln/>
        </p:spPr>
        <p:txBody>
          <a:bodyPr wrap="square" lIns="0" tIns="0" rIns="0" bIns="0" rtlCol="0" anchor="t"/>
          <a:lstStyle/>
          <a:p>
            <a:pPr marL="0" indent="0">
              <a:buNone/>
            </a:pPr>
            <a:r>
              <a:rPr lang="en-US" sz="1600" b="1" dirty="0">
                <a:solidFill>
                  <a:schemeClr val="tx1"/>
                </a:solidFill>
              </a:rPr>
              <a:t>Safety before convenience</a:t>
            </a:r>
            <a:endParaRPr lang="en-US" sz="1600" dirty="0"/>
          </a:p>
        </p:txBody>
      </p:sp>
      <p:sp>
        <p:nvSpPr>
          <p:cNvPr id="23" name="Idea 5 text"/>
          <p:cNvSpPr txBox="1"/>
          <p:nvPr/>
        </p:nvSpPr>
        <p:spPr>
          <a:xfrm>
            <a:off x="1051560" y="4142232"/>
            <a:ext cx="4663440" cy="274320"/>
          </a:xfrm>
          <a:prstGeom prst="rect">
            <a:avLst/>
          </a:prstGeom>
          <a:noFill/>
          <a:ln/>
        </p:spPr>
        <p:txBody>
          <a:bodyPr wrap="square" lIns="0" tIns="0" rIns="0" bIns="0" rtlCol="0" anchor="t"/>
          <a:lstStyle/>
          <a:p>
            <a:pPr marL="0" indent="0">
              <a:buNone/>
            </a:pPr>
            <a:r>
              <a:rPr lang="en-US" sz="1400" dirty="0">
                <a:solidFill>
                  <a:schemeClr val="accent5"/>
                </a:solidFill>
              </a:rPr>
              <a:t>Hazardous cargo hard-filtered, reasons named</a:t>
            </a:r>
            <a:endParaRPr lang="en-US" sz="1400" dirty="0"/>
          </a:p>
        </p:txBody>
      </p:sp>
      <p:sp>
        <p:nvSpPr>
          <p:cNvPr id="24" name="Evidence panel"/>
          <p:cNvSpPr/>
          <p:nvPr/>
        </p:nvSpPr>
        <p:spPr>
          <a:xfrm>
            <a:off x="5943600" y="1280160"/>
            <a:ext cx="2743200" cy="3200400"/>
          </a:xfrm>
          <a:prstGeom prst="roundRect">
            <a:avLst>
              <a:gd name="adj" fmla="val 2667"/>
            </a:avLst>
          </a:prstGeom>
          <a:solidFill>
            <a:schemeClr val="tx2"/>
          </a:solidFill>
          <a:ln/>
        </p:spPr>
      </p:sp>
      <p:sp>
        <p:nvSpPr>
          <p:cNvPr id="25" name="Evidence heading"/>
          <p:cNvSpPr txBox="1"/>
          <p:nvPr/>
        </p:nvSpPr>
        <p:spPr>
          <a:xfrm>
            <a:off x="6126480" y="1399032"/>
            <a:ext cx="2377440" cy="274320"/>
          </a:xfrm>
          <a:prstGeom prst="rect">
            <a:avLst/>
          </a:prstGeom>
          <a:noFill/>
          <a:ln/>
        </p:spPr>
        <p:txBody>
          <a:bodyPr wrap="square" lIns="0" tIns="0" rIns="0" bIns="0" rtlCol="0" anchor="t"/>
          <a:lstStyle/>
          <a:p>
            <a:pPr marL="0" indent="0">
              <a:buNone/>
            </a:pPr>
            <a:r>
              <a:rPr lang="en-US" sz="1400" b="1" dirty="0">
                <a:solidFill>
                  <a:schemeClr val="accent6"/>
                </a:solidFill>
              </a:rPr>
              <a:t>What the screen shows</a:t>
            </a:r>
            <a:endParaRPr lang="en-US" sz="1400" dirty="0"/>
          </a:p>
        </p:txBody>
      </p:sp>
      <p:sp>
        <p:nvSpPr>
          <p:cNvPr id="26" name="Evidence value 1"/>
          <p:cNvSpPr txBox="1"/>
          <p:nvPr/>
        </p:nvSpPr>
        <p:spPr>
          <a:xfrm>
            <a:off x="6126480" y="1810512"/>
            <a:ext cx="2377440" cy="320040"/>
          </a:xfrm>
          <a:prstGeom prst="rect">
            <a:avLst/>
          </a:prstGeom>
          <a:noFill/>
          <a:ln/>
        </p:spPr>
        <p:txBody>
          <a:bodyPr wrap="square" lIns="0" tIns="0" rIns="0" bIns="0" rtlCol="0" anchor="t"/>
          <a:lstStyle/>
          <a:p>
            <a:pPr marL="0" indent="0">
              <a:buNone/>
            </a:pPr>
            <a:r>
              <a:rPr lang="en-US" sz="1600" b="1" dirty="0">
                <a:solidFill>
                  <a:schemeClr val="bg1"/>
                </a:solidFill>
              </a:rPr>
              <a:t>Rs 5,800</a:t>
            </a:r>
            <a:endParaRPr lang="en-US" sz="1600" dirty="0"/>
          </a:p>
        </p:txBody>
      </p:sp>
      <p:sp>
        <p:nvSpPr>
          <p:cNvPr id="27" name="Evidence pill 1"/>
          <p:cNvSpPr/>
          <p:nvPr/>
        </p:nvSpPr>
        <p:spPr>
          <a:xfrm>
            <a:off x="6126480" y="2176272"/>
            <a:ext cx="1005840" cy="256032"/>
          </a:xfrm>
          <a:prstGeom prst="roundRect">
            <a:avLst>
              <a:gd name="adj" fmla="val 21429"/>
            </a:avLst>
          </a:prstGeom>
          <a:solidFill>
            <a:srgbClr val="FEF9C3"/>
          </a:solidFill>
          <a:ln/>
        </p:spPr>
      </p:sp>
      <p:sp>
        <p:nvSpPr>
          <p:cNvPr id="28" name="Evidence pill 1 text"/>
          <p:cNvSpPr txBox="1"/>
          <p:nvPr/>
        </p:nvSpPr>
        <p:spPr>
          <a:xfrm>
            <a:off x="6126480" y="2176272"/>
            <a:ext cx="1005840" cy="256032"/>
          </a:xfrm>
          <a:prstGeom prst="rect">
            <a:avLst/>
          </a:prstGeom>
          <a:noFill/>
          <a:ln/>
        </p:spPr>
        <p:txBody>
          <a:bodyPr wrap="square" lIns="0" tIns="0" rIns="0" bIns="0" rtlCol="0" anchor="ctr"/>
          <a:lstStyle/>
          <a:p>
            <a:pPr marL="0" indent="0" algn="ctr">
              <a:buNone/>
            </a:pPr>
            <a:r>
              <a:rPr lang="en-US" sz="1200" b="1" dirty="0">
                <a:solidFill>
                  <a:srgbClr val="713F12"/>
                </a:solidFill>
              </a:rPr>
              <a:t>[assumed]</a:t>
            </a:r>
            <a:endParaRPr lang="en-US" sz="1200" dirty="0"/>
          </a:p>
        </p:txBody>
      </p:sp>
      <p:sp>
        <p:nvSpPr>
          <p:cNvPr id="29" name="Evidence value 2"/>
          <p:cNvSpPr txBox="1"/>
          <p:nvPr/>
        </p:nvSpPr>
        <p:spPr>
          <a:xfrm>
            <a:off x="6126480" y="2679192"/>
            <a:ext cx="2377440" cy="320040"/>
          </a:xfrm>
          <a:prstGeom prst="rect">
            <a:avLst/>
          </a:prstGeom>
          <a:noFill/>
          <a:ln/>
        </p:spPr>
        <p:txBody>
          <a:bodyPr wrap="square" lIns="0" tIns="0" rIns="0" bIns="0" rtlCol="0" anchor="t"/>
          <a:lstStyle/>
          <a:p>
            <a:pPr marL="0" indent="0">
              <a:buNone/>
            </a:pPr>
            <a:r>
              <a:rPr lang="en-US" sz="1600" b="1" dirty="0">
                <a:solidFill>
                  <a:schemeClr val="bg1"/>
                </a:solidFill>
              </a:rPr>
              <a:t>76% on time, 12 trips</a:t>
            </a:r>
            <a:endParaRPr lang="en-US" sz="1600" dirty="0"/>
          </a:p>
        </p:txBody>
      </p:sp>
      <p:sp>
        <p:nvSpPr>
          <p:cNvPr id="30" name="Evidence pill 2"/>
          <p:cNvSpPr/>
          <p:nvPr/>
        </p:nvSpPr>
        <p:spPr>
          <a:xfrm>
            <a:off x="6126480" y="3044952"/>
            <a:ext cx="1005840" cy="256032"/>
          </a:xfrm>
          <a:prstGeom prst="roundRect">
            <a:avLst>
              <a:gd name="adj" fmla="val 21429"/>
            </a:avLst>
          </a:prstGeom>
          <a:solidFill>
            <a:srgbClr val="EDE9FE"/>
          </a:solidFill>
          <a:ln/>
        </p:spPr>
      </p:sp>
      <p:sp>
        <p:nvSpPr>
          <p:cNvPr id="31" name="Evidence pill 2 text"/>
          <p:cNvSpPr txBox="1"/>
          <p:nvPr/>
        </p:nvSpPr>
        <p:spPr>
          <a:xfrm>
            <a:off x="6126480" y="3044952"/>
            <a:ext cx="1005840" cy="256032"/>
          </a:xfrm>
          <a:prstGeom prst="rect">
            <a:avLst/>
          </a:prstGeom>
          <a:noFill/>
          <a:ln/>
        </p:spPr>
        <p:txBody>
          <a:bodyPr wrap="square" lIns="0" tIns="0" rIns="0" bIns="0" rtlCol="0" anchor="ctr"/>
          <a:lstStyle/>
          <a:p>
            <a:pPr marL="0" indent="0" algn="ctr">
              <a:buNone/>
            </a:pPr>
            <a:r>
              <a:rPr lang="en-US" sz="1200" b="1" dirty="0">
                <a:solidFill>
                  <a:srgbClr val="5B21B6"/>
                </a:solidFill>
              </a:rPr>
              <a:t>[simulated]</a:t>
            </a:r>
            <a:endParaRPr lang="en-US" sz="1200" dirty="0"/>
          </a:p>
        </p:txBody>
      </p:sp>
      <p:sp>
        <p:nvSpPr>
          <p:cNvPr id="32" name="Evidence value 3"/>
          <p:cNvSpPr txBox="1"/>
          <p:nvPr/>
        </p:nvSpPr>
        <p:spPr>
          <a:xfrm>
            <a:off x="6126480" y="3547872"/>
            <a:ext cx="2377440" cy="320040"/>
          </a:xfrm>
          <a:prstGeom prst="rect">
            <a:avLst/>
          </a:prstGeom>
          <a:noFill/>
          <a:ln/>
        </p:spPr>
        <p:txBody>
          <a:bodyPr wrap="square" lIns="0" tIns="0" rIns="0" bIns="0" rtlCol="0" anchor="t"/>
          <a:lstStyle/>
          <a:p>
            <a:pPr marL="0" indent="0">
              <a:buNone/>
            </a:pPr>
            <a:r>
              <a:rPr lang="en-US" sz="1600" b="1" dirty="0">
                <a:solidFill>
                  <a:schemeClr val="bg1"/>
                </a:solidFill>
              </a:rPr>
              <a:t>CO₂ factor 3.3x</a:t>
            </a:r>
            <a:endParaRPr lang="en-US" sz="1600" dirty="0"/>
          </a:p>
        </p:txBody>
      </p:sp>
      <p:sp>
        <p:nvSpPr>
          <p:cNvPr id="33" name="Evidence pill 3"/>
          <p:cNvSpPr/>
          <p:nvPr/>
        </p:nvSpPr>
        <p:spPr>
          <a:xfrm>
            <a:off x="6126480" y="3913632"/>
            <a:ext cx="1005840" cy="256032"/>
          </a:xfrm>
          <a:prstGeom prst="roundRect">
            <a:avLst>
              <a:gd name="adj" fmla="val 21429"/>
            </a:avLst>
          </a:prstGeom>
          <a:solidFill>
            <a:srgbClr val="DCFCE7"/>
          </a:solidFill>
          <a:ln/>
        </p:spPr>
      </p:sp>
      <p:sp>
        <p:nvSpPr>
          <p:cNvPr id="34" name="Evidence pill 3 text"/>
          <p:cNvSpPr txBox="1"/>
          <p:nvPr/>
        </p:nvSpPr>
        <p:spPr>
          <a:xfrm>
            <a:off x="6126480" y="3913632"/>
            <a:ext cx="1005840" cy="256032"/>
          </a:xfrm>
          <a:prstGeom prst="rect">
            <a:avLst/>
          </a:prstGeom>
          <a:noFill/>
          <a:ln/>
        </p:spPr>
        <p:txBody>
          <a:bodyPr wrap="square" lIns="0" tIns="0" rIns="0" bIns="0" rtlCol="0" anchor="ctr"/>
          <a:lstStyle/>
          <a:p>
            <a:pPr marL="0" indent="0" algn="ctr">
              <a:buNone/>
            </a:pPr>
            <a:r>
              <a:rPr lang="en-US" sz="1200" b="1" dirty="0">
                <a:solidFill>
                  <a:srgbClr val="166534"/>
                </a:solidFill>
              </a:rPr>
              <a:t>[sourced]</a:t>
            </a:r>
            <a:endParaRPr lang="en-US" sz="1200" dirty="0"/>
          </a:p>
        </p:txBody>
      </p:sp>
      <p:sp>
        <p:nvSpPr>
          <p:cNvPr id="35" name="Evidence caption"/>
          <p:cNvSpPr txBox="1"/>
          <p:nvPr/>
        </p:nvSpPr>
        <p:spPr>
          <a:xfrm>
            <a:off x="6126480" y="4224528"/>
            <a:ext cx="2377440" cy="201168"/>
          </a:xfrm>
          <a:prstGeom prst="rect">
            <a:avLst/>
          </a:prstGeom>
          <a:noFill/>
          <a:ln/>
        </p:spPr>
        <p:txBody>
          <a:bodyPr wrap="square" lIns="0" tIns="0" rIns="0" bIns="0" rtlCol="0" anchor="t"/>
          <a:lstStyle/>
          <a:p>
            <a:pPr marL="0" indent="0">
              <a:buNone/>
            </a:pPr>
            <a:r>
              <a:rPr lang="en-US" sz="1100" dirty="0">
                <a:solidFill>
                  <a:schemeClr val="accent6"/>
                </a:solidFill>
              </a:rPr>
              <a:t>Examples from the running app</a:t>
            </a:r>
            <a:endParaRPr lang="en-US" sz="1100" dirty="0"/>
          </a:p>
        </p:txBody>
      </p:sp>
      <p:sp>
        <p:nvSpPr>
          <p:cNvPr id="36"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Innovation 3: specs kept the AI honest</a:t>
            </a:r>
            <a:endParaRPr lang="en-US" sz="3200" dirty="0"/>
          </a:p>
        </p:txBody>
      </p:sp>
      <p:sp>
        <p:nvSpPr>
          <p:cNvPr id="3" name="SDD evidence 1 circle"/>
          <p:cNvSpPr/>
          <p:nvPr/>
        </p:nvSpPr>
        <p:spPr>
          <a:xfrm>
            <a:off x="457200" y="1170432"/>
            <a:ext cx="384048" cy="384048"/>
          </a:xfrm>
          <a:prstGeom prst="ellipse">
            <a:avLst/>
          </a:prstGeom>
          <a:solidFill>
            <a:schemeClr val="accent3"/>
          </a:solidFill>
          <a:ln/>
        </p:spPr>
      </p:sp>
      <p:sp>
        <p:nvSpPr>
          <p:cNvPr id="4" name="SDD evidence 1 num"/>
          <p:cNvSpPr txBox="1"/>
          <p:nvPr/>
        </p:nvSpPr>
        <p:spPr>
          <a:xfrm>
            <a:off x="457200" y="117043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5" name="SDD evidence 1 title"/>
          <p:cNvSpPr txBox="1"/>
          <p:nvPr/>
        </p:nvSpPr>
        <p:spPr>
          <a:xfrm>
            <a:off x="1005840" y="1097280"/>
            <a:ext cx="4480560" cy="274320"/>
          </a:xfrm>
          <a:prstGeom prst="rect">
            <a:avLst/>
          </a:prstGeom>
          <a:noFill/>
          <a:ln/>
        </p:spPr>
        <p:txBody>
          <a:bodyPr wrap="square" lIns="0" tIns="0" rIns="0" bIns="0" rtlCol="0" anchor="t"/>
          <a:lstStyle/>
          <a:p>
            <a:pPr marL="0" indent="0">
              <a:buNone/>
            </a:pPr>
            <a:r>
              <a:rPr lang="en-US" sz="1600" b="1" dirty="0">
                <a:solidFill>
                  <a:schemeClr val="tx1"/>
                </a:solidFill>
              </a:rPr>
              <a:t>Tests first</a:t>
            </a:r>
            <a:endParaRPr lang="en-US" sz="1600" dirty="0"/>
          </a:p>
        </p:txBody>
      </p:sp>
      <p:sp>
        <p:nvSpPr>
          <p:cNvPr id="6" name="SDD evidence 1 text"/>
          <p:cNvSpPr txBox="1"/>
          <p:nvPr/>
        </p:nvSpPr>
        <p:spPr>
          <a:xfrm>
            <a:off x="1005840" y="1389888"/>
            <a:ext cx="4480560" cy="548640"/>
          </a:xfrm>
          <a:prstGeom prst="rect">
            <a:avLst/>
          </a:prstGeom>
          <a:noFill/>
          <a:ln/>
        </p:spPr>
        <p:txBody>
          <a:bodyPr wrap="square" lIns="0" tIns="0" rIns="0" bIns="0" rtlCol="0" anchor="t"/>
          <a:lstStyle/>
          <a:p>
            <a:pPr marL="0" indent="0">
              <a:buNone/>
            </a:pPr>
            <a:r>
              <a:rPr lang="en-US" sz="1400" dirty="0">
                <a:solidFill>
                  <a:schemeClr val="accent5"/>
                </a:solidFill>
              </a:rPr>
              <a:t>261 tests; engine functions are tested before they count as done</a:t>
            </a:r>
            <a:endParaRPr lang="en-US" sz="1400" dirty="0"/>
          </a:p>
        </p:txBody>
      </p:sp>
      <p:sp>
        <p:nvSpPr>
          <p:cNvPr id="7" name="SDD evidence 2 circle"/>
          <p:cNvSpPr/>
          <p:nvPr/>
        </p:nvSpPr>
        <p:spPr>
          <a:xfrm>
            <a:off x="457200" y="2039112"/>
            <a:ext cx="384048" cy="384048"/>
          </a:xfrm>
          <a:prstGeom prst="ellipse">
            <a:avLst/>
          </a:prstGeom>
          <a:solidFill>
            <a:schemeClr val="accent3"/>
          </a:solidFill>
          <a:ln/>
        </p:spPr>
      </p:sp>
      <p:sp>
        <p:nvSpPr>
          <p:cNvPr id="8" name="SDD evidence 2 num"/>
          <p:cNvSpPr txBox="1"/>
          <p:nvPr/>
        </p:nvSpPr>
        <p:spPr>
          <a:xfrm>
            <a:off x="457200" y="203911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SDD evidence 2 title"/>
          <p:cNvSpPr txBox="1"/>
          <p:nvPr/>
        </p:nvSpPr>
        <p:spPr>
          <a:xfrm>
            <a:off x="1005840" y="1965960"/>
            <a:ext cx="4480560" cy="274320"/>
          </a:xfrm>
          <a:prstGeom prst="rect">
            <a:avLst/>
          </a:prstGeom>
          <a:noFill/>
          <a:ln/>
        </p:spPr>
        <p:txBody>
          <a:bodyPr wrap="square" lIns="0" tIns="0" rIns="0" bIns="0" rtlCol="0" anchor="t"/>
          <a:lstStyle/>
          <a:p>
            <a:pPr marL="0" indent="0">
              <a:buNone/>
            </a:pPr>
            <a:r>
              <a:rPr lang="en-US" sz="1600" b="1" dirty="0">
                <a:solidFill>
                  <a:schemeClr val="tx1"/>
                </a:solidFill>
              </a:rPr>
              <a:t>Analyze before build</a:t>
            </a:r>
            <a:endParaRPr lang="en-US" sz="1600" dirty="0"/>
          </a:p>
        </p:txBody>
      </p:sp>
      <p:sp>
        <p:nvSpPr>
          <p:cNvPr id="10" name="SDD evidence 2 text"/>
          <p:cNvSpPr txBox="1"/>
          <p:nvPr/>
        </p:nvSpPr>
        <p:spPr>
          <a:xfrm>
            <a:off x="1005840" y="2258568"/>
            <a:ext cx="4480560" cy="548640"/>
          </a:xfrm>
          <a:prstGeom prst="rect">
            <a:avLst/>
          </a:prstGeom>
          <a:noFill/>
          <a:ln/>
        </p:spPr>
        <p:txBody>
          <a:bodyPr wrap="square" lIns="0" tIns="0" rIns="0" bIns="0" rtlCol="0" anchor="t"/>
          <a:lstStyle/>
          <a:p>
            <a:pPr marL="0" indent="0">
              <a:buNone/>
            </a:pPr>
            <a:r>
              <a:rPr lang="en-US" sz="1400" dirty="0">
                <a:solidFill>
                  <a:schemeClr val="accent5"/>
                </a:solidFill>
              </a:rPr>
              <a:t>Caught a random id inside the engine, hardcoded weights, and a re-plan log that broke the read-only rule. All fixed.</a:t>
            </a:r>
            <a:endParaRPr lang="en-US" sz="1400" dirty="0"/>
          </a:p>
        </p:txBody>
      </p:sp>
      <p:sp>
        <p:nvSpPr>
          <p:cNvPr id="11" name="SDD evidence 3 circle"/>
          <p:cNvSpPr/>
          <p:nvPr/>
        </p:nvSpPr>
        <p:spPr>
          <a:xfrm>
            <a:off x="457200" y="2907792"/>
            <a:ext cx="384048" cy="384048"/>
          </a:xfrm>
          <a:prstGeom prst="ellipse">
            <a:avLst/>
          </a:prstGeom>
          <a:solidFill>
            <a:schemeClr val="accent3"/>
          </a:solidFill>
          <a:ln/>
        </p:spPr>
      </p:sp>
      <p:sp>
        <p:nvSpPr>
          <p:cNvPr id="12" name="SDD evidence 3 num"/>
          <p:cNvSpPr txBox="1"/>
          <p:nvPr/>
        </p:nvSpPr>
        <p:spPr>
          <a:xfrm>
            <a:off x="457200" y="290779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3" name="SDD evidence 3 title"/>
          <p:cNvSpPr txBox="1"/>
          <p:nvPr/>
        </p:nvSpPr>
        <p:spPr>
          <a:xfrm>
            <a:off x="1005840" y="2834640"/>
            <a:ext cx="4480560" cy="274320"/>
          </a:xfrm>
          <a:prstGeom prst="rect">
            <a:avLst/>
          </a:prstGeom>
          <a:noFill/>
          <a:ln/>
        </p:spPr>
        <p:txBody>
          <a:bodyPr wrap="square" lIns="0" tIns="0" rIns="0" bIns="0" rtlCol="0" anchor="t"/>
          <a:lstStyle/>
          <a:p>
            <a:pPr marL="0" indent="0">
              <a:buNone/>
            </a:pPr>
            <a:r>
              <a:rPr lang="en-US" sz="1600" b="1" dirty="0">
                <a:solidFill>
                  <a:schemeClr val="tx1"/>
                </a:solidFill>
              </a:rPr>
              <a:t>Gates that can fail</a:t>
            </a:r>
            <a:endParaRPr lang="en-US" sz="1600" dirty="0"/>
          </a:p>
        </p:txBody>
      </p:sp>
      <p:sp>
        <p:nvSpPr>
          <p:cNvPr id="14" name="SDD evidence 3 text"/>
          <p:cNvSpPr txBox="1"/>
          <p:nvPr/>
        </p:nvSpPr>
        <p:spPr>
          <a:xfrm>
            <a:off x="1005840" y="3127248"/>
            <a:ext cx="4480560" cy="548640"/>
          </a:xfrm>
          <a:prstGeom prst="rect">
            <a:avLst/>
          </a:prstGeom>
          <a:noFill/>
          <a:ln/>
        </p:spPr>
        <p:txBody>
          <a:bodyPr wrap="square" lIns="0" tIns="0" rIns="0" bIns="0" rtlCol="0" anchor="t"/>
          <a:lstStyle/>
          <a:p>
            <a:pPr marL="0" indent="0">
              <a:buNone/>
            </a:pPr>
            <a:r>
              <a:rPr lang="en-US" sz="1400" dirty="0">
                <a:solidFill>
                  <a:schemeClr val="accent5"/>
                </a:solidFill>
              </a:rPr>
              <a:t>Checks: no LLM imports in the engine; docs must match the data</a:t>
            </a:r>
            <a:endParaRPr lang="en-US" sz="1400" dirty="0"/>
          </a:p>
        </p:txBody>
      </p:sp>
      <p:sp>
        <p:nvSpPr>
          <p:cNvPr id="15" name="SDD evidence 4 circle"/>
          <p:cNvSpPr/>
          <p:nvPr/>
        </p:nvSpPr>
        <p:spPr>
          <a:xfrm>
            <a:off x="457200" y="3776472"/>
            <a:ext cx="384048" cy="384048"/>
          </a:xfrm>
          <a:prstGeom prst="ellipse">
            <a:avLst/>
          </a:prstGeom>
          <a:solidFill>
            <a:schemeClr val="accent3"/>
          </a:solidFill>
          <a:ln/>
        </p:spPr>
      </p:sp>
      <p:sp>
        <p:nvSpPr>
          <p:cNvPr id="16" name="SDD evidence 4 num"/>
          <p:cNvSpPr txBox="1"/>
          <p:nvPr/>
        </p:nvSpPr>
        <p:spPr>
          <a:xfrm>
            <a:off x="457200" y="377647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7" name="SDD evidence 4 title"/>
          <p:cNvSpPr txBox="1"/>
          <p:nvPr/>
        </p:nvSpPr>
        <p:spPr>
          <a:xfrm>
            <a:off x="1005840" y="3703320"/>
            <a:ext cx="4480560" cy="274320"/>
          </a:xfrm>
          <a:prstGeom prst="rect">
            <a:avLst/>
          </a:prstGeom>
          <a:noFill/>
          <a:ln/>
        </p:spPr>
        <p:txBody>
          <a:bodyPr wrap="square" lIns="0" tIns="0" rIns="0" bIns="0" rtlCol="0" anchor="t"/>
          <a:lstStyle/>
          <a:p>
            <a:pPr marL="0" indent="0">
              <a:buNone/>
            </a:pPr>
            <a:r>
              <a:rPr lang="en-US" sz="1600" b="1" dirty="0">
                <a:solidFill>
                  <a:schemeClr val="tx1"/>
                </a:solidFill>
              </a:rPr>
              <a:t>One source of truth</a:t>
            </a:r>
            <a:endParaRPr lang="en-US" sz="1600" dirty="0"/>
          </a:p>
        </p:txBody>
      </p:sp>
      <p:sp>
        <p:nvSpPr>
          <p:cNvPr id="18" name="SDD evidence 4 text"/>
          <p:cNvSpPr txBox="1"/>
          <p:nvPr/>
        </p:nvSpPr>
        <p:spPr>
          <a:xfrm>
            <a:off x="1005840" y="3995928"/>
            <a:ext cx="4480560" cy="548640"/>
          </a:xfrm>
          <a:prstGeom prst="rect">
            <a:avLst/>
          </a:prstGeom>
          <a:noFill/>
          <a:ln/>
        </p:spPr>
        <p:txBody>
          <a:bodyPr wrap="square" lIns="0" tIns="0" rIns="0" bIns="0" rtlCol="0" anchor="t"/>
          <a:lstStyle/>
          <a:p>
            <a:pPr marL="0" indent="0">
              <a:buNone/>
            </a:pPr>
            <a:r>
              <a:rPr lang="en-US" sz="1400" dirty="0">
                <a:solidFill>
                  <a:schemeClr val="accent5"/>
                </a:solidFill>
              </a:rPr>
              <a:t>Every number lives in config with a tag; doc tables are generated from it</a:t>
            </a:r>
            <a:endParaRPr lang="en-US" sz="1400" dirty="0"/>
          </a:p>
        </p:txBody>
      </p:sp>
      <p:sp>
        <p:nvSpPr>
          <p:cNvPr id="19" name="Where AI sits panel"/>
          <p:cNvSpPr/>
          <p:nvPr/>
        </p:nvSpPr>
        <p:spPr>
          <a:xfrm>
            <a:off x="5852160" y="1097280"/>
            <a:ext cx="2834640" cy="3383280"/>
          </a:xfrm>
          <a:prstGeom prst="roundRect">
            <a:avLst>
              <a:gd name="adj" fmla="val 2581"/>
            </a:avLst>
          </a:prstGeom>
          <a:solidFill>
            <a:schemeClr val="tx2"/>
          </a:solidFill>
          <a:ln/>
        </p:spPr>
      </p:sp>
      <p:sp>
        <p:nvSpPr>
          <p:cNvPr id="20" name="AI panel heading"/>
          <p:cNvSpPr txBox="1"/>
          <p:nvPr/>
        </p:nvSpPr>
        <p:spPr>
          <a:xfrm>
            <a:off x="6035040" y="1207008"/>
            <a:ext cx="2468880" cy="274320"/>
          </a:xfrm>
          <a:prstGeom prst="rect">
            <a:avLst/>
          </a:prstGeom>
          <a:noFill/>
          <a:ln/>
        </p:spPr>
        <p:txBody>
          <a:bodyPr wrap="square" lIns="0" tIns="0" rIns="0" bIns="0" rtlCol="0" anchor="t"/>
          <a:lstStyle/>
          <a:p>
            <a:pPr marL="0" indent="0">
              <a:buNone/>
            </a:pPr>
            <a:r>
              <a:rPr lang="en-US" sz="1400" b="1" dirty="0">
                <a:solidFill>
                  <a:schemeClr val="accent6"/>
                </a:solidFill>
              </a:rPr>
              <a:t>Where AI sits</a:t>
            </a:r>
            <a:endParaRPr lang="en-US" sz="1400" dirty="0"/>
          </a:p>
        </p:txBody>
      </p:sp>
      <p:sp>
        <p:nvSpPr>
          <p:cNvPr id="21" name="AI panel box 1"/>
          <p:cNvSpPr/>
          <p:nvPr/>
        </p:nvSpPr>
        <p:spPr>
          <a:xfrm>
            <a:off x="6035040" y="1600200"/>
            <a:ext cx="2468880" cy="329184"/>
          </a:xfrm>
          <a:prstGeom prst="roundRect">
            <a:avLst>
              <a:gd name="adj" fmla="val 16667"/>
            </a:avLst>
          </a:prstGeom>
          <a:solidFill>
            <a:schemeClr val="accent2"/>
          </a:solidFill>
          <a:ln/>
        </p:spPr>
      </p:sp>
      <p:sp>
        <p:nvSpPr>
          <p:cNvPr id="22" name="AI panel box 1 text"/>
          <p:cNvSpPr txBox="1"/>
          <p:nvPr/>
        </p:nvSpPr>
        <p:spPr>
          <a:xfrm>
            <a:off x="6035040" y="1600200"/>
            <a:ext cx="2468880" cy="329184"/>
          </a:xfrm>
          <a:prstGeom prst="rect">
            <a:avLst/>
          </a:prstGeom>
          <a:noFill/>
          <a:ln/>
        </p:spPr>
        <p:txBody>
          <a:bodyPr wrap="square" lIns="0" tIns="0" rIns="0" bIns="0" rtlCol="0" anchor="ctr"/>
          <a:lstStyle/>
          <a:p>
            <a:pPr marL="0" indent="0" algn="ctr">
              <a:buNone/>
            </a:pPr>
            <a:r>
              <a:rPr lang="en-US" sz="1400" b="1" dirty="0">
                <a:solidFill>
                  <a:schemeClr val="tx1"/>
                </a:solidFill>
              </a:rPr>
              <a:t>AI agents</a:t>
            </a:r>
            <a:endParaRPr lang="en-US" sz="1400" dirty="0"/>
          </a:p>
        </p:txBody>
      </p:sp>
      <p:sp>
        <p:nvSpPr>
          <p:cNvPr id="23" name="AI panel text 1"/>
          <p:cNvSpPr txBox="1"/>
          <p:nvPr/>
        </p:nvSpPr>
        <p:spPr>
          <a:xfrm>
            <a:off x="6035040" y="1965960"/>
            <a:ext cx="2468880" cy="274320"/>
          </a:xfrm>
          <a:prstGeom prst="rect">
            <a:avLst/>
          </a:prstGeom>
          <a:noFill/>
          <a:ln/>
        </p:spPr>
        <p:txBody>
          <a:bodyPr wrap="square" lIns="0" tIns="0" rIns="0" bIns="0" rtlCol="0" anchor="t"/>
          <a:lstStyle/>
          <a:p>
            <a:pPr marL="0" indent="0" algn="ctr">
              <a:buNone/>
            </a:pPr>
            <a:r>
              <a:rPr lang="en-US" sz="1400" dirty="0">
                <a:solidFill>
                  <a:schemeClr val="bg1"/>
                </a:solidFill>
              </a:rPr>
              <a:t>write the code</a:t>
            </a:r>
            <a:endParaRPr lang="en-US" sz="1400" dirty="0"/>
          </a:p>
        </p:txBody>
      </p:sp>
      <p:sp>
        <p:nvSpPr>
          <p:cNvPr id="24" name="AI panel box 2"/>
          <p:cNvSpPr/>
          <p:nvPr/>
        </p:nvSpPr>
        <p:spPr>
          <a:xfrm>
            <a:off x="6035040" y="2377440"/>
            <a:ext cx="2468880" cy="329184"/>
          </a:xfrm>
          <a:prstGeom prst="roundRect">
            <a:avLst>
              <a:gd name="adj" fmla="val 16667"/>
            </a:avLst>
          </a:prstGeom>
          <a:solidFill>
            <a:schemeClr val="accent1"/>
          </a:solidFill>
          <a:ln/>
        </p:spPr>
      </p:sp>
      <p:sp>
        <p:nvSpPr>
          <p:cNvPr id="25" name="AI panel box 2 text"/>
          <p:cNvSpPr txBox="1"/>
          <p:nvPr/>
        </p:nvSpPr>
        <p:spPr>
          <a:xfrm>
            <a:off x="6035040" y="2377440"/>
            <a:ext cx="2468880" cy="329184"/>
          </a:xfrm>
          <a:prstGeom prst="rect">
            <a:avLst/>
          </a:prstGeom>
          <a:noFill/>
          <a:ln/>
        </p:spPr>
        <p:txBody>
          <a:bodyPr wrap="square" lIns="0" tIns="0" rIns="0" bIns="0" rtlCol="0" anchor="ctr"/>
          <a:lstStyle/>
          <a:p>
            <a:pPr marL="0" indent="0" algn="ctr">
              <a:buNone/>
            </a:pPr>
            <a:r>
              <a:rPr lang="en-US" sz="1400" b="1" dirty="0">
                <a:solidFill>
                  <a:schemeClr val="bg1"/>
                </a:solidFill>
              </a:rPr>
              <a:t>Specs, tests, gates</a:t>
            </a:r>
            <a:endParaRPr lang="en-US" sz="1400" dirty="0"/>
          </a:p>
        </p:txBody>
      </p:sp>
      <p:sp>
        <p:nvSpPr>
          <p:cNvPr id="26" name="AI panel text 2"/>
          <p:cNvSpPr txBox="1"/>
          <p:nvPr/>
        </p:nvSpPr>
        <p:spPr>
          <a:xfrm>
            <a:off x="6035040" y="2743200"/>
            <a:ext cx="2468880" cy="274320"/>
          </a:xfrm>
          <a:prstGeom prst="rect">
            <a:avLst/>
          </a:prstGeom>
          <a:noFill/>
          <a:ln/>
        </p:spPr>
        <p:txBody>
          <a:bodyPr wrap="square" lIns="0" tIns="0" rIns="0" bIns="0" rtlCol="0" anchor="t"/>
          <a:lstStyle/>
          <a:p>
            <a:pPr marL="0" indent="0" algn="ctr">
              <a:buNone/>
            </a:pPr>
            <a:r>
              <a:rPr lang="en-US" sz="1400" dirty="0">
                <a:solidFill>
                  <a:schemeClr val="bg1"/>
                </a:solidFill>
              </a:rPr>
              <a:t>check it</a:t>
            </a:r>
            <a:endParaRPr lang="en-US" sz="1400" dirty="0"/>
          </a:p>
        </p:txBody>
      </p:sp>
      <p:sp>
        <p:nvSpPr>
          <p:cNvPr id="27" name="AI panel box 3"/>
          <p:cNvSpPr/>
          <p:nvPr/>
        </p:nvSpPr>
        <p:spPr>
          <a:xfrm>
            <a:off x="6035040" y="3154680"/>
            <a:ext cx="2468880" cy="329184"/>
          </a:xfrm>
          <a:prstGeom prst="roundRect">
            <a:avLst>
              <a:gd name="adj" fmla="val 16667"/>
            </a:avLst>
          </a:prstGeom>
          <a:solidFill>
            <a:schemeClr val="accent3"/>
          </a:solidFill>
          <a:ln/>
        </p:spPr>
      </p:sp>
      <p:sp>
        <p:nvSpPr>
          <p:cNvPr id="28" name="AI panel box 3 text"/>
          <p:cNvSpPr txBox="1"/>
          <p:nvPr/>
        </p:nvSpPr>
        <p:spPr>
          <a:xfrm>
            <a:off x="6035040" y="3154680"/>
            <a:ext cx="2468880" cy="329184"/>
          </a:xfrm>
          <a:prstGeom prst="rect">
            <a:avLst/>
          </a:prstGeom>
          <a:noFill/>
          <a:ln/>
        </p:spPr>
        <p:txBody>
          <a:bodyPr wrap="square" lIns="0" tIns="0" rIns="0" bIns="0" rtlCol="0" anchor="ctr"/>
          <a:lstStyle/>
          <a:p>
            <a:pPr marL="0" indent="0" algn="ctr">
              <a:buNone/>
            </a:pPr>
            <a:r>
              <a:rPr lang="en-US" sz="1400" b="1" dirty="0">
                <a:solidFill>
                  <a:schemeClr val="bg1"/>
                </a:solidFill>
              </a:rPr>
              <a:t>People</a:t>
            </a:r>
            <a:endParaRPr lang="en-US" sz="1400" dirty="0"/>
          </a:p>
        </p:txBody>
      </p:sp>
      <p:sp>
        <p:nvSpPr>
          <p:cNvPr id="29" name="AI panel text 3"/>
          <p:cNvSpPr txBox="1"/>
          <p:nvPr/>
        </p:nvSpPr>
        <p:spPr>
          <a:xfrm>
            <a:off x="6035040" y="3520440"/>
            <a:ext cx="2468880" cy="274320"/>
          </a:xfrm>
          <a:prstGeom prst="rect">
            <a:avLst/>
          </a:prstGeom>
          <a:noFill/>
          <a:ln/>
        </p:spPr>
        <p:txBody>
          <a:bodyPr wrap="square" lIns="0" tIns="0" rIns="0" bIns="0" rtlCol="0" anchor="t"/>
          <a:lstStyle/>
          <a:p>
            <a:pPr marL="0" indent="0" algn="ctr">
              <a:buNone/>
            </a:pPr>
            <a:r>
              <a:rPr lang="en-US" sz="1400" dirty="0">
                <a:solidFill>
                  <a:schemeClr val="bg1"/>
                </a:solidFill>
              </a:rPr>
              <a:t>review and confirm</a:t>
            </a:r>
            <a:endParaRPr lang="en-US" sz="1400" dirty="0"/>
          </a:p>
        </p:txBody>
      </p:sp>
      <p:sp>
        <p:nvSpPr>
          <p:cNvPr id="30" name="AI panel footer"/>
          <p:cNvSpPr txBox="1"/>
          <p:nvPr/>
        </p:nvSpPr>
        <p:spPr>
          <a:xfrm>
            <a:off x="6035040" y="3931920"/>
            <a:ext cx="2468880" cy="502920"/>
          </a:xfrm>
          <a:prstGeom prst="rect">
            <a:avLst/>
          </a:prstGeom>
          <a:noFill/>
          <a:ln/>
        </p:spPr>
        <p:txBody>
          <a:bodyPr wrap="square" lIns="0" tIns="0" rIns="0" bIns="0" rtlCol="0" anchor="t"/>
          <a:lstStyle/>
          <a:p>
            <a:pPr marL="0" indent="0">
              <a:buNone/>
            </a:pPr>
            <a:r>
              <a:rPr lang="en-US" sz="1200" b="1" dirty="0">
                <a:solidFill>
                  <a:schemeClr val="accent6"/>
                </a:solidFill>
              </a:rPr>
              <a:t>In the product, AI may only read text. The engine decides.</a:t>
            </a:r>
            <a:endParaRPr lang="en-US" sz="1200" dirty="0"/>
          </a:p>
        </p:txBody>
      </p:sp>
      <p:sp>
        <p:nvSpPr>
          <p:cNvPr id="31"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Prototype snapshot</a:t>
            </a:r>
            <a:endParaRPr lang="en-US" sz="3200" dirty="0"/>
          </a:p>
        </p:txBody>
      </p:sp>
      <p:pic>
        <p:nvPicPr>
          <p:cNvPr id="3" name="Snapshot 1" descr="Disruption, handled: Ranked alternatives; nothing changes until you confirm"/>
          <p:cNvPicPr>
            <a:picLocks noChangeAspect="1"/>
          </p:cNvPicPr>
          <p:nvPr/>
        </p:nvPicPr>
        <p:blipFill>
          <a:blip r:embed="rId3"/>
          <a:stretch>
            <a:fillRect/>
          </a:stretch>
        </p:blipFill>
        <p:spPr>
          <a:xfrm>
            <a:off x="457200" y="1051560"/>
            <a:ext cx="4023360" cy="1956816"/>
          </a:xfrm>
          <a:prstGeom prst="rect">
            <a:avLst/>
          </a:prstGeom>
          <a:effectLst>
            <a:outerShdw blurRad="101600" dist="25400" dir="5400000" algn="bl" rotWithShape="0">
              <a:srgbClr val="000000">
                <a:alpha val="14000"/>
              </a:srgbClr>
            </a:outerShdw>
          </a:effectLst>
        </p:spPr>
      </p:pic>
      <p:sp>
        <p:nvSpPr>
          <p:cNvPr id="4" name="Snapshot 1 title"/>
          <p:cNvSpPr txBox="1"/>
          <p:nvPr/>
        </p:nvSpPr>
        <p:spPr>
          <a:xfrm>
            <a:off x="457200" y="3200400"/>
            <a:ext cx="4023360" cy="292608"/>
          </a:xfrm>
          <a:prstGeom prst="rect">
            <a:avLst/>
          </a:prstGeom>
          <a:noFill/>
          <a:ln/>
        </p:spPr>
        <p:txBody>
          <a:bodyPr wrap="square" lIns="0" tIns="0" rIns="0" bIns="0" rtlCol="0" anchor="t"/>
          <a:lstStyle/>
          <a:p>
            <a:pPr marL="0" indent="0">
              <a:buNone/>
            </a:pPr>
            <a:r>
              <a:rPr lang="en-US" sz="1600" b="1" dirty="0">
                <a:solidFill>
                  <a:schemeClr val="tx1"/>
                </a:solidFill>
              </a:rPr>
              <a:t>Disruption, handled</a:t>
            </a:r>
            <a:endParaRPr lang="en-US" sz="1600" dirty="0"/>
          </a:p>
        </p:txBody>
      </p:sp>
      <p:sp>
        <p:nvSpPr>
          <p:cNvPr id="5" name="Snapshot 1 text"/>
          <p:cNvSpPr txBox="1"/>
          <p:nvPr/>
        </p:nvSpPr>
        <p:spPr>
          <a:xfrm>
            <a:off x="457200" y="3520440"/>
            <a:ext cx="4023360" cy="274320"/>
          </a:xfrm>
          <a:prstGeom prst="rect">
            <a:avLst/>
          </a:prstGeom>
          <a:noFill/>
          <a:ln/>
        </p:spPr>
        <p:txBody>
          <a:bodyPr wrap="square" lIns="0" tIns="0" rIns="0" bIns="0" rtlCol="0" anchor="t"/>
          <a:lstStyle/>
          <a:p>
            <a:pPr marL="0" indent="0">
              <a:buNone/>
            </a:pPr>
            <a:r>
              <a:rPr lang="en-US" sz="1400" dirty="0">
                <a:solidFill>
                  <a:schemeClr val="accent5"/>
                </a:solidFill>
              </a:rPr>
              <a:t>Ranked alternatives; nothing changes until you confirm</a:t>
            </a:r>
            <a:endParaRPr lang="en-US" sz="1400" dirty="0"/>
          </a:p>
        </p:txBody>
      </p:sp>
      <p:pic>
        <p:nvPicPr>
          <p:cNvPr id="6" name="Snapshot 2" descr="Safety first: No certified vessel: every exclusion has a reason"/>
          <p:cNvPicPr>
            <a:picLocks noChangeAspect="1"/>
          </p:cNvPicPr>
          <p:nvPr/>
        </p:nvPicPr>
        <p:blipFill>
          <a:blip r:embed="rId4"/>
          <a:stretch>
            <a:fillRect/>
          </a:stretch>
        </p:blipFill>
        <p:spPr>
          <a:xfrm>
            <a:off x="4663440" y="1051560"/>
            <a:ext cx="4023360" cy="1954203"/>
          </a:xfrm>
          <a:prstGeom prst="rect">
            <a:avLst/>
          </a:prstGeom>
          <a:effectLst>
            <a:outerShdw blurRad="101600" dist="25400" dir="5400000" algn="bl" rotWithShape="0">
              <a:srgbClr val="000000">
                <a:alpha val="14000"/>
              </a:srgbClr>
            </a:outerShdw>
          </a:effectLst>
        </p:spPr>
      </p:pic>
      <p:sp>
        <p:nvSpPr>
          <p:cNvPr id="7" name="Snapshot 2 title"/>
          <p:cNvSpPr txBox="1"/>
          <p:nvPr/>
        </p:nvSpPr>
        <p:spPr>
          <a:xfrm>
            <a:off x="4663440" y="3200400"/>
            <a:ext cx="4023360" cy="292608"/>
          </a:xfrm>
          <a:prstGeom prst="rect">
            <a:avLst/>
          </a:prstGeom>
          <a:noFill/>
          <a:ln/>
        </p:spPr>
        <p:txBody>
          <a:bodyPr wrap="square" lIns="0" tIns="0" rIns="0" bIns="0" rtlCol="0" anchor="t"/>
          <a:lstStyle/>
          <a:p>
            <a:pPr marL="0" indent="0">
              <a:buNone/>
            </a:pPr>
            <a:r>
              <a:rPr lang="en-US" sz="1600" b="1" dirty="0">
                <a:solidFill>
                  <a:schemeClr val="tx1"/>
                </a:solidFill>
              </a:rPr>
              <a:t>Safety first</a:t>
            </a:r>
            <a:endParaRPr lang="en-US" sz="1600" dirty="0"/>
          </a:p>
        </p:txBody>
      </p:sp>
      <p:sp>
        <p:nvSpPr>
          <p:cNvPr id="8" name="Snapshot 2 text"/>
          <p:cNvSpPr txBox="1"/>
          <p:nvPr/>
        </p:nvSpPr>
        <p:spPr>
          <a:xfrm>
            <a:off x="4663440" y="3520440"/>
            <a:ext cx="4023360" cy="274320"/>
          </a:xfrm>
          <a:prstGeom prst="rect">
            <a:avLst/>
          </a:prstGeom>
          <a:noFill/>
          <a:ln/>
        </p:spPr>
        <p:txBody>
          <a:bodyPr wrap="square" lIns="0" tIns="0" rIns="0" bIns="0" rtlCol="0" anchor="t"/>
          <a:lstStyle/>
          <a:p>
            <a:pPr marL="0" indent="0">
              <a:buNone/>
            </a:pPr>
            <a:r>
              <a:rPr lang="en-US" sz="1400" dirty="0">
                <a:solidFill>
                  <a:schemeClr val="accent5"/>
                </a:solidFill>
              </a:rPr>
              <a:t>No certified vessel: every exclusion has a reason</a:t>
            </a:r>
            <a:endParaRPr lang="en-US" sz="1400" dirty="0"/>
          </a:p>
        </p:txBody>
      </p:sp>
      <p:sp>
        <p:nvSpPr>
          <p:cNvPr id="9" name="Snapshot banner"/>
          <p:cNvSpPr/>
          <p:nvPr/>
        </p:nvSpPr>
        <p:spPr>
          <a:xfrm>
            <a:off x="457200" y="4114800"/>
            <a:ext cx="8229600" cy="548640"/>
          </a:xfrm>
          <a:prstGeom prst="roundRect">
            <a:avLst>
              <a:gd name="adj" fmla="val 13333"/>
            </a:avLst>
          </a:prstGeom>
          <a:solidFill>
            <a:schemeClr val="bg2"/>
          </a:solidFill>
          <a:ln/>
        </p:spPr>
      </p:sp>
      <p:sp>
        <p:nvSpPr>
          <p:cNvPr id="10" name="Snapshot banner text"/>
          <p:cNvSpPr txBox="1"/>
          <p:nvPr/>
        </p:nvSpPr>
        <p:spPr>
          <a:xfrm>
            <a:off x="640080" y="4114800"/>
            <a:ext cx="7863840" cy="548640"/>
          </a:xfrm>
          <a:prstGeom prst="rect">
            <a:avLst/>
          </a:prstGeom>
          <a:noFill/>
          <a:ln/>
        </p:spPr>
        <p:txBody>
          <a:bodyPr wrap="square" lIns="0" tIns="0" rIns="0" bIns="0" rtlCol="0" anchor="ctr"/>
          <a:lstStyle/>
          <a:p>
            <a:pPr marL="0" indent="0">
              <a:buNone/>
            </a:pPr>
            <a:r>
              <a:rPr lang="en-US" sz="1400" b="1" dirty="0">
                <a:solidFill>
                  <a:schemeClr val="tx2"/>
                </a:solidFill>
              </a:rPr>
              <a:t>Real captured screens of the running prototype. Disruptions, vessels and milestones are simulated.</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Tech stack</a:t>
            </a:r>
            <a:endParaRPr lang="en-US" sz="3200" dirty="0"/>
          </a:p>
        </p:txBody>
      </p:sp>
      <p:sp>
        <p:nvSpPr>
          <p:cNvPr id="3" name="Bob stack banner"/>
          <p:cNvSpPr/>
          <p:nvPr/>
        </p:nvSpPr>
        <p:spPr>
          <a:xfrm>
            <a:off x="457200" y="1005840"/>
            <a:ext cx="8229600" cy="960120"/>
          </a:xfrm>
          <a:prstGeom prst="roundRect">
            <a:avLst>
              <a:gd name="adj" fmla="val 9524"/>
            </a:avLst>
          </a:prstGeom>
          <a:solidFill>
            <a:srgbClr val="0F62FE"/>
          </a:solidFill>
          <a:ln/>
          <a:effectLst>
            <a:outerShdw blurRad="101600" dist="25400" dir="5400000" algn="bl" rotWithShape="0">
              <a:srgbClr val="000000">
                <a:alpha val="14000"/>
              </a:srgbClr>
            </a:outerShdw>
          </a:effectLst>
        </p:spPr>
      </p:sp>
      <p:sp>
        <p:nvSpPr>
          <p:cNvPr id="4" name="Bob stack mark circle"/>
          <p:cNvSpPr/>
          <p:nvPr/>
        </p:nvSpPr>
        <p:spPr>
          <a:xfrm>
            <a:off x="640080" y="1170432"/>
            <a:ext cx="640080" cy="640080"/>
          </a:xfrm>
          <a:prstGeom prst="ellipse">
            <a:avLst/>
          </a:prstGeom>
          <a:solidFill>
            <a:schemeClr val="tx1"/>
          </a:solidFill>
          <a:ln/>
        </p:spPr>
      </p:sp>
      <p:pic>
        <p:nvPicPr>
          <p:cNvPr id="5" name="Bob stack mark icon" descr="Bob stack mark"/>
          <p:cNvPicPr>
            <a:picLocks noChangeAspect="1"/>
          </p:cNvPicPr>
          <p:nvPr/>
        </p:nvPicPr>
        <p:blipFill>
          <a:blip r:embed="rId3"/>
          <a:stretch>
            <a:fillRect/>
          </a:stretch>
        </p:blipFill>
        <p:spPr>
          <a:xfrm>
            <a:off x="806501" y="1336853"/>
            <a:ext cx="307238" cy="307238"/>
          </a:xfrm>
          <a:prstGeom prst="rect">
            <a:avLst/>
          </a:prstGeom>
        </p:spPr>
      </p:pic>
      <p:sp>
        <p:nvSpPr>
          <p:cNvPr id="6" name="Bob stack title"/>
          <p:cNvSpPr txBox="1"/>
          <p:nvPr/>
        </p:nvSpPr>
        <p:spPr>
          <a:xfrm>
            <a:off x="1463040" y="1097280"/>
            <a:ext cx="3017520" cy="365760"/>
          </a:xfrm>
          <a:prstGeom prst="rect">
            <a:avLst/>
          </a:prstGeom>
          <a:noFill/>
          <a:ln/>
        </p:spPr>
        <p:txBody>
          <a:bodyPr wrap="square" lIns="0" tIns="0" rIns="0" bIns="0" rtlCol="0" anchor="t"/>
          <a:lstStyle/>
          <a:p>
            <a:pPr marL="0" indent="0">
              <a:buNone/>
            </a:pPr>
            <a:r>
              <a:rPr lang="en-US" sz="2000" b="1" dirty="0">
                <a:solidFill>
                  <a:schemeClr val="bg1"/>
                </a:solidFill>
              </a:rPr>
              <a:t>Built with IBM Bob</a:t>
            </a:r>
            <a:endParaRPr lang="en-US" sz="2000" dirty="0"/>
          </a:p>
        </p:txBody>
      </p:sp>
      <p:sp>
        <p:nvSpPr>
          <p:cNvPr id="7" name="Bob stack text"/>
          <p:cNvSpPr txBox="1"/>
          <p:nvPr/>
        </p:nvSpPr>
        <p:spPr>
          <a:xfrm>
            <a:off x="1463040" y="1481328"/>
            <a:ext cx="2926080" cy="365760"/>
          </a:xfrm>
          <a:prstGeom prst="rect">
            <a:avLst/>
          </a:prstGeom>
          <a:noFill/>
          <a:ln/>
        </p:spPr>
        <p:txBody>
          <a:bodyPr wrap="square" lIns="0" tIns="0" rIns="0" bIns="0" rtlCol="0" anchor="t"/>
          <a:lstStyle/>
          <a:p>
            <a:pPr marL="0" indent="0">
              <a:buNone/>
            </a:pPr>
            <a:r>
              <a:rPr lang="en-US" sz="1300" dirty="0">
                <a:solidFill>
                  <a:srgbClr val="DCE8FF"/>
                </a:solidFill>
              </a:rPr>
              <a:t>IBM's AI coding agent, our partner</a:t>
            </a:r>
            <a:endParaRPr lang="en-US" sz="1300" dirty="0"/>
          </a:p>
        </p:txBody>
      </p:sp>
      <p:sp>
        <p:nvSpPr>
          <p:cNvPr id="8" name="Bob stack chip 1"/>
          <p:cNvSpPr/>
          <p:nvPr/>
        </p:nvSpPr>
        <p:spPr>
          <a:xfrm>
            <a:off x="4297680" y="1344168"/>
            <a:ext cx="1325880" cy="310896"/>
          </a:xfrm>
          <a:prstGeom prst="roundRect">
            <a:avLst>
              <a:gd name="adj" fmla="val 17647"/>
            </a:avLst>
          </a:prstGeom>
          <a:solidFill>
            <a:schemeClr val="bg1"/>
          </a:solidFill>
          <a:ln/>
        </p:spPr>
      </p:sp>
      <p:sp>
        <p:nvSpPr>
          <p:cNvPr id="9" name="Bob stack chip 1 text"/>
          <p:cNvSpPr txBox="1"/>
          <p:nvPr/>
        </p:nvSpPr>
        <p:spPr>
          <a:xfrm>
            <a:off x="4297680" y="1344168"/>
            <a:ext cx="1325880" cy="310896"/>
          </a:xfrm>
          <a:prstGeom prst="rect">
            <a:avLst/>
          </a:prstGeom>
          <a:noFill/>
          <a:ln/>
        </p:spPr>
        <p:txBody>
          <a:bodyPr wrap="square" lIns="0" tIns="0" rIns="0" bIns="0" rtlCol="0" anchor="ctr"/>
          <a:lstStyle/>
          <a:p>
            <a:pPr marL="0" indent="0" algn="ctr">
              <a:buNone/>
            </a:pPr>
            <a:r>
              <a:rPr lang="en-US" sz="1100" b="1" dirty="0">
                <a:solidFill>
                  <a:srgbClr val="0F62FE"/>
                </a:solidFill>
              </a:rPr>
              <a:t>Code generation</a:t>
            </a:r>
            <a:endParaRPr lang="en-US" sz="1100" dirty="0"/>
          </a:p>
        </p:txBody>
      </p:sp>
      <p:sp>
        <p:nvSpPr>
          <p:cNvPr id="10" name="Bob stack chip 2"/>
          <p:cNvSpPr/>
          <p:nvPr/>
        </p:nvSpPr>
        <p:spPr>
          <a:xfrm>
            <a:off x="5715000" y="1344168"/>
            <a:ext cx="1097280" cy="310896"/>
          </a:xfrm>
          <a:prstGeom prst="roundRect">
            <a:avLst>
              <a:gd name="adj" fmla="val 17647"/>
            </a:avLst>
          </a:prstGeom>
          <a:solidFill>
            <a:schemeClr val="bg1"/>
          </a:solidFill>
          <a:ln/>
        </p:spPr>
      </p:sp>
      <p:sp>
        <p:nvSpPr>
          <p:cNvPr id="11" name="Bob stack chip 2 text"/>
          <p:cNvSpPr txBox="1"/>
          <p:nvPr/>
        </p:nvSpPr>
        <p:spPr>
          <a:xfrm>
            <a:off x="5715000" y="1344168"/>
            <a:ext cx="1097280" cy="310896"/>
          </a:xfrm>
          <a:prstGeom prst="rect">
            <a:avLst/>
          </a:prstGeom>
          <a:noFill/>
          <a:ln/>
        </p:spPr>
        <p:txBody>
          <a:bodyPr wrap="square" lIns="0" tIns="0" rIns="0" bIns="0" rtlCol="0" anchor="ctr"/>
          <a:lstStyle/>
          <a:p>
            <a:pPr marL="0" indent="0" algn="ctr">
              <a:buNone/>
            </a:pPr>
            <a:r>
              <a:rPr lang="en-US" sz="1100" b="1" dirty="0">
                <a:solidFill>
                  <a:srgbClr val="0F62FE"/>
                </a:solidFill>
              </a:rPr>
              <a:t>Spec writing</a:t>
            </a:r>
            <a:endParaRPr lang="en-US" sz="1100" dirty="0"/>
          </a:p>
        </p:txBody>
      </p:sp>
      <p:sp>
        <p:nvSpPr>
          <p:cNvPr id="12" name="Bob stack chip 3"/>
          <p:cNvSpPr/>
          <p:nvPr/>
        </p:nvSpPr>
        <p:spPr>
          <a:xfrm>
            <a:off x="6903720" y="1344168"/>
            <a:ext cx="1600200" cy="310896"/>
          </a:xfrm>
          <a:prstGeom prst="roundRect">
            <a:avLst>
              <a:gd name="adj" fmla="val 17647"/>
            </a:avLst>
          </a:prstGeom>
          <a:solidFill>
            <a:schemeClr val="bg1"/>
          </a:solidFill>
          <a:ln/>
        </p:spPr>
      </p:sp>
      <p:sp>
        <p:nvSpPr>
          <p:cNvPr id="13" name="Bob stack chip 3 text"/>
          <p:cNvSpPr txBox="1"/>
          <p:nvPr/>
        </p:nvSpPr>
        <p:spPr>
          <a:xfrm>
            <a:off x="6903720" y="1344168"/>
            <a:ext cx="1600200" cy="310896"/>
          </a:xfrm>
          <a:prstGeom prst="rect">
            <a:avLst/>
          </a:prstGeom>
          <a:noFill/>
          <a:ln/>
        </p:spPr>
        <p:txBody>
          <a:bodyPr wrap="square" lIns="0" tIns="0" rIns="0" bIns="0" rtlCol="0" anchor="ctr"/>
          <a:lstStyle/>
          <a:p>
            <a:pPr marL="0" indent="0" algn="ctr">
              <a:buNone/>
            </a:pPr>
            <a:r>
              <a:rPr lang="en-US" sz="1100" b="1" dirty="0">
                <a:solidFill>
                  <a:srgbClr val="0F62FE"/>
                </a:solidFill>
              </a:rPr>
              <a:t>Task implementation</a:t>
            </a:r>
            <a:endParaRPr lang="en-US" sz="1100" dirty="0"/>
          </a:p>
        </p:txBody>
      </p:sp>
      <p:sp>
        <p:nvSpPr>
          <p:cNvPr id="14" name="Stack card 1"/>
          <p:cNvSpPr/>
          <p:nvPr/>
        </p:nvSpPr>
        <p:spPr>
          <a:xfrm>
            <a:off x="457200" y="2103120"/>
            <a:ext cx="4023360" cy="777240"/>
          </a:xfrm>
          <a:prstGeom prst="roundRect">
            <a:avLst>
              <a:gd name="adj" fmla="val 9412"/>
            </a:avLst>
          </a:prstGeom>
          <a:solidFill>
            <a:schemeClr val="bg2"/>
          </a:solidFill>
          <a:ln/>
        </p:spPr>
      </p:sp>
      <p:sp>
        <p:nvSpPr>
          <p:cNvPr id="15" name="Stack label 1"/>
          <p:cNvSpPr/>
          <p:nvPr/>
        </p:nvSpPr>
        <p:spPr>
          <a:xfrm>
            <a:off x="566928" y="2194560"/>
            <a:ext cx="1463040" cy="274320"/>
          </a:xfrm>
          <a:prstGeom prst="roundRect">
            <a:avLst>
              <a:gd name="adj" fmla="val 20000"/>
            </a:avLst>
          </a:prstGeom>
          <a:solidFill>
            <a:schemeClr val="accent1"/>
          </a:solidFill>
          <a:ln/>
        </p:spPr>
      </p:sp>
      <p:sp>
        <p:nvSpPr>
          <p:cNvPr id="16" name="Stack label 1 text"/>
          <p:cNvSpPr txBox="1"/>
          <p:nvPr/>
        </p:nvSpPr>
        <p:spPr>
          <a:xfrm>
            <a:off x="566928" y="2194560"/>
            <a:ext cx="1463040" cy="274320"/>
          </a:xfrm>
          <a:prstGeom prst="rect">
            <a:avLst/>
          </a:prstGeom>
          <a:noFill/>
          <a:ln/>
        </p:spPr>
        <p:txBody>
          <a:bodyPr wrap="square" lIns="0" tIns="0" rIns="0" bIns="0" rtlCol="0" anchor="ctr"/>
          <a:lstStyle/>
          <a:p>
            <a:pPr marL="0" indent="0" algn="ctr">
              <a:buNone/>
            </a:pPr>
            <a:r>
              <a:rPr lang="en-US" sz="1100" b="1" dirty="0">
                <a:solidFill>
                  <a:schemeClr val="bg1"/>
                </a:solidFill>
              </a:rPr>
              <a:t>Interface</a:t>
            </a:r>
            <a:endParaRPr lang="en-US" sz="1100" dirty="0"/>
          </a:p>
        </p:txBody>
      </p:sp>
      <p:sp>
        <p:nvSpPr>
          <p:cNvPr id="17" name="Stack tech 1"/>
          <p:cNvSpPr txBox="1"/>
          <p:nvPr/>
        </p:nvSpPr>
        <p:spPr>
          <a:xfrm>
            <a:off x="566928" y="2514600"/>
            <a:ext cx="3840480" cy="182880"/>
          </a:xfrm>
          <a:prstGeom prst="rect">
            <a:avLst/>
          </a:prstGeom>
          <a:noFill/>
          <a:ln/>
        </p:spPr>
        <p:txBody>
          <a:bodyPr wrap="square" lIns="0" tIns="0" rIns="0" bIns="0" rtlCol="0" anchor="t"/>
          <a:lstStyle/>
          <a:p>
            <a:pPr marL="0" indent="0">
              <a:buNone/>
            </a:pPr>
            <a:r>
              <a:rPr lang="en-US" sz="1300" b="1" dirty="0">
                <a:solidFill>
                  <a:schemeClr val="tx1"/>
                </a:solidFill>
              </a:rPr>
              <a:t>React 19, Vite 8</a:t>
            </a:r>
            <a:endParaRPr lang="en-US" sz="1300" dirty="0"/>
          </a:p>
        </p:txBody>
      </p:sp>
      <p:sp>
        <p:nvSpPr>
          <p:cNvPr id="18" name="Stack text 1"/>
          <p:cNvSpPr txBox="1"/>
          <p:nvPr/>
        </p:nvSpPr>
        <p:spPr>
          <a:xfrm>
            <a:off x="2148840" y="2194560"/>
            <a:ext cx="2240280" cy="274320"/>
          </a:xfrm>
          <a:prstGeom prst="rect">
            <a:avLst/>
          </a:prstGeom>
          <a:noFill/>
          <a:ln/>
        </p:spPr>
        <p:txBody>
          <a:bodyPr wrap="square" lIns="0" tIns="0" rIns="0" bIns="0" rtlCol="0" anchor="ctr"/>
          <a:lstStyle/>
          <a:p>
            <a:pPr marL="0" indent="0">
              <a:buNone/>
            </a:pPr>
            <a:r>
              <a:rPr lang="en-US" sz="1100" dirty="0">
                <a:solidFill>
                  <a:schemeClr val="accent5"/>
                </a:solidFill>
              </a:rPr>
              <a:t>What users see and click</a:t>
            </a:r>
            <a:endParaRPr lang="en-US" sz="1100" dirty="0"/>
          </a:p>
        </p:txBody>
      </p:sp>
      <p:sp>
        <p:nvSpPr>
          <p:cNvPr id="19" name="Stack card 2"/>
          <p:cNvSpPr/>
          <p:nvPr/>
        </p:nvSpPr>
        <p:spPr>
          <a:xfrm>
            <a:off x="4663440" y="2103120"/>
            <a:ext cx="4023360" cy="777240"/>
          </a:xfrm>
          <a:prstGeom prst="roundRect">
            <a:avLst>
              <a:gd name="adj" fmla="val 9412"/>
            </a:avLst>
          </a:prstGeom>
          <a:solidFill>
            <a:schemeClr val="bg2"/>
          </a:solidFill>
          <a:ln/>
        </p:spPr>
      </p:sp>
      <p:sp>
        <p:nvSpPr>
          <p:cNvPr id="20" name="Stack label 2"/>
          <p:cNvSpPr/>
          <p:nvPr/>
        </p:nvSpPr>
        <p:spPr>
          <a:xfrm>
            <a:off x="4773168" y="2194560"/>
            <a:ext cx="1463040" cy="274320"/>
          </a:xfrm>
          <a:prstGeom prst="roundRect">
            <a:avLst>
              <a:gd name="adj" fmla="val 20000"/>
            </a:avLst>
          </a:prstGeom>
          <a:solidFill>
            <a:schemeClr val="accent1"/>
          </a:solidFill>
          <a:ln/>
        </p:spPr>
      </p:sp>
      <p:sp>
        <p:nvSpPr>
          <p:cNvPr id="21" name="Stack label 2 text"/>
          <p:cNvSpPr txBox="1"/>
          <p:nvPr/>
        </p:nvSpPr>
        <p:spPr>
          <a:xfrm>
            <a:off x="4773168" y="2194560"/>
            <a:ext cx="1463040" cy="274320"/>
          </a:xfrm>
          <a:prstGeom prst="rect">
            <a:avLst/>
          </a:prstGeom>
          <a:noFill/>
          <a:ln/>
        </p:spPr>
        <p:txBody>
          <a:bodyPr wrap="square" lIns="0" tIns="0" rIns="0" bIns="0" rtlCol="0" anchor="ctr"/>
          <a:lstStyle/>
          <a:p>
            <a:pPr marL="0" indent="0" algn="ctr">
              <a:buNone/>
            </a:pPr>
            <a:r>
              <a:rPr lang="en-US" sz="1100" b="1" dirty="0">
                <a:solidFill>
                  <a:schemeClr val="bg1"/>
                </a:solidFill>
              </a:rPr>
              <a:t>API</a:t>
            </a:r>
            <a:endParaRPr lang="en-US" sz="1100" dirty="0"/>
          </a:p>
        </p:txBody>
      </p:sp>
      <p:sp>
        <p:nvSpPr>
          <p:cNvPr id="22" name="Stack tech 2"/>
          <p:cNvSpPr txBox="1"/>
          <p:nvPr/>
        </p:nvSpPr>
        <p:spPr>
          <a:xfrm>
            <a:off x="4773168" y="2514600"/>
            <a:ext cx="3840480" cy="182880"/>
          </a:xfrm>
          <a:prstGeom prst="rect">
            <a:avLst/>
          </a:prstGeom>
          <a:noFill/>
          <a:ln/>
        </p:spPr>
        <p:txBody>
          <a:bodyPr wrap="square" lIns="0" tIns="0" rIns="0" bIns="0" rtlCol="0" anchor="t"/>
          <a:lstStyle/>
          <a:p>
            <a:pPr marL="0" indent="0">
              <a:buNone/>
            </a:pPr>
            <a:r>
              <a:rPr lang="en-US" sz="1300" b="1" dirty="0">
                <a:solidFill>
                  <a:schemeClr val="tx1"/>
                </a:solidFill>
              </a:rPr>
              <a:t>FastAPI, Pydantic v2, Uvicorn</a:t>
            </a:r>
            <a:endParaRPr lang="en-US" sz="1300" dirty="0"/>
          </a:p>
        </p:txBody>
      </p:sp>
      <p:sp>
        <p:nvSpPr>
          <p:cNvPr id="23" name="Stack text 2"/>
          <p:cNvSpPr txBox="1"/>
          <p:nvPr/>
        </p:nvSpPr>
        <p:spPr>
          <a:xfrm>
            <a:off x="6355080" y="2194560"/>
            <a:ext cx="2240280" cy="274320"/>
          </a:xfrm>
          <a:prstGeom prst="rect">
            <a:avLst/>
          </a:prstGeom>
          <a:noFill/>
          <a:ln/>
        </p:spPr>
        <p:txBody>
          <a:bodyPr wrap="square" lIns="0" tIns="0" rIns="0" bIns="0" rtlCol="0" anchor="ctr"/>
          <a:lstStyle/>
          <a:p>
            <a:pPr marL="0" indent="0">
              <a:buNone/>
            </a:pPr>
            <a:r>
              <a:rPr lang="en-US" sz="1100" dirty="0">
                <a:solidFill>
                  <a:schemeClr val="accent5"/>
                </a:solidFill>
              </a:rPr>
              <a:t>Connects screens to logic</a:t>
            </a:r>
            <a:endParaRPr lang="en-US" sz="1100" dirty="0"/>
          </a:p>
        </p:txBody>
      </p:sp>
      <p:sp>
        <p:nvSpPr>
          <p:cNvPr id="24" name="Stack card 3"/>
          <p:cNvSpPr/>
          <p:nvPr/>
        </p:nvSpPr>
        <p:spPr>
          <a:xfrm>
            <a:off x="457200" y="2944368"/>
            <a:ext cx="4023360" cy="777240"/>
          </a:xfrm>
          <a:prstGeom prst="roundRect">
            <a:avLst>
              <a:gd name="adj" fmla="val 9412"/>
            </a:avLst>
          </a:prstGeom>
          <a:solidFill>
            <a:schemeClr val="bg2"/>
          </a:solidFill>
          <a:ln/>
        </p:spPr>
      </p:sp>
      <p:sp>
        <p:nvSpPr>
          <p:cNvPr id="25" name="Stack label 3"/>
          <p:cNvSpPr/>
          <p:nvPr/>
        </p:nvSpPr>
        <p:spPr>
          <a:xfrm>
            <a:off x="566928" y="3035808"/>
            <a:ext cx="1463040" cy="274320"/>
          </a:xfrm>
          <a:prstGeom prst="roundRect">
            <a:avLst>
              <a:gd name="adj" fmla="val 20000"/>
            </a:avLst>
          </a:prstGeom>
          <a:solidFill>
            <a:schemeClr val="tx2"/>
          </a:solidFill>
          <a:ln/>
        </p:spPr>
      </p:sp>
      <p:sp>
        <p:nvSpPr>
          <p:cNvPr id="26" name="Stack label 3 text"/>
          <p:cNvSpPr txBox="1"/>
          <p:nvPr/>
        </p:nvSpPr>
        <p:spPr>
          <a:xfrm>
            <a:off x="566928" y="3035808"/>
            <a:ext cx="1463040" cy="274320"/>
          </a:xfrm>
          <a:prstGeom prst="rect">
            <a:avLst/>
          </a:prstGeom>
          <a:noFill/>
          <a:ln/>
        </p:spPr>
        <p:txBody>
          <a:bodyPr wrap="square" lIns="0" tIns="0" rIns="0" bIns="0" rtlCol="0" anchor="ctr"/>
          <a:lstStyle/>
          <a:p>
            <a:pPr marL="0" indent="0" algn="ctr">
              <a:buNone/>
            </a:pPr>
            <a:r>
              <a:rPr lang="en-US" sz="1100" b="1" dirty="0">
                <a:solidFill>
                  <a:schemeClr val="bg1"/>
                </a:solidFill>
              </a:rPr>
              <a:t>Decision engine</a:t>
            </a:r>
            <a:endParaRPr lang="en-US" sz="1100" dirty="0"/>
          </a:p>
        </p:txBody>
      </p:sp>
      <p:sp>
        <p:nvSpPr>
          <p:cNvPr id="27" name="Stack tech 3"/>
          <p:cNvSpPr txBox="1"/>
          <p:nvPr/>
        </p:nvSpPr>
        <p:spPr>
          <a:xfrm>
            <a:off x="566928" y="3355848"/>
            <a:ext cx="3840480" cy="182880"/>
          </a:xfrm>
          <a:prstGeom prst="rect">
            <a:avLst/>
          </a:prstGeom>
          <a:noFill/>
          <a:ln/>
        </p:spPr>
        <p:txBody>
          <a:bodyPr wrap="square" lIns="0" tIns="0" rIns="0" bIns="0" rtlCol="0" anchor="t"/>
          <a:lstStyle/>
          <a:p>
            <a:pPr marL="0" indent="0">
              <a:buNone/>
            </a:pPr>
            <a:r>
              <a:rPr lang="en-US" sz="1300" b="1" dirty="0">
                <a:solidFill>
                  <a:schemeClr val="tx1"/>
                </a:solidFill>
              </a:rPr>
              <a:t>Pure Python, RapidFuzz, PyYAML</a:t>
            </a:r>
            <a:endParaRPr lang="en-US" sz="1300" dirty="0"/>
          </a:p>
        </p:txBody>
      </p:sp>
      <p:sp>
        <p:nvSpPr>
          <p:cNvPr id="28" name="Stack text 3"/>
          <p:cNvSpPr txBox="1"/>
          <p:nvPr/>
        </p:nvSpPr>
        <p:spPr>
          <a:xfrm>
            <a:off x="2148840" y="3035808"/>
            <a:ext cx="2240280" cy="274320"/>
          </a:xfrm>
          <a:prstGeom prst="rect">
            <a:avLst/>
          </a:prstGeom>
          <a:noFill/>
          <a:ln/>
        </p:spPr>
        <p:txBody>
          <a:bodyPr wrap="square" lIns="0" tIns="0" rIns="0" bIns="0" rtlCol="0" anchor="ctr"/>
          <a:lstStyle/>
          <a:p>
            <a:pPr marL="0" indent="0">
              <a:buNone/>
            </a:pPr>
            <a:r>
              <a:rPr lang="en-US" sz="1100" dirty="0">
                <a:solidFill>
                  <a:schemeClr val="accent5"/>
                </a:solidFill>
              </a:rPr>
              <a:t>Calculates, ranks, explains</a:t>
            </a:r>
            <a:endParaRPr lang="en-US" sz="1100" dirty="0"/>
          </a:p>
        </p:txBody>
      </p:sp>
      <p:sp>
        <p:nvSpPr>
          <p:cNvPr id="29" name="Stack card 4"/>
          <p:cNvSpPr/>
          <p:nvPr/>
        </p:nvSpPr>
        <p:spPr>
          <a:xfrm>
            <a:off x="4663440" y="2944368"/>
            <a:ext cx="4023360" cy="777240"/>
          </a:xfrm>
          <a:prstGeom prst="roundRect">
            <a:avLst>
              <a:gd name="adj" fmla="val 9412"/>
            </a:avLst>
          </a:prstGeom>
          <a:solidFill>
            <a:schemeClr val="bg2"/>
          </a:solidFill>
          <a:ln/>
        </p:spPr>
      </p:sp>
      <p:sp>
        <p:nvSpPr>
          <p:cNvPr id="30" name="Stack label 4"/>
          <p:cNvSpPr/>
          <p:nvPr/>
        </p:nvSpPr>
        <p:spPr>
          <a:xfrm>
            <a:off x="4773168" y="3035808"/>
            <a:ext cx="1463040" cy="274320"/>
          </a:xfrm>
          <a:prstGeom prst="roundRect">
            <a:avLst>
              <a:gd name="adj" fmla="val 20000"/>
            </a:avLst>
          </a:prstGeom>
          <a:solidFill>
            <a:schemeClr val="accent1"/>
          </a:solidFill>
          <a:ln/>
        </p:spPr>
      </p:sp>
      <p:sp>
        <p:nvSpPr>
          <p:cNvPr id="31" name="Stack label 4 text"/>
          <p:cNvSpPr txBox="1"/>
          <p:nvPr/>
        </p:nvSpPr>
        <p:spPr>
          <a:xfrm>
            <a:off x="4773168" y="3035808"/>
            <a:ext cx="1463040" cy="274320"/>
          </a:xfrm>
          <a:prstGeom prst="rect">
            <a:avLst/>
          </a:prstGeom>
          <a:noFill/>
          <a:ln/>
        </p:spPr>
        <p:txBody>
          <a:bodyPr wrap="square" lIns="0" tIns="0" rIns="0" bIns="0" rtlCol="0" anchor="ctr"/>
          <a:lstStyle/>
          <a:p>
            <a:pPr marL="0" indent="0" algn="ctr">
              <a:buNone/>
            </a:pPr>
            <a:r>
              <a:rPr lang="en-US" sz="1100" b="1" dirty="0">
                <a:solidFill>
                  <a:schemeClr val="bg1"/>
                </a:solidFill>
              </a:rPr>
              <a:t>Data</a:t>
            </a:r>
            <a:endParaRPr lang="en-US" sz="1100" dirty="0"/>
          </a:p>
        </p:txBody>
      </p:sp>
      <p:sp>
        <p:nvSpPr>
          <p:cNvPr id="32" name="Stack tech 4"/>
          <p:cNvSpPr txBox="1"/>
          <p:nvPr/>
        </p:nvSpPr>
        <p:spPr>
          <a:xfrm>
            <a:off x="4773168" y="3355848"/>
            <a:ext cx="3840480" cy="182880"/>
          </a:xfrm>
          <a:prstGeom prst="rect">
            <a:avLst/>
          </a:prstGeom>
          <a:noFill/>
          <a:ln/>
        </p:spPr>
        <p:txBody>
          <a:bodyPr wrap="square" lIns="0" tIns="0" rIns="0" bIns="0" rtlCol="0" anchor="t"/>
          <a:lstStyle/>
          <a:p>
            <a:pPr marL="0" indent="0">
              <a:buNone/>
            </a:pPr>
            <a:r>
              <a:rPr lang="en-US" sz="1300" b="1" dirty="0">
                <a:solidFill>
                  <a:schemeClr val="tx1"/>
                </a:solidFill>
              </a:rPr>
              <a:t>config.yaml, seed.json, in memory</a:t>
            </a:r>
            <a:endParaRPr lang="en-US" sz="1300" dirty="0"/>
          </a:p>
        </p:txBody>
      </p:sp>
      <p:sp>
        <p:nvSpPr>
          <p:cNvPr id="33" name="Stack text 4"/>
          <p:cNvSpPr txBox="1"/>
          <p:nvPr/>
        </p:nvSpPr>
        <p:spPr>
          <a:xfrm>
            <a:off x="6355080" y="3035808"/>
            <a:ext cx="2240280" cy="274320"/>
          </a:xfrm>
          <a:prstGeom prst="rect">
            <a:avLst/>
          </a:prstGeom>
          <a:noFill/>
          <a:ln/>
        </p:spPr>
        <p:txBody>
          <a:bodyPr wrap="square" lIns="0" tIns="0" rIns="0" bIns="0" rtlCol="0" anchor="ctr"/>
          <a:lstStyle/>
          <a:p>
            <a:pPr marL="0" indent="0">
              <a:buNone/>
            </a:pPr>
            <a:r>
              <a:rPr lang="en-US" sz="1100" dirty="0">
                <a:solidFill>
                  <a:schemeClr val="accent5"/>
                </a:solidFill>
              </a:rPr>
              <a:t>67 tagged constants; demo data</a:t>
            </a:r>
            <a:endParaRPr lang="en-US" sz="1100" dirty="0"/>
          </a:p>
        </p:txBody>
      </p:sp>
      <p:sp>
        <p:nvSpPr>
          <p:cNvPr id="34" name="Stack card 5"/>
          <p:cNvSpPr/>
          <p:nvPr/>
        </p:nvSpPr>
        <p:spPr>
          <a:xfrm>
            <a:off x="457200" y="3785616"/>
            <a:ext cx="4023360" cy="777240"/>
          </a:xfrm>
          <a:prstGeom prst="roundRect">
            <a:avLst>
              <a:gd name="adj" fmla="val 9412"/>
            </a:avLst>
          </a:prstGeom>
          <a:solidFill>
            <a:schemeClr val="bg2"/>
          </a:solidFill>
          <a:ln/>
        </p:spPr>
      </p:sp>
      <p:sp>
        <p:nvSpPr>
          <p:cNvPr id="35" name="Stack label 5"/>
          <p:cNvSpPr/>
          <p:nvPr/>
        </p:nvSpPr>
        <p:spPr>
          <a:xfrm>
            <a:off x="566928" y="3877056"/>
            <a:ext cx="1463040" cy="274320"/>
          </a:xfrm>
          <a:prstGeom prst="roundRect">
            <a:avLst>
              <a:gd name="adj" fmla="val 20000"/>
            </a:avLst>
          </a:prstGeom>
          <a:solidFill>
            <a:schemeClr val="accent2"/>
          </a:solidFill>
          <a:ln/>
        </p:spPr>
      </p:sp>
      <p:sp>
        <p:nvSpPr>
          <p:cNvPr id="36" name="Stack label 5 text"/>
          <p:cNvSpPr txBox="1"/>
          <p:nvPr/>
        </p:nvSpPr>
        <p:spPr>
          <a:xfrm>
            <a:off x="566928" y="3877056"/>
            <a:ext cx="1463040" cy="274320"/>
          </a:xfrm>
          <a:prstGeom prst="rect">
            <a:avLst/>
          </a:prstGeom>
          <a:noFill/>
          <a:ln/>
        </p:spPr>
        <p:txBody>
          <a:bodyPr wrap="square" lIns="0" tIns="0" rIns="0" bIns="0" rtlCol="0" anchor="ctr"/>
          <a:lstStyle/>
          <a:p>
            <a:pPr marL="0" indent="0" algn="ctr">
              <a:buNone/>
            </a:pPr>
            <a:r>
              <a:rPr lang="en-US" sz="1100" b="1" dirty="0">
                <a:solidFill>
                  <a:schemeClr val="tx1"/>
                </a:solidFill>
              </a:rPr>
              <a:t>AI (optional)</a:t>
            </a:r>
            <a:endParaRPr lang="en-US" sz="1100" dirty="0"/>
          </a:p>
        </p:txBody>
      </p:sp>
      <p:sp>
        <p:nvSpPr>
          <p:cNvPr id="37" name="Stack tech 5"/>
          <p:cNvSpPr txBox="1"/>
          <p:nvPr/>
        </p:nvSpPr>
        <p:spPr>
          <a:xfrm>
            <a:off x="566928" y="4197096"/>
            <a:ext cx="3840480" cy="182880"/>
          </a:xfrm>
          <a:prstGeom prst="rect">
            <a:avLst/>
          </a:prstGeom>
          <a:noFill/>
          <a:ln/>
        </p:spPr>
        <p:txBody>
          <a:bodyPr wrap="square" lIns="0" tIns="0" rIns="0" bIns="0" rtlCol="0" anchor="t"/>
          <a:lstStyle/>
          <a:p>
            <a:pPr marL="0" indent="0">
              <a:buNone/>
            </a:pPr>
            <a:r>
              <a:rPr lang="en-US" sz="1300" b="1" dirty="0">
                <a:solidFill>
                  <a:schemeClr val="tx1"/>
                </a:solidFill>
              </a:rPr>
              <a:t>IBM watsonx.ai Granite 13B chat</a:t>
            </a:r>
            <a:endParaRPr lang="en-US" sz="1300" dirty="0"/>
          </a:p>
        </p:txBody>
      </p:sp>
      <p:sp>
        <p:nvSpPr>
          <p:cNvPr id="38" name="Stack text 5"/>
          <p:cNvSpPr txBox="1"/>
          <p:nvPr/>
        </p:nvSpPr>
        <p:spPr>
          <a:xfrm>
            <a:off x="2148840" y="3877056"/>
            <a:ext cx="2240280" cy="274320"/>
          </a:xfrm>
          <a:prstGeom prst="rect">
            <a:avLst/>
          </a:prstGeom>
          <a:noFill/>
          <a:ln/>
        </p:spPr>
        <p:txBody>
          <a:bodyPr wrap="square" lIns="0" tIns="0" rIns="0" bIns="0" rtlCol="0" anchor="ctr"/>
          <a:lstStyle/>
          <a:p>
            <a:pPr marL="0" indent="0">
              <a:buNone/>
            </a:pPr>
            <a:r>
              <a:rPr lang="en-US" sz="1100" dirty="0">
                <a:solidFill>
                  <a:schemeClr val="accent5"/>
                </a:solidFill>
              </a:rPr>
              <a:t>Adapter built, not run in this demo</a:t>
            </a:r>
            <a:endParaRPr lang="en-US" sz="1100" dirty="0"/>
          </a:p>
        </p:txBody>
      </p:sp>
      <p:sp>
        <p:nvSpPr>
          <p:cNvPr id="39" name="Stack card 6"/>
          <p:cNvSpPr/>
          <p:nvPr/>
        </p:nvSpPr>
        <p:spPr>
          <a:xfrm>
            <a:off x="4663440" y="3785616"/>
            <a:ext cx="4023360" cy="777240"/>
          </a:xfrm>
          <a:prstGeom prst="roundRect">
            <a:avLst>
              <a:gd name="adj" fmla="val 9412"/>
            </a:avLst>
          </a:prstGeom>
          <a:solidFill>
            <a:schemeClr val="bg2"/>
          </a:solidFill>
          <a:ln/>
        </p:spPr>
      </p:sp>
      <p:sp>
        <p:nvSpPr>
          <p:cNvPr id="40" name="Stack label 6"/>
          <p:cNvSpPr/>
          <p:nvPr/>
        </p:nvSpPr>
        <p:spPr>
          <a:xfrm>
            <a:off x="4773168" y="3877056"/>
            <a:ext cx="1463040" cy="274320"/>
          </a:xfrm>
          <a:prstGeom prst="roundRect">
            <a:avLst>
              <a:gd name="adj" fmla="val 20000"/>
            </a:avLst>
          </a:prstGeom>
          <a:solidFill>
            <a:schemeClr val="accent5"/>
          </a:solidFill>
          <a:ln/>
        </p:spPr>
      </p:sp>
      <p:sp>
        <p:nvSpPr>
          <p:cNvPr id="41" name="Stack label 6 text"/>
          <p:cNvSpPr txBox="1"/>
          <p:nvPr/>
        </p:nvSpPr>
        <p:spPr>
          <a:xfrm>
            <a:off x="4773168" y="3877056"/>
            <a:ext cx="1463040" cy="274320"/>
          </a:xfrm>
          <a:prstGeom prst="rect">
            <a:avLst/>
          </a:prstGeom>
          <a:noFill/>
          <a:ln/>
        </p:spPr>
        <p:txBody>
          <a:bodyPr wrap="square" lIns="0" tIns="0" rIns="0" bIns="0" rtlCol="0" anchor="ctr"/>
          <a:lstStyle/>
          <a:p>
            <a:pPr marL="0" indent="0" algn="ctr">
              <a:buNone/>
            </a:pPr>
            <a:r>
              <a:rPr lang="en-US" sz="1100" b="1" dirty="0">
                <a:solidFill>
                  <a:schemeClr val="bg1"/>
                </a:solidFill>
              </a:rPr>
              <a:t>Quality and tooling</a:t>
            </a:r>
            <a:endParaRPr lang="en-US" sz="1100" dirty="0"/>
          </a:p>
        </p:txBody>
      </p:sp>
      <p:sp>
        <p:nvSpPr>
          <p:cNvPr id="42" name="Stack tech 6"/>
          <p:cNvSpPr txBox="1"/>
          <p:nvPr/>
        </p:nvSpPr>
        <p:spPr>
          <a:xfrm>
            <a:off x="4773168" y="4197096"/>
            <a:ext cx="3840480" cy="182880"/>
          </a:xfrm>
          <a:prstGeom prst="rect">
            <a:avLst/>
          </a:prstGeom>
          <a:noFill/>
          <a:ln/>
        </p:spPr>
        <p:txBody>
          <a:bodyPr wrap="square" lIns="0" tIns="0" rIns="0" bIns="0" rtlCol="0" anchor="t"/>
          <a:lstStyle/>
          <a:p>
            <a:pPr marL="0" indent="0">
              <a:buNone/>
            </a:pPr>
            <a:r>
              <a:rPr lang="en-US" sz="1300" b="1" dirty="0">
                <a:solidFill>
                  <a:schemeClr val="tx1"/>
                </a:solidFill>
              </a:rPr>
              <a:t>pytest (261 tests), Claude Code, Spec Kit</a:t>
            </a:r>
            <a:endParaRPr lang="en-US" sz="1300" dirty="0"/>
          </a:p>
        </p:txBody>
      </p:sp>
      <p:sp>
        <p:nvSpPr>
          <p:cNvPr id="43" name="Stack text 6"/>
          <p:cNvSpPr txBox="1"/>
          <p:nvPr/>
        </p:nvSpPr>
        <p:spPr>
          <a:xfrm>
            <a:off x="6355080" y="3877056"/>
            <a:ext cx="2240280" cy="274320"/>
          </a:xfrm>
          <a:prstGeom prst="rect">
            <a:avLst/>
          </a:prstGeom>
          <a:noFill/>
          <a:ln/>
        </p:spPr>
        <p:txBody>
          <a:bodyPr wrap="square" lIns="0" tIns="0" rIns="0" bIns="0" rtlCol="0" anchor="ctr"/>
          <a:lstStyle/>
          <a:p>
            <a:pPr marL="0" indent="0">
              <a:buNone/>
            </a:pPr>
            <a:r>
              <a:rPr lang="en-US" sz="1100" dirty="0">
                <a:solidFill>
                  <a:schemeClr val="accent5"/>
                </a:solidFill>
              </a:rPr>
              <a:t>Tests first; spec-driven workflow</a:t>
            </a:r>
            <a:endParaRPr lang="en-US" sz="1100" dirty="0"/>
          </a:p>
        </p:txBody>
      </p:sp>
      <p:sp>
        <p:nvSpPr>
          <p:cNvPr id="4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What is real today</a:t>
            </a:r>
            <a:endParaRPr lang="en-US" sz="3200" dirty="0"/>
          </a:p>
        </p:txBody>
      </p:sp>
      <p:sp>
        <p:nvSpPr>
          <p:cNvPr id="3" name="Stat 1"/>
          <p:cNvSpPr txBox="1"/>
          <p:nvPr/>
        </p:nvSpPr>
        <p:spPr>
          <a:xfrm>
            <a:off x="457200" y="1051560"/>
            <a:ext cx="1920240" cy="594360"/>
          </a:xfrm>
          <a:prstGeom prst="rect">
            <a:avLst/>
          </a:prstGeom>
          <a:noFill/>
          <a:ln/>
        </p:spPr>
        <p:txBody>
          <a:bodyPr wrap="square" lIns="0" tIns="0" rIns="0" bIns="0" rtlCol="0" anchor="t"/>
          <a:lstStyle/>
          <a:p>
            <a:pPr marL="0" indent="0">
              <a:buNone/>
            </a:pPr>
            <a:r>
              <a:rPr lang="en-US" sz="4000" b="1" dirty="0">
                <a:solidFill>
                  <a:schemeClr val="accent1"/>
                </a:solidFill>
              </a:rPr>
              <a:t>261</a:t>
            </a:r>
            <a:endParaRPr lang="en-US" sz="4000" dirty="0"/>
          </a:p>
        </p:txBody>
      </p:sp>
      <p:sp>
        <p:nvSpPr>
          <p:cNvPr id="4" name="Stat label 1"/>
          <p:cNvSpPr txBox="1"/>
          <p:nvPr/>
        </p:nvSpPr>
        <p:spPr>
          <a:xfrm>
            <a:off x="457200" y="1645920"/>
            <a:ext cx="1920240" cy="274320"/>
          </a:xfrm>
          <a:prstGeom prst="rect">
            <a:avLst/>
          </a:prstGeom>
          <a:noFill/>
          <a:ln/>
        </p:spPr>
        <p:txBody>
          <a:bodyPr wrap="square" lIns="0" tIns="0" rIns="0" bIns="0" rtlCol="0" anchor="t"/>
          <a:lstStyle/>
          <a:p>
            <a:pPr marL="0" indent="0">
              <a:buNone/>
            </a:pPr>
            <a:r>
              <a:rPr lang="en-US" sz="1400" dirty="0">
                <a:solidFill>
                  <a:schemeClr val="accent5"/>
                </a:solidFill>
              </a:rPr>
              <a:t>tests passing</a:t>
            </a:r>
            <a:endParaRPr lang="en-US" sz="1400" dirty="0"/>
          </a:p>
        </p:txBody>
      </p:sp>
      <p:sp>
        <p:nvSpPr>
          <p:cNvPr id="5" name="Stat 2"/>
          <p:cNvSpPr txBox="1"/>
          <p:nvPr/>
        </p:nvSpPr>
        <p:spPr>
          <a:xfrm>
            <a:off x="2542032" y="1051560"/>
            <a:ext cx="1920240" cy="594360"/>
          </a:xfrm>
          <a:prstGeom prst="rect">
            <a:avLst/>
          </a:prstGeom>
          <a:noFill/>
          <a:ln/>
        </p:spPr>
        <p:txBody>
          <a:bodyPr wrap="square" lIns="0" tIns="0" rIns="0" bIns="0" rtlCol="0" anchor="t"/>
          <a:lstStyle/>
          <a:p>
            <a:pPr marL="0" indent="0">
              <a:buNone/>
            </a:pPr>
            <a:r>
              <a:rPr lang="en-US" sz="4000" b="1" dirty="0">
                <a:solidFill>
                  <a:schemeClr val="accent1"/>
                </a:solidFill>
              </a:rPr>
              <a:t>0</a:t>
            </a:r>
            <a:endParaRPr lang="en-US" sz="4000" dirty="0"/>
          </a:p>
        </p:txBody>
      </p:sp>
      <p:sp>
        <p:nvSpPr>
          <p:cNvPr id="6" name="Stat label 2"/>
          <p:cNvSpPr txBox="1"/>
          <p:nvPr/>
        </p:nvSpPr>
        <p:spPr>
          <a:xfrm>
            <a:off x="2542032" y="1645920"/>
            <a:ext cx="1920240" cy="274320"/>
          </a:xfrm>
          <a:prstGeom prst="rect">
            <a:avLst/>
          </a:prstGeom>
          <a:noFill/>
          <a:ln/>
        </p:spPr>
        <p:txBody>
          <a:bodyPr wrap="square" lIns="0" tIns="0" rIns="0" bIns="0" rtlCol="0" anchor="t"/>
          <a:lstStyle/>
          <a:p>
            <a:pPr marL="0" indent="0">
              <a:buNone/>
            </a:pPr>
            <a:r>
              <a:rPr lang="en-US" sz="1400" dirty="0">
                <a:solidFill>
                  <a:schemeClr val="accent5"/>
                </a:solidFill>
              </a:rPr>
              <a:t>LLM calls in decisions</a:t>
            </a:r>
            <a:endParaRPr lang="en-US" sz="1400" dirty="0"/>
          </a:p>
        </p:txBody>
      </p:sp>
      <p:sp>
        <p:nvSpPr>
          <p:cNvPr id="7" name="Stat 3"/>
          <p:cNvSpPr txBox="1"/>
          <p:nvPr/>
        </p:nvSpPr>
        <p:spPr>
          <a:xfrm>
            <a:off x="4626864" y="1051560"/>
            <a:ext cx="1920240" cy="594360"/>
          </a:xfrm>
          <a:prstGeom prst="rect">
            <a:avLst/>
          </a:prstGeom>
          <a:noFill/>
          <a:ln/>
        </p:spPr>
        <p:txBody>
          <a:bodyPr wrap="square" lIns="0" tIns="0" rIns="0" bIns="0" rtlCol="0" anchor="t"/>
          <a:lstStyle/>
          <a:p>
            <a:pPr marL="0" indent="0">
              <a:buNone/>
            </a:pPr>
            <a:r>
              <a:rPr lang="en-US" sz="4000" b="1" dirty="0">
                <a:solidFill>
                  <a:schemeClr val="accent1"/>
                </a:solidFill>
              </a:rPr>
              <a:t>67</a:t>
            </a:r>
            <a:endParaRPr lang="en-US" sz="4000" dirty="0"/>
          </a:p>
        </p:txBody>
      </p:sp>
      <p:sp>
        <p:nvSpPr>
          <p:cNvPr id="8" name="Stat label 3"/>
          <p:cNvSpPr txBox="1"/>
          <p:nvPr/>
        </p:nvSpPr>
        <p:spPr>
          <a:xfrm>
            <a:off x="4626864" y="1645920"/>
            <a:ext cx="1920240" cy="274320"/>
          </a:xfrm>
          <a:prstGeom prst="rect">
            <a:avLst/>
          </a:prstGeom>
          <a:noFill/>
          <a:ln/>
        </p:spPr>
        <p:txBody>
          <a:bodyPr wrap="square" lIns="0" tIns="0" rIns="0" bIns="0" rtlCol="0" anchor="t"/>
          <a:lstStyle/>
          <a:p>
            <a:pPr marL="0" indent="0">
              <a:buNone/>
            </a:pPr>
            <a:r>
              <a:rPr lang="en-US" sz="1400" dirty="0">
                <a:solidFill>
                  <a:schemeClr val="accent5"/>
                </a:solidFill>
              </a:rPr>
              <a:t>tagged constants</a:t>
            </a:r>
            <a:endParaRPr lang="en-US" sz="1400" dirty="0"/>
          </a:p>
        </p:txBody>
      </p:sp>
      <p:sp>
        <p:nvSpPr>
          <p:cNvPr id="9" name="Stat 4"/>
          <p:cNvSpPr txBox="1"/>
          <p:nvPr/>
        </p:nvSpPr>
        <p:spPr>
          <a:xfrm>
            <a:off x="6711696" y="1051560"/>
            <a:ext cx="1920240" cy="594360"/>
          </a:xfrm>
          <a:prstGeom prst="rect">
            <a:avLst/>
          </a:prstGeom>
          <a:noFill/>
          <a:ln/>
        </p:spPr>
        <p:txBody>
          <a:bodyPr wrap="square" lIns="0" tIns="0" rIns="0" bIns="0" rtlCol="0" anchor="t"/>
          <a:lstStyle/>
          <a:p>
            <a:pPr marL="0" indent="0">
              <a:buNone/>
            </a:pPr>
            <a:r>
              <a:rPr lang="en-US" sz="4000" b="1" dirty="0">
                <a:solidFill>
                  <a:schemeClr val="accent1"/>
                </a:solidFill>
              </a:rPr>
              <a:t>0</a:t>
            </a:r>
            <a:endParaRPr lang="en-US" sz="4000" dirty="0"/>
          </a:p>
        </p:txBody>
      </p:sp>
      <p:sp>
        <p:nvSpPr>
          <p:cNvPr id="10" name="Stat label 4"/>
          <p:cNvSpPr txBox="1"/>
          <p:nvPr/>
        </p:nvSpPr>
        <p:spPr>
          <a:xfrm>
            <a:off x="6711696" y="1645920"/>
            <a:ext cx="1920240" cy="274320"/>
          </a:xfrm>
          <a:prstGeom prst="rect">
            <a:avLst/>
          </a:prstGeom>
          <a:noFill/>
          <a:ln/>
        </p:spPr>
        <p:txBody>
          <a:bodyPr wrap="square" lIns="0" tIns="0" rIns="0" bIns="0" rtlCol="0" anchor="t"/>
          <a:lstStyle/>
          <a:p>
            <a:pPr marL="0" indent="0">
              <a:buNone/>
            </a:pPr>
            <a:r>
              <a:rPr lang="en-US" sz="1400" dirty="0">
                <a:solidFill>
                  <a:schemeClr val="accent5"/>
                </a:solidFill>
              </a:rPr>
              <a:t>API keys needed</a:t>
            </a:r>
            <a:endParaRPr lang="en-US" sz="1400" dirty="0"/>
          </a:p>
        </p:txBody>
      </p:sp>
      <p:sp>
        <p:nvSpPr>
          <p:cNvPr id="11" name="Status card 1"/>
          <p:cNvSpPr/>
          <p:nvPr/>
        </p:nvSpPr>
        <p:spPr>
          <a:xfrm>
            <a:off x="457200" y="2148840"/>
            <a:ext cx="2651760" cy="2423160"/>
          </a:xfrm>
          <a:prstGeom prst="roundRect">
            <a:avLst>
              <a:gd name="adj" fmla="val 3019"/>
            </a:avLst>
          </a:prstGeom>
          <a:solidFill>
            <a:schemeClr val="bg2"/>
          </a:solidFill>
          <a:ln/>
        </p:spPr>
      </p:sp>
      <p:sp>
        <p:nvSpPr>
          <p:cNvPr id="12" name="Status pill 1"/>
          <p:cNvSpPr/>
          <p:nvPr/>
        </p:nvSpPr>
        <p:spPr>
          <a:xfrm>
            <a:off x="594360" y="2286000"/>
            <a:ext cx="2377440" cy="329184"/>
          </a:xfrm>
          <a:prstGeom prst="roundRect">
            <a:avLst>
              <a:gd name="adj" fmla="val 16667"/>
            </a:avLst>
          </a:prstGeom>
          <a:solidFill>
            <a:schemeClr val="accent3"/>
          </a:solidFill>
          <a:ln/>
        </p:spPr>
      </p:sp>
      <p:sp>
        <p:nvSpPr>
          <p:cNvPr id="13" name="Status pill 1 text"/>
          <p:cNvSpPr txBox="1"/>
          <p:nvPr/>
        </p:nvSpPr>
        <p:spPr>
          <a:xfrm>
            <a:off x="594360" y="2286000"/>
            <a:ext cx="2377440" cy="329184"/>
          </a:xfrm>
          <a:prstGeom prst="rect">
            <a:avLst/>
          </a:prstGeom>
          <a:noFill/>
          <a:ln/>
        </p:spPr>
        <p:txBody>
          <a:bodyPr wrap="square" lIns="0" tIns="0" rIns="0" bIns="0" rtlCol="0" anchor="ctr"/>
          <a:lstStyle/>
          <a:p>
            <a:pPr marL="0" indent="0" algn="ctr">
              <a:buNone/>
            </a:pPr>
            <a:r>
              <a:rPr lang="en-US" sz="1300" b="1" dirty="0">
                <a:solidFill>
                  <a:schemeClr val="bg1"/>
                </a:solidFill>
              </a:rPr>
              <a:t>BUILT AND TESTED</a:t>
            </a:r>
            <a:endParaRPr lang="en-US" sz="1300" dirty="0"/>
          </a:p>
        </p:txBody>
      </p:sp>
      <p:sp>
        <p:nvSpPr>
          <p:cNvPr id="14" name="Status list 1"/>
          <p:cNvSpPr txBox="1"/>
          <p:nvPr/>
        </p:nvSpPr>
        <p:spPr>
          <a:xfrm>
            <a:off x="640080" y="2761488"/>
            <a:ext cx="233172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Road vs hybrid decisions</a:t>
            </a:r>
            <a:endParaRPr lang="en-US" sz="1400" dirty="0"/>
          </a:p>
          <a:p>
            <a:pPr marL="342900" indent="-342900">
              <a:spcAft>
                <a:spcPts val="600"/>
              </a:spcAft>
              <a:buSzPct val="100000"/>
              <a:buChar char="•"/>
            </a:pPr>
            <a:r>
              <a:rPr lang="en-US" sz="1400" dirty="0">
                <a:solidFill>
                  <a:schemeClr val="tx1"/>
                </a:solidFill>
              </a:rPr>
              <a:t>Matching and hazard filter</a:t>
            </a:r>
            <a:endParaRPr lang="en-US" sz="1400" dirty="0"/>
          </a:p>
          <a:p>
            <a:pPr marL="342900" indent="-342900">
              <a:spcAft>
                <a:spcPts val="600"/>
              </a:spcAft>
              <a:buSzPct val="100000"/>
              <a:buChar char="•"/>
            </a:pPr>
            <a:r>
              <a:rPr lang="en-US" sz="1400" dirty="0">
                <a:solidFill>
                  <a:schemeClr val="tx1"/>
                </a:solidFill>
              </a:rPr>
              <a:t>Booking and re-plan gates</a:t>
            </a:r>
            <a:endParaRPr lang="en-US" sz="1400" dirty="0"/>
          </a:p>
          <a:p>
            <a:pPr marL="342900" indent="-342900">
              <a:spcAft>
                <a:spcPts val="600"/>
              </a:spcAft>
              <a:buSzPct val="100000"/>
              <a:buChar char="•"/>
            </a:pPr>
            <a:r>
              <a:rPr lang="en-US" sz="1400" dirty="0">
                <a:solidFill>
                  <a:schemeClr val="tx1"/>
                </a:solidFill>
              </a:rPr>
              <a:t>Vessel and reliability logic</a:t>
            </a:r>
            <a:endParaRPr lang="en-US" sz="1400" dirty="0"/>
          </a:p>
        </p:txBody>
      </p:sp>
      <p:sp>
        <p:nvSpPr>
          <p:cNvPr id="15" name="Status card 2"/>
          <p:cNvSpPr/>
          <p:nvPr/>
        </p:nvSpPr>
        <p:spPr>
          <a:xfrm>
            <a:off x="3246120" y="2148840"/>
            <a:ext cx="2651760" cy="2423160"/>
          </a:xfrm>
          <a:prstGeom prst="roundRect">
            <a:avLst>
              <a:gd name="adj" fmla="val 3019"/>
            </a:avLst>
          </a:prstGeom>
          <a:solidFill>
            <a:schemeClr val="bg2"/>
          </a:solidFill>
          <a:ln/>
        </p:spPr>
      </p:sp>
      <p:sp>
        <p:nvSpPr>
          <p:cNvPr id="16" name="Status pill 2"/>
          <p:cNvSpPr/>
          <p:nvPr/>
        </p:nvSpPr>
        <p:spPr>
          <a:xfrm>
            <a:off x="3383280" y="2286000"/>
            <a:ext cx="2377440" cy="329184"/>
          </a:xfrm>
          <a:prstGeom prst="roundRect">
            <a:avLst>
              <a:gd name="adj" fmla="val 16667"/>
            </a:avLst>
          </a:prstGeom>
          <a:solidFill>
            <a:schemeClr val="accent2"/>
          </a:solidFill>
          <a:ln/>
        </p:spPr>
      </p:sp>
      <p:sp>
        <p:nvSpPr>
          <p:cNvPr id="17" name="Status pill 2 text"/>
          <p:cNvSpPr txBox="1"/>
          <p:nvPr/>
        </p:nvSpPr>
        <p:spPr>
          <a:xfrm>
            <a:off x="3383280" y="2286000"/>
            <a:ext cx="2377440" cy="329184"/>
          </a:xfrm>
          <a:prstGeom prst="rect">
            <a:avLst/>
          </a:prstGeom>
          <a:noFill/>
          <a:ln/>
        </p:spPr>
        <p:txBody>
          <a:bodyPr wrap="square" lIns="0" tIns="0" rIns="0" bIns="0" rtlCol="0" anchor="ctr"/>
          <a:lstStyle/>
          <a:p>
            <a:pPr marL="0" indent="0" algn="ctr">
              <a:buNone/>
            </a:pPr>
            <a:r>
              <a:rPr lang="en-US" sz="1300" b="1" dirty="0">
                <a:solidFill>
                  <a:schemeClr val="tx1"/>
                </a:solidFill>
              </a:rPr>
              <a:t>BUILT, MOCKED</a:t>
            </a:r>
            <a:endParaRPr lang="en-US" sz="1300" dirty="0"/>
          </a:p>
        </p:txBody>
      </p:sp>
      <p:sp>
        <p:nvSpPr>
          <p:cNvPr id="18" name="Status list 2"/>
          <p:cNvSpPr txBox="1"/>
          <p:nvPr/>
        </p:nvSpPr>
        <p:spPr>
          <a:xfrm>
            <a:off x="3429000" y="2761488"/>
            <a:ext cx="233172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Vessel verification</a:t>
            </a:r>
            <a:endParaRPr lang="en-US" sz="1400" dirty="0"/>
          </a:p>
          <a:p>
            <a:pPr marL="342900" indent="-342900">
              <a:spcAft>
                <a:spcPts val="600"/>
              </a:spcAft>
              <a:buSzPct val="100000"/>
              <a:buChar char="•"/>
            </a:pPr>
            <a:r>
              <a:rPr lang="en-US" sz="1400" dirty="0">
                <a:solidFill>
                  <a:schemeClr val="tx1"/>
                </a:solidFill>
              </a:rPr>
              <a:t>Milestones and disruptions</a:t>
            </a:r>
            <a:endParaRPr lang="en-US" sz="1400" dirty="0"/>
          </a:p>
          <a:p>
            <a:pPr marL="342900" indent="-342900">
              <a:spcAft>
                <a:spcPts val="600"/>
              </a:spcAft>
              <a:buSzPct val="100000"/>
              <a:buChar char="•"/>
            </a:pPr>
            <a:r>
              <a:rPr lang="en-US" sz="1400" dirty="0">
                <a:solidFill>
                  <a:schemeClr val="tx1"/>
                </a:solidFill>
              </a:rPr>
              <a:t>Notification previews</a:t>
            </a:r>
            <a:endParaRPr lang="en-US" sz="1400" dirty="0"/>
          </a:p>
          <a:p>
            <a:pPr marL="342900" indent="-342900">
              <a:spcAft>
                <a:spcPts val="600"/>
              </a:spcAft>
              <a:buSzPct val="100000"/>
              <a:buChar char="•"/>
            </a:pPr>
            <a:r>
              <a:rPr lang="en-US" sz="1400" dirty="0">
                <a:solidFill>
                  <a:schemeClr val="tx1"/>
                </a:solidFill>
              </a:rPr>
              <a:t>History and warehouses</a:t>
            </a:r>
            <a:endParaRPr lang="en-US" sz="1400" dirty="0"/>
          </a:p>
        </p:txBody>
      </p:sp>
      <p:sp>
        <p:nvSpPr>
          <p:cNvPr id="19" name="Status card 3"/>
          <p:cNvSpPr/>
          <p:nvPr/>
        </p:nvSpPr>
        <p:spPr>
          <a:xfrm>
            <a:off x="6035040" y="2148840"/>
            <a:ext cx="2651760" cy="2423160"/>
          </a:xfrm>
          <a:prstGeom prst="roundRect">
            <a:avLst>
              <a:gd name="adj" fmla="val 3019"/>
            </a:avLst>
          </a:prstGeom>
          <a:solidFill>
            <a:schemeClr val="bg2"/>
          </a:solidFill>
          <a:ln/>
        </p:spPr>
      </p:sp>
      <p:sp>
        <p:nvSpPr>
          <p:cNvPr id="20" name="Status pill 3"/>
          <p:cNvSpPr/>
          <p:nvPr/>
        </p:nvSpPr>
        <p:spPr>
          <a:xfrm>
            <a:off x="6172200" y="2286000"/>
            <a:ext cx="2377440" cy="329184"/>
          </a:xfrm>
          <a:prstGeom prst="roundRect">
            <a:avLst>
              <a:gd name="adj" fmla="val 16667"/>
            </a:avLst>
          </a:prstGeom>
          <a:solidFill>
            <a:schemeClr val="accent5"/>
          </a:solidFill>
          <a:ln/>
        </p:spPr>
      </p:sp>
      <p:sp>
        <p:nvSpPr>
          <p:cNvPr id="21" name="Status pill 3 text"/>
          <p:cNvSpPr txBox="1"/>
          <p:nvPr/>
        </p:nvSpPr>
        <p:spPr>
          <a:xfrm>
            <a:off x="6172200" y="2286000"/>
            <a:ext cx="2377440" cy="329184"/>
          </a:xfrm>
          <a:prstGeom prst="rect">
            <a:avLst/>
          </a:prstGeom>
          <a:noFill/>
          <a:ln/>
        </p:spPr>
        <p:txBody>
          <a:bodyPr wrap="square" lIns="0" tIns="0" rIns="0" bIns="0" rtlCol="0" anchor="ctr"/>
          <a:lstStyle/>
          <a:p>
            <a:pPr marL="0" indent="0" algn="ctr">
              <a:buNone/>
            </a:pPr>
            <a:r>
              <a:rPr lang="en-US" sz="1300" b="1" dirty="0">
                <a:solidFill>
                  <a:schemeClr val="bg1"/>
                </a:solidFill>
              </a:rPr>
              <a:t>ROADMAP</a:t>
            </a:r>
            <a:endParaRPr lang="en-US" sz="1300" dirty="0"/>
          </a:p>
        </p:txBody>
      </p:sp>
      <p:sp>
        <p:nvSpPr>
          <p:cNvPr id="22" name="Status list 3"/>
          <p:cNvSpPr txBox="1"/>
          <p:nvPr/>
        </p:nvSpPr>
        <p:spPr>
          <a:xfrm>
            <a:off x="6217920" y="2761488"/>
            <a:ext cx="233172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Live vessel tracking</a:t>
            </a:r>
            <a:endParaRPr lang="en-US" sz="1400" dirty="0"/>
          </a:p>
          <a:p>
            <a:pPr marL="342900" indent="-342900">
              <a:spcAft>
                <a:spcPts val="600"/>
              </a:spcAft>
              <a:buSzPct val="100000"/>
              <a:buChar char="•"/>
            </a:pPr>
            <a:r>
              <a:rPr lang="en-US" sz="1400" dirty="0">
                <a:solidFill>
                  <a:schemeClr val="tx1"/>
                </a:solidFill>
              </a:rPr>
              <a:t>Real alerts and payments</a:t>
            </a:r>
            <a:endParaRPr lang="en-US" sz="1400" dirty="0"/>
          </a:p>
          <a:p>
            <a:pPr marL="342900" indent="-342900">
              <a:spcAft>
                <a:spcPts val="600"/>
              </a:spcAft>
              <a:buSzPct val="100000"/>
              <a:buChar char="•"/>
            </a:pPr>
            <a:r>
              <a:rPr lang="en-US" sz="1400" dirty="0">
                <a:solidFill>
                  <a:schemeClr val="tx1"/>
                </a:solidFill>
              </a:rPr>
              <a:t>Registry and rules checks</a:t>
            </a:r>
            <a:endParaRPr lang="en-US" sz="1400" dirty="0"/>
          </a:p>
          <a:p>
            <a:pPr marL="342900" indent="-342900">
              <a:spcAft>
                <a:spcPts val="600"/>
              </a:spcAft>
              <a:buSzPct val="100000"/>
              <a:buChar char="•"/>
            </a:pPr>
            <a:r>
              <a:rPr lang="en-US" sz="1400" dirty="0">
                <a:solidFill>
                  <a:schemeClr val="tx1"/>
                </a:solidFill>
              </a:rPr>
              <a:t>Live LLM parsing</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Future scope: roadmap</a:t>
            </a:r>
            <a:endParaRPr lang="en-US" sz="3200" dirty="0"/>
          </a:p>
        </p:txBody>
      </p:sp>
      <p:sp>
        <p:nvSpPr>
          <p:cNvPr id="3" name="Future card 1"/>
          <p:cNvSpPr/>
          <p:nvPr/>
        </p:nvSpPr>
        <p:spPr>
          <a:xfrm>
            <a:off x="457200" y="1051560"/>
            <a:ext cx="2651760" cy="2926080"/>
          </a:xfrm>
          <a:prstGeom prst="roundRect">
            <a:avLst>
              <a:gd name="adj" fmla="val 2759"/>
            </a:avLst>
          </a:prstGeom>
          <a:solidFill>
            <a:schemeClr val="bg2"/>
          </a:solidFill>
          <a:ln/>
        </p:spPr>
      </p:sp>
      <p:sp>
        <p:nvSpPr>
          <p:cNvPr id="4" name="Future header 1"/>
          <p:cNvSpPr/>
          <p:nvPr/>
        </p:nvSpPr>
        <p:spPr>
          <a:xfrm>
            <a:off x="457200" y="1051560"/>
            <a:ext cx="2651760" cy="685800"/>
          </a:xfrm>
          <a:prstGeom prst="roundRect">
            <a:avLst>
              <a:gd name="adj" fmla="val 10667"/>
            </a:avLst>
          </a:prstGeom>
          <a:solidFill>
            <a:schemeClr val="accent1"/>
          </a:solidFill>
          <a:ln/>
        </p:spPr>
      </p:sp>
      <p:sp>
        <p:nvSpPr>
          <p:cNvPr id="5" name="Future phase 1"/>
          <p:cNvSpPr txBox="1"/>
          <p:nvPr/>
        </p:nvSpPr>
        <p:spPr>
          <a:xfrm>
            <a:off x="640080" y="1115568"/>
            <a:ext cx="2286000" cy="256032"/>
          </a:xfrm>
          <a:prstGeom prst="rect">
            <a:avLst/>
          </a:prstGeom>
          <a:noFill/>
          <a:ln/>
        </p:spPr>
        <p:txBody>
          <a:bodyPr wrap="square" lIns="0" tIns="0" rIns="0" bIns="0" rtlCol="0" anchor="t"/>
          <a:lstStyle/>
          <a:p>
            <a:pPr marL="0" indent="0">
              <a:buNone/>
            </a:pPr>
            <a:r>
              <a:rPr lang="en-US" sz="1200" b="1" dirty="0">
                <a:solidFill>
                  <a:schemeClr val="accent6"/>
                </a:solidFill>
              </a:rPr>
              <a:t>NEXT</a:t>
            </a:r>
            <a:endParaRPr lang="en-US" sz="1200" dirty="0"/>
          </a:p>
        </p:txBody>
      </p:sp>
      <p:sp>
        <p:nvSpPr>
          <p:cNvPr id="6" name="Future title 1"/>
          <p:cNvSpPr txBox="1"/>
          <p:nvPr/>
        </p:nvSpPr>
        <p:spPr>
          <a:xfrm>
            <a:off x="640080" y="1371600"/>
            <a:ext cx="2286000" cy="320040"/>
          </a:xfrm>
          <a:prstGeom prst="rect">
            <a:avLst/>
          </a:prstGeom>
          <a:noFill/>
          <a:ln/>
        </p:spPr>
        <p:txBody>
          <a:bodyPr wrap="square" lIns="0" tIns="0" rIns="0" bIns="0" rtlCol="0" anchor="t"/>
          <a:lstStyle/>
          <a:p>
            <a:pPr marL="0" indent="0">
              <a:buNone/>
            </a:pPr>
            <a:r>
              <a:rPr lang="en-US" sz="1800" b="1" dirty="0">
                <a:solidFill>
                  <a:schemeClr val="bg1"/>
                </a:solidFill>
              </a:rPr>
              <a:t>Make it real</a:t>
            </a:r>
            <a:endParaRPr lang="en-US" sz="1800" dirty="0"/>
          </a:p>
        </p:txBody>
      </p:sp>
      <p:sp>
        <p:nvSpPr>
          <p:cNvPr id="7" name="Future list 1"/>
          <p:cNvSpPr txBox="1"/>
          <p:nvPr/>
        </p:nvSpPr>
        <p:spPr>
          <a:xfrm>
            <a:off x="640080" y="1874520"/>
            <a:ext cx="233172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Verified tariffs and hazard rules from IWAI, PESO and state bodies</a:t>
            </a:r>
            <a:endParaRPr lang="en-US" sz="1400" dirty="0"/>
          </a:p>
          <a:p>
            <a:pPr marL="342900" indent="-342900">
              <a:spcAft>
                <a:spcPts val="600"/>
              </a:spcAft>
              <a:buSzPct val="100000"/>
              <a:buChar char="•"/>
            </a:pPr>
            <a:r>
              <a:rPr lang="en-US" sz="1400" dirty="0">
                <a:solidFill>
                  <a:schemeClr val="tx1"/>
                </a:solidFill>
              </a:rPr>
              <a:t>Real jetty network and routed road distances</a:t>
            </a:r>
            <a:endParaRPr lang="en-US" sz="1400" dirty="0"/>
          </a:p>
          <a:p>
            <a:pPr marL="342900" indent="-342900">
              <a:spcAft>
                <a:spcPts val="600"/>
              </a:spcAft>
              <a:buSzPct val="100000"/>
              <a:buChar char="•"/>
            </a:pPr>
            <a:r>
              <a:rPr lang="en-US" sz="1400" dirty="0">
                <a:solidFill>
                  <a:schemeClr val="tx1"/>
                </a:solidFill>
              </a:rPr>
              <a:t>Vessel registry checks</a:t>
            </a:r>
            <a:endParaRPr lang="en-US" sz="1400" dirty="0"/>
          </a:p>
        </p:txBody>
      </p:sp>
      <p:sp>
        <p:nvSpPr>
          <p:cNvPr id="8" name="Future card 2"/>
          <p:cNvSpPr/>
          <p:nvPr/>
        </p:nvSpPr>
        <p:spPr>
          <a:xfrm>
            <a:off x="3246120" y="1051560"/>
            <a:ext cx="2651760" cy="2926080"/>
          </a:xfrm>
          <a:prstGeom prst="roundRect">
            <a:avLst>
              <a:gd name="adj" fmla="val 2759"/>
            </a:avLst>
          </a:prstGeom>
          <a:solidFill>
            <a:schemeClr val="bg2"/>
          </a:solidFill>
          <a:ln/>
        </p:spPr>
      </p:sp>
      <p:sp>
        <p:nvSpPr>
          <p:cNvPr id="9" name="Future header 2"/>
          <p:cNvSpPr/>
          <p:nvPr/>
        </p:nvSpPr>
        <p:spPr>
          <a:xfrm>
            <a:off x="3246120" y="1051560"/>
            <a:ext cx="2651760" cy="685800"/>
          </a:xfrm>
          <a:prstGeom prst="roundRect">
            <a:avLst>
              <a:gd name="adj" fmla="val 10667"/>
            </a:avLst>
          </a:prstGeom>
          <a:solidFill>
            <a:schemeClr val="tx2"/>
          </a:solidFill>
          <a:ln/>
        </p:spPr>
      </p:sp>
      <p:sp>
        <p:nvSpPr>
          <p:cNvPr id="10" name="Future phase 2"/>
          <p:cNvSpPr txBox="1"/>
          <p:nvPr/>
        </p:nvSpPr>
        <p:spPr>
          <a:xfrm>
            <a:off x="3429000" y="1115568"/>
            <a:ext cx="2286000" cy="256032"/>
          </a:xfrm>
          <a:prstGeom prst="rect">
            <a:avLst/>
          </a:prstGeom>
          <a:noFill/>
          <a:ln/>
        </p:spPr>
        <p:txBody>
          <a:bodyPr wrap="square" lIns="0" tIns="0" rIns="0" bIns="0" rtlCol="0" anchor="t"/>
          <a:lstStyle/>
          <a:p>
            <a:pPr marL="0" indent="0">
              <a:buNone/>
            </a:pPr>
            <a:r>
              <a:rPr lang="en-US" sz="1200" b="1" dirty="0">
                <a:solidFill>
                  <a:schemeClr val="accent6"/>
                </a:solidFill>
              </a:rPr>
              <a:t>THEN</a:t>
            </a:r>
            <a:endParaRPr lang="en-US" sz="1200" dirty="0"/>
          </a:p>
        </p:txBody>
      </p:sp>
      <p:sp>
        <p:nvSpPr>
          <p:cNvPr id="11" name="Future title 2"/>
          <p:cNvSpPr txBox="1"/>
          <p:nvPr/>
        </p:nvSpPr>
        <p:spPr>
          <a:xfrm>
            <a:off x="3429000" y="1371600"/>
            <a:ext cx="2286000" cy="320040"/>
          </a:xfrm>
          <a:prstGeom prst="rect">
            <a:avLst/>
          </a:prstGeom>
          <a:noFill/>
          <a:ln/>
        </p:spPr>
        <p:txBody>
          <a:bodyPr wrap="square" lIns="0" tIns="0" rIns="0" bIns="0" rtlCol="0" anchor="t"/>
          <a:lstStyle/>
          <a:p>
            <a:pPr marL="0" indent="0">
              <a:buNone/>
            </a:pPr>
            <a:r>
              <a:rPr lang="en-US" sz="1800" b="1" dirty="0">
                <a:solidFill>
                  <a:schemeClr val="bg1"/>
                </a:solidFill>
              </a:rPr>
              <a:t>Make it live</a:t>
            </a:r>
            <a:endParaRPr lang="en-US" sz="1800" dirty="0"/>
          </a:p>
        </p:txBody>
      </p:sp>
      <p:sp>
        <p:nvSpPr>
          <p:cNvPr id="12" name="Future list 2"/>
          <p:cNvSpPr txBox="1"/>
          <p:nvPr/>
        </p:nvSpPr>
        <p:spPr>
          <a:xfrm>
            <a:off x="3429000" y="1874520"/>
            <a:ext cx="233172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Live vessel positions (GPS, AIS)</a:t>
            </a:r>
            <a:endParaRPr lang="en-US" sz="1400" dirty="0"/>
          </a:p>
          <a:p>
            <a:pPr marL="342900" indent="-342900">
              <a:spcAft>
                <a:spcPts val="600"/>
              </a:spcAft>
              <a:buSzPct val="100000"/>
              <a:buChar char="•"/>
            </a:pPr>
            <a:r>
              <a:rPr lang="en-US" sz="1400" dirty="0">
                <a:solidFill>
                  <a:schemeClr val="tx1"/>
                </a:solidFill>
              </a:rPr>
              <a:t>WhatsApp and SMS alerts, in Malayalam too</a:t>
            </a:r>
            <a:endParaRPr lang="en-US" sz="1400" dirty="0"/>
          </a:p>
          <a:p>
            <a:pPr marL="342900" indent="-342900">
              <a:spcAft>
                <a:spcPts val="600"/>
              </a:spcAft>
              <a:buSzPct val="100000"/>
              <a:buChar char="•"/>
            </a:pPr>
            <a:r>
              <a:rPr lang="en-US" sz="1400" dirty="0">
                <a:solidFill>
                  <a:schemeClr val="tx1"/>
                </a:solidFill>
              </a:rPr>
              <a:t>Accounts, roles and a real database</a:t>
            </a:r>
            <a:endParaRPr lang="en-US" sz="1400" dirty="0"/>
          </a:p>
        </p:txBody>
      </p:sp>
      <p:sp>
        <p:nvSpPr>
          <p:cNvPr id="13" name="Future card 3"/>
          <p:cNvSpPr/>
          <p:nvPr/>
        </p:nvSpPr>
        <p:spPr>
          <a:xfrm>
            <a:off x="6035040" y="1051560"/>
            <a:ext cx="2651760" cy="2926080"/>
          </a:xfrm>
          <a:prstGeom prst="roundRect">
            <a:avLst>
              <a:gd name="adj" fmla="val 2759"/>
            </a:avLst>
          </a:prstGeom>
          <a:solidFill>
            <a:schemeClr val="bg2"/>
          </a:solidFill>
          <a:ln/>
        </p:spPr>
      </p:sp>
      <p:sp>
        <p:nvSpPr>
          <p:cNvPr id="14" name="Future header 3"/>
          <p:cNvSpPr/>
          <p:nvPr/>
        </p:nvSpPr>
        <p:spPr>
          <a:xfrm>
            <a:off x="6035040" y="1051560"/>
            <a:ext cx="2651760" cy="685800"/>
          </a:xfrm>
          <a:prstGeom prst="roundRect">
            <a:avLst>
              <a:gd name="adj" fmla="val 10667"/>
            </a:avLst>
          </a:prstGeom>
          <a:solidFill>
            <a:schemeClr val="accent5"/>
          </a:solidFill>
          <a:ln/>
        </p:spPr>
      </p:sp>
      <p:sp>
        <p:nvSpPr>
          <p:cNvPr id="15" name="Future phase 3"/>
          <p:cNvSpPr txBox="1"/>
          <p:nvPr/>
        </p:nvSpPr>
        <p:spPr>
          <a:xfrm>
            <a:off x="6217920" y="1115568"/>
            <a:ext cx="2286000" cy="256032"/>
          </a:xfrm>
          <a:prstGeom prst="rect">
            <a:avLst/>
          </a:prstGeom>
          <a:noFill/>
          <a:ln/>
        </p:spPr>
        <p:txBody>
          <a:bodyPr wrap="square" lIns="0" tIns="0" rIns="0" bIns="0" rtlCol="0" anchor="t"/>
          <a:lstStyle/>
          <a:p>
            <a:pPr marL="0" indent="0">
              <a:buNone/>
            </a:pPr>
            <a:r>
              <a:rPr lang="en-US" sz="1200" b="1" dirty="0">
                <a:solidFill>
                  <a:schemeClr val="accent6"/>
                </a:solidFill>
              </a:rPr>
              <a:t>LATER</a:t>
            </a:r>
            <a:endParaRPr lang="en-US" sz="1200" dirty="0"/>
          </a:p>
        </p:txBody>
      </p:sp>
      <p:sp>
        <p:nvSpPr>
          <p:cNvPr id="16" name="Future title 3"/>
          <p:cNvSpPr txBox="1"/>
          <p:nvPr/>
        </p:nvSpPr>
        <p:spPr>
          <a:xfrm>
            <a:off x="6217920" y="1371600"/>
            <a:ext cx="2286000" cy="320040"/>
          </a:xfrm>
          <a:prstGeom prst="rect">
            <a:avLst/>
          </a:prstGeom>
          <a:noFill/>
          <a:ln/>
        </p:spPr>
        <p:txBody>
          <a:bodyPr wrap="square" lIns="0" tIns="0" rIns="0" bIns="0" rtlCol="0" anchor="t"/>
          <a:lstStyle/>
          <a:p>
            <a:pPr marL="0" indent="0">
              <a:buNone/>
            </a:pPr>
            <a:r>
              <a:rPr lang="en-US" sz="1800" b="1" dirty="0">
                <a:solidFill>
                  <a:schemeClr val="bg1"/>
                </a:solidFill>
              </a:rPr>
              <a:t>Make it grow</a:t>
            </a:r>
            <a:endParaRPr lang="en-US" sz="1800" dirty="0"/>
          </a:p>
        </p:txBody>
      </p:sp>
      <p:sp>
        <p:nvSpPr>
          <p:cNvPr id="17" name="Future list 3"/>
          <p:cNvSpPr txBox="1"/>
          <p:nvPr/>
        </p:nvSpPr>
        <p:spPr>
          <a:xfrm>
            <a:off x="6217920" y="1874520"/>
            <a:ext cx="233172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More waterways beyond NW-3</a:t>
            </a:r>
            <a:endParaRPr lang="en-US" sz="1400" dirty="0"/>
          </a:p>
          <a:p>
            <a:pPr marL="342900" indent="-342900">
              <a:spcAft>
                <a:spcPts val="600"/>
              </a:spcAft>
              <a:buSzPct val="100000"/>
              <a:buChar char="•"/>
            </a:pPr>
            <a:r>
              <a:rPr lang="en-US" sz="1400" dirty="0">
                <a:solidFill>
                  <a:schemeClr val="tx1"/>
                </a:solidFill>
              </a:rPr>
              <a:t>Network-wide pooling and backhaul planning</a:t>
            </a:r>
            <a:endParaRPr lang="en-US" sz="1400" dirty="0"/>
          </a:p>
          <a:p>
            <a:pPr marL="342900" indent="-342900">
              <a:spcAft>
                <a:spcPts val="600"/>
              </a:spcAft>
              <a:buSzPct val="100000"/>
              <a:buChar char="•"/>
            </a:pPr>
            <a:r>
              <a:rPr lang="en-US" sz="1400" dirty="0">
                <a:solidFill>
                  <a:schemeClr val="tx1"/>
                </a:solidFill>
              </a:rPr>
              <a:t>Carbon reports for shippers (idea)</a:t>
            </a:r>
            <a:endParaRPr lang="en-US" sz="1400" dirty="0"/>
          </a:p>
        </p:txBody>
      </p:sp>
      <p:sp>
        <p:nvSpPr>
          <p:cNvPr id="18" name="Hurdle banner"/>
          <p:cNvSpPr/>
          <p:nvPr/>
        </p:nvSpPr>
        <p:spPr>
          <a:xfrm>
            <a:off x="457200" y="4114800"/>
            <a:ext cx="8229600" cy="566928"/>
          </a:xfrm>
          <a:prstGeom prst="roundRect">
            <a:avLst>
              <a:gd name="adj" fmla="val 12903"/>
            </a:avLst>
          </a:prstGeom>
          <a:solidFill>
            <a:schemeClr val="tx2"/>
          </a:solidFill>
          <a:ln/>
        </p:spPr>
      </p:sp>
      <p:sp>
        <p:nvSpPr>
          <p:cNvPr id="19" name="Hurdle text"/>
          <p:cNvSpPr txBox="1"/>
          <p:nvPr/>
        </p:nvSpPr>
        <p:spPr>
          <a:xfrm>
            <a:off x="640080" y="4114800"/>
            <a:ext cx="7863840" cy="566928"/>
          </a:xfrm>
          <a:prstGeom prst="rect">
            <a:avLst/>
          </a:prstGeom>
          <a:noFill/>
          <a:ln/>
        </p:spPr>
        <p:txBody>
          <a:bodyPr wrap="square" lIns="0" tIns="0" rIns="0" bIns="0" rtlCol="0" anchor="ctr"/>
          <a:lstStyle/>
          <a:p>
            <a:pPr marL="0" indent="0">
              <a:buNone/>
            </a:pPr>
            <a:r>
              <a:rPr lang="en-US" sz="1600" b="1" dirty="0">
                <a:solidFill>
                  <a:schemeClr val="bg1"/>
                </a:solidFill>
              </a:rPr>
              <a:t>Biggest hurdle: getting cargo owners and boat operators to share real data.</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200" b="1" dirty="0">
                <a:solidFill>
                  <a:schemeClr val="tx2"/>
                </a:solidFill>
              </a:rPr>
              <a:t>Future scope: ideas worth building</a:t>
            </a:r>
            <a:endParaRPr lang="en-US" sz="3200" dirty="0"/>
          </a:p>
        </p:txBody>
      </p:sp>
      <p:sp>
        <p:nvSpPr>
          <p:cNvPr id="3" name="Idea card 1"/>
          <p:cNvSpPr/>
          <p:nvPr/>
        </p:nvSpPr>
        <p:spPr>
          <a:xfrm>
            <a:off x="457200" y="1051560"/>
            <a:ext cx="1965960" cy="1645920"/>
          </a:xfrm>
          <a:prstGeom prst="roundRect">
            <a:avLst>
              <a:gd name="adj" fmla="val 4444"/>
            </a:avLst>
          </a:prstGeom>
          <a:solidFill>
            <a:schemeClr val="bg2"/>
          </a:solidFill>
          <a:ln/>
        </p:spPr>
      </p:sp>
      <p:sp>
        <p:nvSpPr>
          <p:cNvPr id="4" name="Future idea 1 circle"/>
          <p:cNvSpPr/>
          <p:nvPr/>
        </p:nvSpPr>
        <p:spPr>
          <a:xfrm>
            <a:off x="594360" y="1188720"/>
            <a:ext cx="411480" cy="411480"/>
          </a:xfrm>
          <a:prstGeom prst="ellipse">
            <a:avLst/>
          </a:prstGeom>
          <a:solidFill>
            <a:schemeClr val="accent1"/>
          </a:solidFill>
          <a:ln/>
        </p:spPr>
      </p:sp>
      <p:pic>
        <p:nvPicPr>
          <p:cNvPr id="5" name="Future idea 1 icon" descr="Future idea 1"/>
          <p:cNvPicPr>
            <a:picLocks noChangeAspect="1"/>
          </p:cNvPicPr>
          <p:nvPr/>
        </p:nvPicPr>
        <p:blipFill>
          <a:blip r:embed="rId3"/>
          <a:stretch>
            <a:fillRect/>
          </a:stretch>
        </p:blipFill>
        <p:spPr>
          <a:xfrm>
            <a:off x="701345" y="1295705"/>
            <a:ext cx="197510" cy="197510"/>
          </a:xfrm>
          <a:prstGeom prst="rect">
            <a:avLst/>
          </a:prstGeom>
        </p:spPr>
      </p:pic>
      <p:sp>
        <p:nvSpPr>
          <p:cNvPr id="6" name="Future idea 1 title"/>
          <p:cNvSpPr txBox="1"/>
          <p:nvPr/>
        </p:nvSpPr>
        <p:spPr>
          <a:xfrm>
            <a:off x="594360" y="1691640"/>
            <a:ext cx="1691640" cy="384048"/>
          </a:xfrm>
          <a:prstGeom prst="rect">
            <a:avLst/>
          </a:prstGeom>
          <a:noFill/>
          <a:ln/>
        </p:spPr>
        <p:txBody>
          <a:bodyPr wrap="square" lIns="0" tIns="0" rIns="0" bIns="0" rtlCol="0" anchor="t"/>
          <a:lstStyle/>
          <a:p>
            <a:pPr marL="0" indent="0">
              <a:buNone/>
            </a:pPr>
            <a:r>
              <a:rPr lang="en-US" sz="1400" b="1" dirty="0">
                <a:solidFill>
                  <a:schemeClr val="tx1"/>
                </a:solidFill>
              </a:rPr>
              <a:t>Live tracking</a:t>
            </a:r>
            <a:endParaRPr lang="en-US" sz="1400" dirty="0"/>
          </a:p>
        </p:txBody>
      </p:sp>
      <p:sp>
        <p:nvSpPr>
          <p:cNvPr id="7" name="Future idea 1 text"/>
          <p:cNvSpPr txBox="1"/>
          <p:nvPr/>
        </p:nvSpPr>
        <p:spPr>
          <a:xfrm>
            <a:off x="594360" y="2075688"/>
            <a:ext cx="1691640" cy="594360"/>
          </a:xfrm>
          <a:prstGeom prst="rect">
            <a:avLst/>
          </a:prstGeom>
          <a:noFill/>
          <a:ln/>
        </p:spPr>
        <p:txBody>
          <a:bodyPr wrap="square" lIns="0" tIns="0" rIns="0" bIns="0" rtlCol="0" anchor="t"/>
          <a:lstStyle/>
          <a:p>
            <a:pPr marL="0" indent="0">
              <a:buNone/>
            </a:pPr>
            <a:r>
              <a:rPr lang="en-US" sz="1200" dirty="0">
                <a:solidFill>
                  <a:schemeClr val="accent5"/>
                </a:solidFill>
              </a:rPr>
              <a:t>GPS and AIS positions replace simulated milestones</a:t>
            </a:r>
            <a:endParaRPr lang="en-US" sz="1200" dirty="0"/>
          </a:p>
        </p:txBody>
      </p:sp>
      <p:sp>
        <p:nvSpPr>
          <p:cNvPr id="8" name="Idea card 2"/>
          <p:cNvSpPr/>
          <p:nvPr/>
        </p:nvSpPr>
        <p:spPr>
          <a:xfrm>
            <a:off x="2542032" y="1051560"/>
            <a:ext cx="1965960" cy="1645920"/>
          </a:xfrm>
          <a:prstGeom prst="roundRect">
            <a:avLst>
              <a:gd name="adj" fmla="val 4444"/>
            </a:avLst>
          </a:prstGeom>
          <a:solidFill>
            <a:schemeClr val="bg2"/>
          </a:solidFill>
          <a:ln/>
        </p:spPr>
      </p:sp>
      <p:sp>
        <p:nvSpPr>
          <p:cNvPr id="9" name="Future idea 2 circle"/>
          <p:cNvSpPr/>
          <p:nvPr/>
        </p:nvSpPr>
        <p:spPr>
          <a:xfrm>
            <a:off x="2679192" y="1188720"/>
            <a:ext cx="411480" cy="411480"/>
          </a:xfrm>
          <a:prstGeom prst="ellipse">
            <a:avLst/>
          </a:prstGeom>
          <a:solidFill>
            <a:schemeClr val="accent1"/>
          </a:solidFill>
          <a:ln/>
        </p:spPr>
      </p:sp>
      <p:pic>
        <p:nvPicPr>
          <p:cNvPr id="10" name="Future idea 2 icon" descr="Future idea 2"/>
          <p:cNvPicPr>
            <a:picLocks noChangeAspect="1"/>
          </p:cNvPicPr>
          <p:nvPr/>
        </p:nvPicPr>
        <p:blipFill>
          <a:blip r:embed="rId4"/>
          <a:stretch>
            <a:fillRect/>
          </a:stretch>
        </p:blipFill>
        <p:spPr>
          <a:xfrm>
            <a:off x="2786177" y="1295705"/>
            <a:ext cx="197510" cy="197510"/>
          </a:xfrm>
          <a:prstGeom prst="rect">
            <a:avLst/>
          </a:prstGeom>
        </p:spPr>
      </p:pic>
      <p:sp>
        <p:nvSpPr>
          <p:cNvPr id="11" name="Future idea 2 title"/>
          <p:cNvSpPr txBox="1"/>
          <p:nvPr/>
        </p:nvSpPr>
        <p:spPr>
          <a:xfrm>
            <a:off x="2679192" y="1691640"/>
            <a:ext cx="1691640" cy="384048"/>
          </a:xfrm>
          <a:prstGeom prst="rect">
            <a:avLst/>
          </a:prstGeom>
          <a:noFill/>
          <a:ln/>
        </p:spPr>
        <p:txBody>
          <a:bodyPr wrap="square" lIns="0" tIns="0" rIns="0" bIns="0" rtlCol="0" anchor="t"/>
          <a:lstStyle/>
          <a:p>
            <a:pPr marL="0" indent="0">
              <a:buNone/>
            </a:pPr>
            <a:r>
              <a:rPr lang="en-US" sz="1400" b="1" dirty="0">
                <a:solidFill>
                  <a:schemeClr val="tx1"/>
                </a:solidFill>
              </a:rPr>
              <a:t>More waterways</a:t>
            </a:r>
            <a:endParaRPr lang="en-US" sz="1400" dirty="0"/>
          </a:p>
        </p:txBody>
      </p:sp>
      <p:sp>
        <p:nvSpPr>
          <p:cNvPr id="12" name="Future idea 2 text"/>
          <p:cNvSpPr txBox="1"/>
          <p:nvPr/>
        </p:nvSpPr>
        <p:spPr>
          <a:xfrm>
            <a:off x="2679192" y="2075688"/>
            <a:ext cx="1691640" cy="594360"/>
          </a:xfrm>
          <a:prstGeom prst="rect">
            <a:avLst/>
          </a:prstGeom>
          <a:noFill/>
          <a:ln/>
        </p:spPr>
        <p:txBody>
          <a:bodyPr wrap="square" lIns="0" tIns="0" rIns="0" bIns="0" rtlCol="0" anchor="t"/>
          <a:lstStyle/>
          <a:p>
            <a:pPr marL="0" indent="0">
              <a:buNone/>
            </a:pPr>
            <a:r>
              <a:rPr lang="en-US" sz="1200" dirty="0">
                <a:solidFill>
                  <a:schemeClr val="accent5"/>
                </a:solidFill>
              </a:rPr>
              <a:t>NW-8, NW-9, northern Kerala, other states</a:t>
            </a:r>
            <a:endParaRPr lang="en-US" sz="1200" dirty="0"/>
          </a:p>
        </p:txBody>
      </p:sp>
      <p:sp>
        <p:nvSpPr>
          <p:cNvPr id="13" name="Idea card 3"/>
          <p:cNvSpPr/>
          <p:nvPr/>
        </p:nvSpPr>
        <p:spPr>
          <a:xfrm>
            <a:off x="4626864" y="1051560"/>
            <a:ext cx="1965960" cy="1645920"/>
          </a:xfrm>
          <a:prstGeom prst="roundRect">
            <a:avLst>
              <a:gd name="adj" fmla="val 4444"/>
            </a:avLst>
          </a:prstGeom>
          <a:solidFill>
            <a:schemeClr val="bg2"/>
          </a:solidFill>
          <a:ln/>
        </p:spPr>
      </p:sp>
      <p:sp>
        <p:nvSpPr>
          <p:cNvPr id="14" name="Future idea 3 circle"/>
          <p:cNvSpPr/>
          <p:nvPr/>
        </p:nvSpPr>
        <p:spPr>
          <a:xfrm>
            <a:off x="4764024" y="1188720"/>
            <a:ext cx="411480" cy="411480"/>
          </a:xfrm>
          <a:prstGeom prst="ellipse">
            <a:avLst/>
          </a:prstGeom>
          <a:solidFill>
            <a:schemeClr val="accent1"/>
          </a:solidFill>
          <a:ln/>
        </p:spPr>
      </p:sp>
      <p:pic>
        <p:nvPicPr>
          <p:cNvPr id="15" name="Future idea 3 icon" descr="Future idea 3"/>
          <p:cNvPicPr>
            <a:picLocks noChangeAspect="1"/>
          </p:cNvPicPr>
          <p:nvPr/>
        </p:nvPicPr>
        <p:blipFill>
          <a:blip r:embed="rId5"/>
          <a:stretch>
            <a:fillRect/>
          </a:stretch>
        </p:blipFill>
        <p:spPr>
          <a:xfrm>
            <a:off x="4871009" y="1295705"/>
            <a:ext cx="197510" cy="197510"/>
          </a:xfrm>
          <a:prstGeom prst="rect">
            <a:avLst/>
          </a:prstGeom>
        </p:spPr>
      </p:pic>
      <p:sp>
        <p:nvSpPr>
          <p:cNvPr id="16" name="Future idea 3 title"/>
          <p:cNvSpPr txBox="1"/>
          <p:nvPr/>
        </p:nvSpPr>
        <p:spPr>
          <a:xfrm>
            <a:off x="4764024" y="1691640"/>
            <a:ext cx="1691640" cy="384048"/>
          </a:xfrm>
          <a:prstGeom prst="rect">
            <a:avLst/>
          </a:prstGeom>
          <a:noFill/>
          <a:ln/>
        </p:spPr>
        <p:txBody>
          <a:bodyPr wrap="square" lIns="0" tIns="0" rIns="0" bIns="0" rtlCol="0" anchor="t"/>
          <a:lstStyle/>
          <a:p>
            <a:pPr marL="0" indent="0">
              <a:buNone/>
            </a:pPr>
            <a:r>
              <a:rPr lang="en-US" sz="1400" b="1" dirty="0">
                <a:solidFill>
                  <a:schemeClr val="tx1"/>
                </a:solidFill>
              </a:rPr>
              <a:t>Depth and weather</a:t>
            </a:r>
            <a:endParaRPr lang="en-US" sz="1400" dirty="0"/>
          </a:p>
        </p:txBody>
      </p:sp>
      <p:sp>
        <p:nvSpPr>
          <p:cNvPr id="17" name="Future idea 3 text"/>
          <p:cNvSpPr txBox="1"/>
          <p:nvPr/>
        </p:nvSpPr>
        <p:spPr>
          <a:xfrm>
            <a:off x="4764024" y="2075688"/>
            <a:ext cx="1691640" cy="594360"/>
          </a:xfrm>
          <a:prstGeom prst="rect">
            <a:avLst/>
          </a:prstGeom>
          <a:noFill/>
          <a:ln/>
        </p:spPr>
        <p:txBody>
          <a:bodyPr wrap="square" lIns="0" tIns="0" rIns="0" bIns="0" rtlCol="0" anchor="t"/>
          <a:lstStyle/>
          <a:p>
            <a:pPr marL="0" indent="0">
              <a:buNone/>
            </a:pPr>
            <a:r>
              <a:rPr lang="en-US" sz="1200" dirty="0">
                <a:solidFill>
                  <a:schemeClr val="accent5"/>
                </a:solidFill>
              </a:rPr>
              <a:t>Draft, tide and monsoon feeds into reliability</a:t>
            </a:r>
            <a:endParaRPr lang="en-US" sz="1200" dirty="0"/>
          </a:p>
        </p:txBody>
      </p:sp>
      <p:sp>
        <p:nvSpPr>
          <p:cNvPr id="18" name="Idea card 4"/>
          <p:cNvSpPr/>
          <p:nvPr/>
        </p:nvSpPr>
        <p:spPr>
          <a:xfrm>
            <a:off x="6711696" y="1051560"/>
            <a:ext cx="1965960" cy="1645920"/>
          </a:xfrm>
          <a:prstGeom prst="roundRect">
            <a:avLst>
              <a:gd name="adj" fmla="val 4444"/>
            </a:avLst>
          </a:prstGeom>
          <a:solidFill>
            <a:schemeClr val="bg2"/>
          </a:solidFill>
          <a:ln/>
        </p:spPr>
      </p:sp>
      <p:sp>
        <p:nvSpPr>
          <p:cNvPr id="19" name="Future idea 4 circle"/>
          <p:cNvSpPr/>
          <p:nvPr/>
        </p:nvSpPr>
        <p:spPr>
          <a:xfrm>
            <a:off x="6848856" y="1188720"/>
            <a:ext cx="411480" cy="411480"/>
          </a:xfrm>
          <a:prstGeom prst="ellipse">
            <a:avLst/>
          </a:prstGeom>
          <a:solidFill>
            <a:schemeClr val="accent1"/>
          </a:solidFill>
          <a:ln/>
        </p:spPr>
      </p:sp>
      <p:pic>
        <p:nvPicPr>
          <p:cNvPr id="20" name="Future idea 4 icon" descr="Future idea 4"/>
          <p:cNvPicPr>
            <a:picLocks noChangeAspect="1"/>
          </p:cNvPicPr>
          <p:nvPr/>
        </p:nvPicPr>
        <p:blipFill>
          <a:blip r:embed="rId6"/>
          <a:stretch>
            <a:fillRect/>
          </a:stretch>
        </p:blipFill>
        <p:spPr>
          <a:xfrm>
            <a:off x="6955841" y="1295705"/>
            <a:ext cx="197510" cy="197510"/>
          </a:xfrm>
          <a:prstGeom prst="rect">
            <a:avLst/>
          </a:prstGeom>
        </p:spPr>
      </p:pic>
      <p:sp>
        <p:nvSpPr>
          <p:cNvPr id="21" name="Future idea 4 title"/>
          <p:cNvSpPr txBox="1"/>
          <p:nvPr/>
        </p:nvSpPr>
        <p:spPr>
          <a:xfrm>
            <a:off x="6848856" y="1691640"/>
            <a:ext cx="1691640" cy="384048"/>
          </a:xfrm>
          <a:prstGeom prst="rect">
            <a:avLst/>
          </a:prstGeom>
          <a:noFill/>
          <a:ln/>
        </p:spPr>
        <p:txBody>
          <a:bodyPr wrap="square" lIns="0" tIns="0" rIns="0" bIns="0" rtlCol="0" anchor="t"/>
          <a:lstStyle/>
          <a:p>
            <a:pPr marL="0" indent="0">
              <a:buNone/>
            </a:pPr>
            <a:r>
              <a:rPr lang="en-US" sz="1400" b="1" dirty="0">
                <a:solidFill>
                  <a:schemeClr val="tx1"/>
                </a:solidFill>
              </a:rPr>
              <a:t>Quotes, payments</a:t>
            </a:r>
            <a:endParaRPr lang="en-US" sz="1400" dirty="0"/>
          </a:p>
        </p:txBody>
      </p:sp>
      <p:sp>
        <p:nvSpPr>
          <p:cNvPr id="22" name="Future idea 4 text"/>
          <p:cNvSpPr txBox="1"/>
          <p:nvPr/>
        </p:nvSpPr>
        <p:spPr>
          <a:xfrm>
            <a:off x="6848856" y="2075688"/>
            <a:ext cx="1691640" cy="594360"/>
          </a:xfrm>
          <a:prstGeom prst="rect">
            <a:avLst/>
          </a:prstGeom>
          <a:noFill/>
          <a:ln/>
        </p:spPr>
        <p:txBody>
          <a:bodyPr wrap="square" lIns="0" tIns="0" rIns="0" bIns="0" rtlCol="0" anchor="t"/>
          <a:lstStyle/>
          <a:p>
            <a:pPr marL="0" indent="0">
              <a:buNone/>
            </a:pPr>
            <a:r>
              <a:rPr lang="en-US" sz="1200" dirty="0">
                <a:solidFill>
                  <a:schemeClr val="accent5"/>
                </a:solidFill>
              </a:rPr>
              <a:t>Operator rates, digital booking, payments</a:t>
            </a:r>
            <a:endParaRPr lang="en-US" sz="1200" dirty="0"/>
          </a:p>
        </p:txBody>
      </p:sp>
      <p:sp>
        <p:nvSpPr>
          <p:cNvPr id="23" name="Idea card 5"/>
          <p:cNvSpPr/>
          <p:nvPr/>
        </p:nvSpPr>
        <p:spPr>
          <a:xfrm>
            <a:off x="457200" y="2788920"/>
            <a:ext cx="1965960" cy="1645920"/>
          </a:xfrm>
          <a:prstGeom prst="roundRect">
            <a:avLst>
              <a:gd name="adj" fmla="val 4444"/>
            </a:avLst>
          </a:prstGeom>
          <a:solidFill>
            <a:schemeClr val="bg2"/>
          </a:solidFill>
          <a:ln/>
        </p:spPr>
      </p:sp>
      <p:sp>
        <p:nvSpPr>
          <p:cNvPr id="24" name="Future idea 5 circle"/>
          <p:cNvSpPr/>
          <p:nvPr/>
        </p:nvSpPr>
        <p:spPr>
          <a:xfrm>
            <a:off x="594360" y="2926080"/>
            <a:ext cx="411480" cy="411480"/>
          </a:xfrm>
          <a:prstGeom prst="ellipse">
            <a:avLst/>
          </a:prstGeom>
          <a:solidFill>
            <a:schemeClr val="accent1"/>
          </a:solidFill>
          <a:ln/>
        </p:spPr>
      </p:sp>
      <p:pic>
        <p:nvPicPr>
          <p:cNvPr id="25" name="Future idea 5 icon" descr="Future idea 5"/>
          <p:cNvPicPr>
            <a:picLocks noChangeAspect="1"/>
          </p:cNvPicPr>
          <p:nvPr/>
        </p:nvPicPr>
        <p:blipFill>
          <a:blip r:embed="rId7"/>
          <a:stretch>
            <a:fillRect/>
          </a:stretch>
        </p:blipFill>
        <p:spPr>
          <a:xfrm>
            <a:off x="701345" y="3033065"/>
            <a:ext cx="197510" cy="197510"/>
          </a:xfrm>
          <a:prstGeom prst="rect">
            <a:avLst/>
          </a:prstGeom>
        </p:spPr>
      </p:pic>
      <p:sp>
        <p:nvSpPr>
          <p:cNvPr id="26" name="Future idea 5 title"/>
          <p:cNvSpPr txBox="1"/>
          <p:nvPr/>
        </p:nvSpPr>
        <p:spPr>
          <a:xfrm>
            <a:off x="594360" y="3429000"/>
            <a:ext cx="1691640" cy="384048"/>
          </a:xfrm>
          <a:prstGeom prst="rect">
            <a:avLst/>
          </a:prstGeom>
          <a:noFill/>
          <a:ln/>
        </p:spPr>
        <p:txBody>
          <a:bodyPr wrap="square" lIns="0" tIns="0" rIns="0" bIns="0" rtlCol="0" anchor="t"/>
          <a:lstStyle/>
          <a:p>
            <a:pPr marL="0" indent="0">
              <a:buNone/>
            </a:pPr>
            <a:r>
              <a:rPr lang="en-US" sz="1400" b="1" dirty="0">
                <a:solidFill>
                  <a:schemeClr val="tx1"/>
                </a:solidFill>
              </a:rPr>
              <a:t>First and last mile</a:t>
            </a:r>
            <a:endParaRPr lang="en-US" sz="1400" dirty="0"/>
          </a:p>
        </p:txBody>
      </p:sp>
      <p:sp>
        <p:nvSpPr>
          <p:cNvPr id="27" name="Future idea 5 text"/>
          <p:cNvSpPr txBox="1"/>
          <p:nvPr/>
        </p:nvSpPr>
        <p:spPr>
          <a:xfrm>
            <a:off x="594360" y="3813048"/>
            <a:ext cx="1691640" cy="594360"/>
          </a:xfrm>
          <a:prstGeom prst="rect">
            <a:avLst/>
          </a:prstGeom>
          <a:noFill/>
          <a:ln/>
        </p:spPr>
        <p:txBody>
          <a:bodyPr wrap="square" lIns="0" tIns="0" rIns="0" bIns="0" rtlCol="0" anchor="t"/>
          <a:lstStyle/>
          <a:p>
            <a:pPr marL="0" indent="0">
              <a:buNone/>
            </a:pPr>
            <a:r>
              <a:rPr lang="en-US" sz="1200" dirty="0">
                <a:solidFill>
                  <a:schemeClr val="accent5"/>
                </a:solidFill>
              </a:rPr>
              <a:t>Book trucks to the jetty for true door-to-door cost</a:t>
            </a:r>
            <a:endParaRPr lang="en-US" sz="1200" dirty="0"/>
          </a:p>
        </p:txBody>
      </p:sp>
      <p:sp>
        <p:nvSpPr>
          <p:cNvPr id="28" name="Idea card 6"/>
          <p:cNvSpPr/>
          <p:nvPr/>
        </p:nvSpPr>
        <p:spPr>
          <a:xfrm>
            <a:off x="2542032" y="2788920"/>
            <a:ext cx="1965960" cy="1645920"/>
          </a:xfrm>
          <a:prstGeom prst="roundRect">
            <a:avLst>
              <a:gd name="adj" fmla="val 4444"/>
            </a:avLst>
          </a:prstGeom>
          <a:solidFill>
            <a:schemeClr val="bg2"/>
          </a:solidFill>
          <a:ln/>
        </p:spPr>
      </p:sp>
      <p:sp>
        <p:nvSpPr>
          <p:cNvPr id="29" name="Future idea 6 circle"/>
          <p:cNvSpPr/>
          <p:nvPr/>
        </p:nvSpPr>
        <p:spPr>
          <a:xfrm>
            <a:off x="2679192" y="2926080"/>
            <a:ext cx="411480" cy="411480"/>
          </a:xfrm>
          <a:prstGeom prst="ellipse">
            <a:avLst/>
          </a:prstGeom>
          <a:solidFill>
            <a:schemeClr val="accent1"/>
          </a:solidFill>
          <a:ln/>
        </p:spPr>
      </p:sp>
      <p:pic>
        <p:nvPicPr>
          <p:cNvPr id="30" name="Future idea 6 icon" descr="Future idea 6"/>
          <p:cNvPicPr>
            <a:picLocks noChangeAspect="1"/>
          </p:cNvPicPr>
          <p:nvPr/>
        </p:nvPicPr>
        <p:blipFill>
          <a:blip r:embed="rId8"/>
          <a:stretch>
            <a:fillRect/>
          </a:stretch>
        </p:blipFill>
        <p:spPr>
          <a:xfrm>
            <a:off x="2786177" y="3033065"/>
            <a:ext cx="197510" cy="197510"/>
          </a:xfrm>
          <a:prstGeom prst="rect">
            <a:avLst/>
          </a:prstGeom>
        </p:spPr>
      </p:pic>
      <p:sp>
        <p:nvSpPr>
          <p:cNvPr id="31" name="Future idea 6 title"/>
          <p:cNvSpPr txBox="1"/>
          <p:nvPr/>
        </p:nvSpPr>
        <p:spPr>
          <a:xfrm>
            <a:off x="2679192" y="3429000"/>
            <a:ext cx="1691640" cy="384048"/>
          </a:xfrm>
          <a:prstGeom prst="rect">
            <a:avLst/>
          </a:prstGeom>
          <a:noFill/>
          <a:ln/>
        </p:spPr>
        <p:txBody>
          <a:bodyPr wrap="square" lIns="0" tIns="0" rIns="0" bIns="0" rtlCol="0" anchor="t"/>
          <a:lstStyle/>
          <a:p>
            <a:pPr marL="0" indent="0">
              <a:buNone/>
            </a:pPr>
            <a:r>
              <a:rPr lang="en-US" sz="1400" b="1" dirty="0">
                <a:solidFill>
                  <a:schemeClr val="tx1"/>
                </a:solidFill>
              </a:rPr>
              <a:t>Real alerts</a:t>
            </a:r>
            <a:endParaRPr lang="en-US" sz="1400" dirty="0"/>
          </a:p>
        </p:txBody>
      </p:sp>
      <p:sp>
        <p:nvSpPr>
          <p:cNvPr id="32" name="Future idea 6 text"/>
          <p:cNvSpPr txBox="1"/>
          <p:nvPr/>
        </p:nvSpPr>
        <p:spPr>
          <a:xfrm>
            <a:off x="2679192" y="3813048"/>
            <a:ext cx="1691640" cy="594360"/>
          </a:xfrm>
          <a:prstGeom prst="rect">
            <a:avLst/>
          </a:prstGeom>
          <a:noFill/>
          <a:ln/>
        </p:spPr>
        <p:txBody>
          <a:bodyPr wrap="square" lIns="0" tIns="0" rIns="0" bIns="0" rtlCol="0" anchor="t"/>
          <a:lstStyle/>
          <a:p>
            <a:pPr marL="0" indent="0">
              <a:buNone/>
            </a:pPr>
            <a:r>
              <a:rPr lang="en-US" sz="1200" dirty="0">
                <a:solidFill>
                  <a:schemeClr val="accent5"/>
                </a:solidFill>
              </a:rPr>
              <a:t>WhatsApp and SMS in English and Malayalam</a:t>
            </a:r>
            <a:endParaRPr lang="en-US" sz="1200" dirty="0"/>
          </a:p>
        </p:txBody>
      </p:sp>
      <p:sp>
        <p:nvSpPr>
          <p:cNvPr id="33" name="Idea card 7"/>
          <p:cNvSpPr/>
          <p:nvPr/>
        </p:nvSpPr>
        <p:spPr>
          <a:xfrm>
            <a:off x="4626864" y="2788920"/>
            <a:ext cx="1965960" cy="1645920"/>
          </a:xfrm>
          <a:prstGeom prst="roundRect">
            <a:avLst>
              <a:gd name="adj" fmla="val 4444"/>
            </a:avLst>
          </a:prstGeom>
          <a:solidFill>
            <a:schemeClr val="bg2"/>
          </a:solidFill>
          <a:ln/>
        </p:spPr>
      </p:sp>
      <p:sp>
        <p:nvSpPr>
          <p:cNvPr id="34" name="Future idea 7 circle"/>
          <p:cNvSpPr/>
          <p:nvPr/>
        </p:nvSpPr>
        <p:spPr>
          <a:xfrm>
            <a:off x="4764024" y="2926080"/>
            <a:ext cx="411480" cy="411480"/>
          </a:xfrm>
          <a:prstGeom prst="ellipse">
            <a:avLst/>
          </a:prstGeom>
          <a:solidFill>
            <a:schemeClr val="accent1"/>
          </a:solidFill>
          <a:ln/>
        </p:spPr>
      </p:sp>
      <p:pic>
        <p:nvPicPr>
          <p:cNvPr id="35" name="Future idea 7 icon" descr="Future idea 7"/>
          <p:cNvPicPr>
            <a:picLocks noChangeAspect="1"/>
          </p:cNvPicPr>
          <p:nvPr/>
        </p:nvPicPr>
        <p:blipFill>
          <a:blip r:embed="rId9"/>
          <a:stretch>
            <a:fillRect/>
          </a:stretch>
        </p:blipFill>
        <p:spPr>
          <a:xfrm>
            <a:off x="4871009" y="3033065"/>
            <a:ext cx="197510" cy="197510"/>
          </a:xfrm>
          <a:prstGeom prst="rect">
            <a:avLst/>
          </a:prstGeom>
        </p:spPr>
      </p:pic>
      <p:sp>
        <p:nvSpPr>
          <p:cNvPr id="36" name="Future idea 7 title"/>
          <p:cNvSpPr txBox="1"/>
          <p:nvPr/>
        </p:nvSpPr>
        <p:spPr>
          <a:xfrm>
            <a:off x="4764024" y="3429000"/>
            <a:ext cx="1691640" cy="384048"/>
          </a:xfrm>
          <a:prstGeom prst="rect">
            <a:avLst/>
          </a:prstGeom>
          <a:noFill/>
          <a:ln/>
        </p:spPr>
        <p:txBody>
          <a:bodyPr wrap="square" lIns="0" tIns="0" rIns="0" bIns="0" rtlCol="0" anchor="t"/>
          <a:lstStyle/>
          <a:p>
            <a:pPr marL="0" indent="0">
              <a:buNone/>
            </a:pPr>
            <a:r>
              <a:rPr lang="en-US" sz="1400" b="1" dirty="0">
                <a:solidFill>
                  <a:schemeClr val="tx1"/>
                </a:solidFill>
              </a:rPr>
              <a:t>Smarter planning</a:t>
            </a:r>
            <a:endParaRPr lang="en-US" sz="1400" dirty="0"/>
          </a:p>
        </p:txBody>
      </p:sp>
      <p:sp>
        <p:nvSpPr>
          <p:cNvPr id="37" name="Future idea 7 text"/>
          <p:cNvSpPr txBox="1"/>
          <p:nvPr/>
        </p:nvSpPr>
        <p:spPr>
          <a:xfrm>
            <a:off x="4764024" y="3813048"/>
            <a:ext cx="1691640" cy="594360"/>
          </a:xfrm>
          <a:prstGeom prst="rect">
            <a:avLst/>
          </a:prstGeom>
          <a:noFill/>
          <a:ln/>
        </p:spPr>
        <p:txBody>
          <a:bodyPr wrap="square" lIns="0" tIns="0" rIns="0" bIns="0" rtlCol="0" anchor="t"/>
          <a:lstStyle/>
          <a:p>
            <a:pPr marL="0" indent="0">
              <a:buNone/>
            </a:pPr>
            <a:r>
              <a:rPr lang="en-US" sz="1200" dirty="0">
                <a:solidFill>
                  <a:schemeClr val="accent5"/>
                </a:solidFill>
              </a:rPr>
              <a:t>Demand forecasts and network-wide load pooling</a:t>
            </a:r>
            <a:endParaRPr lang="en-US" sz="1200" dirty="0"/>
          </a:p>
        </p:txBody>
      </p:sp>
      <p:sp>
        <p:nvSpPr>
          <p:cNvPr id="38" name="Idea card 8"/>
          <p:cNvSpPr/>
          <p:nvPr/>
        </p:nvSpPr>
        <p:spPr>
          <a:xfrm>
            <a:off x="6711696" y="2788920"/>
            <a:ext cx="1965960" cy="1645920"/>
          </a:xfrm>
          <a:prstGeom prst="roundRect">
            <a:avLst>
              <a:gd name="adj" fmla="val 4444"/>
            </a:avLst>
          </a:prstGeom>
          <a:solidFill>
            <a:schemeClr val="bg2"/>
          </a:solidFill>
          <a:ln/>
        </p:spPr>
      </p:sp>
      <p:sp>
        <p:nvSpPr>
          <p:cNvPr id="39" name="Future idea 8 circle"/>
          <p:cNvSpPr/>
          <p:nvPr/>
        </p:nvSpPr>
        <p:spPr>
          <a:xfrm>
            <a:off x="6848856" y="2926080"/>
            <a:ext cx="411480" cy="411480"/>
          </a:xfrm>
          <a:prstGeom prst="ellipse">
            <a:avLst/>
          </a:prstGeom>
          <a:solidFill>
            <a:schemeClr val="accent1"/>
          </a:solidFill>
          <a:ln/>
        </p:spPr>
      </p:sp>
      <p:pic>
        <p:nvPicPr>
          <p:cNvPr id="40" name="Future idea 8 icon" descr="Future idea 8"/>
          <p:cNvPicPr>
            <a:picLocks noChangeAspect="1"/>
          </p:cNvPicPr>
          <p:nvPr/>
        </p:nvPicPr>
        <p:blipFill>
          <a:blip r:embed="rId10"/>
          <a:stretch>
            <a:fillRect/>
          </a:stretch>
        </p:blipFill>
        <p:spPr>
          <a:xfrm>
            <a:off x="6955841" y="3033065"/>
            <a:ext cx="197510" cy="197510"/>
          </a:xfrm>
          <a:prstGeom prst="rect">
            <a:avLst/>
          </a:prstGeom>
        </p:spPr>
      </p:pic>
      <p:sp>
        <p:nvSpPr>
          <p:cNvPr id="41" name="Future idea 8 title"/>
          <p:cNvSpPr txBox="1"/>
          <p:nvPr/>
        </p:nvSpPr>
        <p:spPr>
          <a:xfrm>
            <a:off x="6848856" y="3429000"/>
            <a:ext cx="1691640" cy="384048"/>
          </a:xfrm>
          <a:prstGeom prst="rect">
            <a:avLst/>
          </a:prstGeom>
          <a:noFill/>
          <a:ln/>
        </p:spPr>
        <p:txBody>
          <a:bodyPr wrap="square" lIns="0" tIns="0" rIns="0" bIns="0" rtlCol="0" anchor="t"/>
          <a:lstStyle/>
          <a:p>
            <a:pPr marL="0" indent="0">
              <a:buNone/>
            </a:pPr>
            <a:r>
              <a:rPr lang="en-US" sz="1400" b="1" dirty="0">
                <a:solidFill>
                  <a:schemeClr val="tx1"/>
                </a:solidFill>
              </a:rPr>
              <a:t>Carbon reports</a:t>
            </a:r>
            <a:endParaRPr lang="en-US" sz="1400" dirty="0"/>
          </a:p>
        </p:txBody>
      </p:sp>
      <p:sp>
        <p:nvSpPr>
          <p:cNvPr id="42" name="Future idea 8 text"/>
          <p:cNvSpPr txBox="1"/>
          <p:nvPr/>
        </p:nvSpPr>
        <p:spPr>
          <a:xfrm>
            <a:off x="6848856" y="3813048"/>
            <a:ext cx="1691640" cy="594360"/>
          </a:xfrm>
          <a:prstGeom prst="rect">
            <a:avLst/>
          </a:prstGeom>
          <a:noFill/>
          <a:ln/>
        </p:spPr>
        <p:txBody>
          <a:bodyPr wrap="square" lIns="0" tIns="0" rIns="0" bIns="0" rtlCol="0" anchor="t"/>
          <a:lstStyle/>
          <a:p>
            <a:pPr marL="0" indent="0">
              <a:buNone/>
            </a:pPr>
            <a:r>
              <a:rPr lang="en-US" sz="1200" dirty="0">
                <a:solidFill>
                  <a:schemeClr val="accent5"/>
                </a:solidFill>
              </a:rPr>
              <a:t>Shippers show emissions saved per shipment</a:t>
            </a:r>
            <a:endParaRPr lang="en-US" sz="1200" dirty="0"/>
          </a:p>
        </p:txBody>
      </p:sp>
      <p:sp>
        <p:nvSpPr>
          <p:cNvPr id="43" name="Ideas note"/>
          <p:cNvSpPr txBox="1"/>
          <p:nvPr/>
        </p:nvSpPr>
        <p:spPr>
          <a:xfrm>
            <a:off x="457200" y="4526280"/>
            <a:ext cx="8229600" cy="201168"/>
          </a:xfrm>
          <a:prstGeom prst="rect">
            <a:avLst/>
          </a:prstGeom>
          <a:noFill/>
          <a:ln/>
        </p:spPr>
        <p:txBody>
          <a:bodyPr wrap="square" lIns="0" tIns="0" rIns="0" bIns="0" rtlCol="0" anchor="t"/>
          <a:lstStyle/>
          <a:p>
            <a:pPr marL="0" indent="0">
              <a:buNone/>
            </a:pPr>
            <a:r>
              <a:rPr lang="en-US" sz="1100" dirty="0">
                <a:solidFill>
                  <a:schemeClr val="accent5"/>
                </a:solidFill>
              </a:rPr>
              <a:t>None of these is needed for the prototype; they are chosen for impact. Roadmap only.</a:t>
            </a:r>
            <a:endParaRPr lang="en-US" sz="1100" dirty="0"/>
          </a:p>
        </p:txBody>
      </p:sp>
      <p:sp>
        <p:nvSpPr>
          <p:cNvPr id="44"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234440"/>
            <a:ext cx="4754880" cy="1005840"/>
          </a:xfrm>
          <a:prstGeom prst="rect">
            <a:avLst/>
          </a:prstGeom>
          <a:noFill/>
          <a:ln/>
        </p:spPr>
        <p:txBody>
          <a:bodyPr wrap="square" lIns="0" tIns="0" rIns="0" bIns="0" rtlCol="0" anchor="t"/>
          <a:lstStyle/>
          <a:p>
            <a:pPr marL="0" indent="0" algn="l">
              <a:buNone/>
            </a:pPr>
            <a:r>
              <a:rPr lang="en-US" sz="5000" b="1" dirty="0">
                <a:solidFill>
                  <a:schemeClr val="bg1"/>
                </a:solidFill>
              </a:rPr>
              <a:t>Thank you</a:t>
            </a:r>
            <a:endParaRPr lang="en-US" sz="5000" dirty="0"/>
          </a:p>
        </p:txBody>
      </p:sp>
      <p:sp>
        <p:nvSpPr>
          <p:cNvPr id="3" name="Text 0"/>
          <p:cNvSpPr>
            <a:spLocks noGrp="1"/>
          </p:cNvSpPr>
          <p:nvPr>
            <p:ph type="body" idx="101" hasCustomPrompt="1"/>
          </p:nvPr>
        </p:nvSpPr>
        <p:spPr>
          <a:xfrm>
            <a:off x="640080" y="2331720"/>
            <a:ext cx="4572000" cy="1371600"/>
          </a:xfrm>
          <a:prstGeom prst="rect">
            <a:avLst/>
          </a:prstGeom>
          <a:noFill/>
          <a:ln/>
        </p:spPr>
        <p:txBody>
          <a:bodyPr wrap="square" lIns="0" tIns="0" rIns="0" bIns="0" rtlCol="0" anchor="t"/>
          <a:lstStyle/>
          <a:p>
            <a:pPr marL="0" indent="0" algn="l">
              <a:buNone/>
            </a:pPr>
            <a:r>
              <a:rPr lang="en-US" sz="1800" dirty="0">
                <a:solidFill>
                  <a:schemeClr val="accent6"/>
                </a:solidFill>
              </a:rPr>
              <a:t>A recommendation you can explain, and a person who confirms it.</a:t>
            </a:r>
            <a:endParaRPr lang="en-US" sz="1800" dirty="0"/>
          </a:p>
        </p:txBody>
      </p:sp>
      <p:sp>
        <p:nvSpPr>
          <p:cNvPr id="4" name="Closing mark circle"/>
          <p:cNvSpPr/>
          <p:nvPr/>
        </p:nvSpPr>
        <p:spPr>
          <a:xfrm>
            <a:off x="6126480" y="1325880"/>
            <a:ext cx="2103120" cy="2103120"/>
          </a:xfrm>
          <a:prstGeom prst="ellipse">
            <a:avLst/>
          </a:prstGeom>
          <a:solidFill>
            <a:schemeClr val="accent1"/>
          </a:solidFill>
          <a:ln/>
        </p:spPr>
      </p:sp>
      <p:pic>
        <p:nvPicPr>
          <p:cNvPr id="5" name="Closing mark icon" descr="Closing mark"/>
          <p:cNvPicPr>
            <a:picLocks noChangeAspect="1"/>
          </p:cNvPicPr>
          <p:nvPr/>
        </p:nvPicPr>
        <p:blipFill>
          <a:blip r:embed="rId3"/>
          <a:stretch>
            <a:fillRect/>
          </a:stretch>
        </p:blipFill>
        <p:spPr>
          <a:xfrm>
            <a:off x="6673291" y="1872691"/>
            <a:ext cx="1009498" cy="1009498"/>
          </a:xfrm>
          <a:prstGeom prst="rect">
            <a:avLst/>
          </a:prstGeom>
        </p:spPr>
      </p:pic>
      <p:sp>
        <p:nvSpPr>
          <p:cNvPr id="6" name="Team line"/>
          <p:cNvSpPr txBox="1"/>
          <p:nvPr/>
        </p:nvSpPr>
        <p:spPr>
          <a:xfrm>
            <a:off x="640080" y="3840480"/>
            <a:ext cx="7863840" cy="274320"/>
          </a:xfrm>
          <a:prstGeom prst="rect">
            <a:avLst/>
          </a:prstGeom>
          <a:noFill/>
          <a:ln/>
        </p:spPr>
        <p:txBody>
          <a:bodyPr wrap="square" lIns="0" tIns="0" rIns="0" bIns="0" rtlCol="0" anchor="t"/>
          <a:lstStyle/>
          <a:p>
            <a:pPr marL="0" indent="0">
              <a:buNone/>
            </a:pPr>
            <a:r>
              <a:rPr lang="en-US" sz="1600" b="1" dirty="0">
                <a:solidFill>
                  <a:schemeClr val="bg1"/>
                </a:solidFill>
              </a:rPr>
              <a:t>Team Vortex  |  IBM x Kerala Government Hackathon 2026  |  Challenge 7</a:t>
            </a:r>
            <a:endParaRPr lang="en-US" sz="1600" dirty="0"/>
          </a:p>
        </p:txBody>
      </p:sp>
      <p:sp>
        <p:nvSpPr>
          <p:cNvPr id="7" name="Repo line"/>
          <p:cNvSpPr txBox="1"/>
          <p:nvPr/>
        </p:nvSpPr>
        <p:spPr>
          <a:xfrm>
            <a:off x="640080" y="4187952"/>
            <a:ext cx="7863840" cy="256032"/>
          </a:xfrm>
          <a:prstGeom prst="rect">
            <a:avLst/>
          </a:prstGeom>
          <a:noFill/>
          <a:ln/>
        </p:spPr>
        <p:txBody>
          <a:bodyPr wrap="square" lIns="0" tIns="0" rIns="0" bIns="0" rtlCol="0" anchor="t"/>
          <a:lstStyle/>
          <a:p>
            <a:pPr marL="0" indent="0">
              <a:buNone/>
            </a:pPr>
            <a:r>
              <a:rPr lang="en-US" sz="1400" dirty="0">
                <a:solidFill>
                  <a:schemeClr val="accent6"/>
                </a:solidFill>
              </a:rPr>
              <a:t>Repository: github.com/gop-i-krishnan/keralai-team-vortex (private)</a:t>
            </a:r>
            <a:endParaRPr lang="en-US" sz="1400" dirty="0"/>
          </a:p>
        </p:txBody>
      </p:sp>
      <p:sp>
        <p:nvSpPr>
          <p:cNvPr id="8" name="Closing line"/>
          <p:cNvSpPr txBox="1"/>
          <p:nvPr/>
        </p:nvSpPr>
        <p:spPr>
          <a:xfrm>
            <a:off x="640080" y="4498848"/>
            <a:ext cx="7863840" cy="256032"/>
          </a:xfrm>
          <a:prstGeom prst="rect">
            <a:avLst/>
          </a:prstGeom>
          <a:noFill/>
          <a:ln/>
        </p:spPr>
        <p:txBody>
          <a:bodyPr wrap="square" lIns="0" tIns="0" rIns="0" bIns="0" rtlCol="0" anchor="t"/>
          <a:lstStyle/>
          <a:p>
            <a:pPr marL="0" indent="0">
              <a:buNone/>
            </a:pPr>
            <a:r>
              <a:rPr lang="en-US" sz="1400" dirty="0">
                <a:solidFill>
                  <a:schemeClr val="accent6"/>
                </a:solidFill>
              </a:rPr>
              <a:t>Questions welcome. We will happily run the demo live.</a:t>
            </a:r>
            <a:endParaRPr lang="en-US" sz="1400" dirty="0"/>
          </a:p>
        </p:txBody>
      </p:sp>
    </p:spTree>
  </p:cSld>
  <p:clrMapOvr>
    <a:masterClrMapping/>
  </p:clrMapOvr>
</p:sld>
</file>

<file path=ppt/theme/theme1.xml><?xml version="1.0" encoding="utf-8"?>
<a:theme xmlns:a="http://schemas.openxmlformats.org/drawingml/2006/main" name="JalSetu Backwater">
  <a:themeElements>
    <a:clrScheme name="JalSetu Backwater">
      <a:dk1>
        <a:srgbClr val="0B2530"/>
      </a:dk1>
      <a:lt1>
        <a:srgbClr val="FFFFFF"/>
      </a:lt1>
      <a:dk2>
        <a:srgbClr val="0F4C5C"/>
      </a:dk2>
      <a:lt2>
        <a:srgbClr val="EDF4F5"/>
      </a:lt2>
      <a:accent1>
        <a:srgbClr val="0E7C86"/>
      </a:accent1>
      <a:accent2>
        <a:srgbClr val="F2A33A"/>
      </a:accent2>
      <a:accent3>
        <a:srgbClr val="2F8F5B"/>
      </a:accent3>
      <a:accent4>
        <a:srgbClr val="C8453B"/>
      </a:accent4>
      <a:accent5>
        <a:srgbClr val="5A6E8C"/>
      </a:accent5>
      <a:accent6>
        <a:srgbClr val="9CC5CC"/>
      </a:accent6>
      <a:hlink>
        <a:srgbClr val="0E7C86"/>
      </a:hlink>
      <a:folHlink>
        <a:srgbClr val="5A6E8C"/>
      </a:folHlink>
    </a:clrScheme>
    <a:fontScheme name="JalSetu Backwa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4548</Words>
  <Application>Microsoft Office PowerPoint</Application>
  <PresentationFormat>On-screen Show (16:9)</PresentationFormat>
  <Paragraphs>446</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JalSetu Backwater</vt:lpstr>
      <vt:lpstr>JalSetu</vt:lpstr>
      <vt:lpstr>The problem</vt:lpstr>
      <vt:lpstr>Why NW-3, and where next</vt:lpstr>
      <vt:lpstr>How JalSetu differs</vt:lpstr>
      <vt:lpstr>Our approach: spec-driven development</vt:lpstr>
      <vt:lpstr>Built with IBM Bob</vt:lpstr>
      <vt:lpstr>Our solution: JalSetu</vt:lpstr>
      <vt:lpstr>The deadline decides the mode</vt:lpstr>
      <vt:lpstr>Major features</vt:lpstr>
      <vt:lpstr>Built for the brief</vt:lpstr>
      <vt:lpstr>Functions: shipper</vt:lpstr>
      <vt:lpstr>Functions: boat owner</vt:lpstr>
      <vt:lpstr>Functions: warehouse and planner</vt:lpstr>
      <vt:lpstr>Functions: safety and trust</vt:lpstr>
      <vt:lpstr>Innovation 1: how decisions are made</vt:lpstr>
      <vt:lpstr>Innovation 2: what is new</vt:lpstr>
      <vt:lpstr>Innovation 3: specs kept the AI honest</vt:lpstr>
      <vt:lpstr>Prototype snapshot</vt:lpstr>
      <vt:lpstr>Tech stack</vt:lpstr>
      <vt:lpstr>What is real today</vt:lpstr>
      <vt:lpstr>Future scope: roadmap</vt:lpstr>
      <vt:lpstr>Future scope: ideas worth building</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JalSetu: Backwater Cargo Exchange</dc:title>
  <dc:subject>IBM x Kerala Government Hackathon 2026, Challenge 7</dc:subject>
  <dc:creator>Team Vortex</dc:creator>
  <cp:lastModifiedBy>Gopikrishnan D</cp:lastModifiedBy>
  <cp:revision>1</cp:revision>
  <dcterms:created xsi:type="dcterms:W3CDTF">2026-10-07T11:36:09Z</dcterms:created>
  <dcterms:modified xsi:type="dcterms:W3CDTF">2026-10-07T11:37:59Z</dcterms:modified>
</cp:coreProperties>
</file>